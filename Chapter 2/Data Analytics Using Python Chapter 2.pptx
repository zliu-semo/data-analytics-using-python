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91" r:id="rId11"/>
    <p:sldId id="292" r:id="rId12"/>
    <p:sldId id="267" r:id="rId13"/>
    <p:sldId id="293" r:id="rId14"/>
    <p:sldId id="294" r:id="rId15"/>
    <p:sldId id="295" r:id="rId16"/>
    <p:sldId id="296" r:id="rId17"/>
    <p:sldId id="268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using a computer&#10;&#10;Description automatically generated">
            <a:extLst>
              <a:ext uri="{FF2B5EF4-FFF2-40B4-BE49-F238E27FC236}">
                <a16:creationId xmlns:a16="http://schemas.microsoft.com/office/drawing/2014/main" id="{FF8D1B11-B4B1-7C94-CAE0-1ABDF25F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9229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7FC6D1D1-E68C-4552-9275-E9E8441DC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F41C15B3-BE6C-936D-DED5-CEF91B056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2 </a:t>
            </a:r>
            <a:r>
              <a:rPr lang="en-US" sz="2000" dirty="0" err="1">
                <a:solidFill>
                  <a:schemeClr val="tx2"/>
                </a:solidFill>
              </a:rPr>
              <a:t>Numpy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1DCBE-FF8B-868E-DF5D-7A3EFB12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811D103-6BA7-DC39-4002-2FDD5BC85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using a computer&#10;&#10;Description automatically generated">
            <a:extLst>
              <a:ext uri="{FF2B5EF4-FFF2-40B4-BE49-F238E27FC236}">
                <a16:creationId xmlns:a16="http://schemas.microsoft.com/office/drawing/2014/main" id="{DBB42E80-AF1B-2C54-4A13-9D5C111C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9229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05EF2CF-48E5-103A-562E-E14D9D6D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252DCD-4512-F7FC-EBFE-8B65256D4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47829C-8B15-86B0-0B03-877FEC39B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6C7FF0F-178F-F7FE-2D57-A34449DAF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FC3C84-054E-4634-0795-B350ABEC8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CF096744-9E82-AF9E-5D82-F5486082D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B2C079E2-61C9-6061-355B-CC912567B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2 </a:t>
            </a:r>
            <a:r>
              <a:rPr lang="en-US" sz="2000" dirty="0" err="1">
                <a:solidFill>
                  <a:schemeClr val="tx2"/>
                </a:solidFill>
              </a:rPr>
              <a:t>Numpy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83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91173"/>
            <a:ext cx="10515600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92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906162" y="1622855"/>
            <a:ext cx="3509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NumPy, short for Numerical Python</a:t>
            </a:r>
          </a:p>
          <a:p>
            <a:pPr marL="285750" indent="-285750">
              <a:buFontTx/>
              <a:buChar char="-"/>
            </a:pPr>
            <a:r>
              <a:rPr lang="en-US" dirty="0"/>
              <a:t>a Python package for scientific computing to handle large, multidimensional arrays and matrices efficiently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core data structure: </a:t>
            </a:r>
            <a:r>
              <a:rPr lang="en-US" dirty="0" err="1">
                <a:highlight>
                  <a:srgbClr val="FFFF00"/>
                </a:highlight>
              </a:rPr>
              <a:t>ndarray</a:t>
            </a:r>
            <a:r>
              <a:rPr lang="en-US" dirty="0"/>
              <a:t> (n-dimensional array)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restricted to a single data type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compared to Python list, </a:t>
            </a:r>
            <a:r>
              <a:rPr lang="en-US" dirty="0" err="1"/>
              <a:t>ndarrays</a:t>
            </a:r>
            <a:r>
              <a:rPr lang="en-US" dirty="0"/>
              <a:t> are much </a:t>
            </a:r>
            <a:r>
              <a:rPr lang="en-US" dirty="0">
                <a:highlight>
                  <a:srgbClr val="FFFF00"/>
                </a:highlight>
              </a:rPr>
              <a:t>faster and use less memory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EB6E9-6305-F855-8AE4-2AD2E8981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5481" y="1895071"/>
            <a:ext cx="6492911" cy="28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and testing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only have Python installed on your system, you will need to install NumPy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have Anaconda installed, you can check whether NumPy is already installed on your system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935305-C23D-817C-7063-478E92E48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13563"/>
              </p:ext>
            </p:extLst>
          </p:nvPr>
        </p:nvGraphicFramePr>
        <p:xfrm>
          <a:off x="3075073" y="3249871"/>
          <a:ext cx="4740275" cy="2369820"/>
        </p:xfrm>
        <a:graphic>
          <a:graphicData uri="http://schemas.openxmlformats.org/drawingml/2006/table">
            <a:tbl>
              <a:tblPr firstRow="1" firstCol="1" bandRow="1"/>
              <a:tblGrid>
                <a:gridCol w="2225675">
                  <a:extLst>
                    <a:ext uri="{9D8B030D-6E8A-4147-A177-3AD203B41FA5}">
                      <a16:colId xmlns:a16="http://schemas.microsoft.com/office/drawing/2014/main" val="11680460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46099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pip: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conda: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20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pip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conda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2823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numpy as np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print(np.__version__)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355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Testing the NumPy installation using a simple script: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as np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([10, 20, 30, 40, 50])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5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ndarray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store and manipulate large datasets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 between NumPy </a:t>
            </a:r>
            <a:r>
              <a:rPr lang="en-US" dirty="0" err="1"/>
              <a:t>ndarray</a:t>
            </a:r>
            <a:r>
              <a:rPr lang="en-US" dirty="0"/>
              <a:t> and Python list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4A4E40-0E0E-65D1-A957-E0BF9D0FD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46190"/>
              </p:ext>
            </p:extLst>
          </p:nvPr>
        </p:nvGraphicFramePr>
        <p:xfrm>
          <a:off x="1348731" y="2764010"/>
          <a:ext cx="7020911" cy="1607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018">
                  <a:extLst>
                    <a:ext uri="{9D8B030D-6E8A-4147-A177-3AD203B41FA5}">
                      <a16:colId xmlns:a16="http://schemas.microsoft.com/office/drawing/2014/main" val="2589696525"/>
                    </a:ext>
                  </a:extLst>
                </a:gridCol>
                <a:gridCol w="2908146">
                  <a:extLst>
                    <a:ext uri="{9D8B030D-6E8A-4147-A177-3AD203B41FA5}">
                      <a16:colId xmlns:a16="http://schemas.microsoft.com/office/drawing/2014/main" val="320266435"/>
                    </a:ext>
                  </a:extLst>
                </a:gridCol>
                <a:gridCol w="2736747">
                  <a:extLst>
                    <a:ext uri="{9D8B030D-6E8A-4147-A177-3AD203B41FA5}">
                      <a16:colId xmlns:a16="http://schemas.microsoft.com/office/drawing/2014/main" val="971763236"/>
                    </a:ext>
                  </a:extLst>
                </a:gridCol>
              </a:tblGrid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NumPy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: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Python list: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3254589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speed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faster with element-wise ops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slower with loops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991023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types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homogeneous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heterogenous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765797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size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fixed once created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can be updated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2475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5E08-25F9-D8B4-9368-84CA325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05-E38B-9AFD-A5F0-F9BF88C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CA83-14C4-7633-7D08-567F7ACC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 NumPy and create </a:t>
            </a:r>
            <a:r>
              <a:rPr lang="en-US" dirty="0" err="1"/>
              <a:t>ndarray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import the package: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create an </a:t>
            </a:r>
            <a:r>
              <a:rPr lang="en-US" dirty="0" err="1"/>
              <a:t>ndarray</a:t>
            </a:r>
            <a:r>
              <a:rPr lang="en-US" dirty="0"/>
              <a:t>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24AD-B096-2673-2722-8E6DCC9A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F0DF0C-3BCF-F4D6-461B-F266906FD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906420"/>
              </p:ext>
            </p:extLst>
          </p:nvPr>
        </p:nvGraphicFramePr>
        <p:xfrm>
          <a:off x="1339763" y="2764009"/>
          <a:ext cx="9591848" cy="31457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4709">
                  <a:extLst>
                    <a:ext uri="{9D8B030D-6E8A-4147-A177-3AD203B41FA5}">
                      <a16:colId xmlns:a16="http://schemas.microsoft.com/office/drawing/2014/main" val="2050335044"/>
                    </a:ext>
                  </a:extLst>
                </a:gridCol>
                <a:gridCol w="6827139">
                  <a:extLst>
                    <a:ext uri="{9D8B030D-6E8A-4147-A177-3AD203B41FA5}">
                      <a16:colId xmlns:a16="http://schemas.microsoft.com/office/drawing/2014/main" val="2202832036"/>
                    </a:ext>
                  </a:extLst>
                </a:gridCol>
              </a:tblGrid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function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905755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array(sequence)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an array with an existing sequence passed in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641672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random functions: rand(), randn(), normal()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generate arrays with random numbers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7371663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arange(start, end, exclusive, step)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an array having sequence of numbers with specified step and values are generated within the half-open interval [start, end)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9895709"/>
                  </a:ext>
                </a:extLst>
              </a:tr>
              <a:tr h="5064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linspace(start, end and number of items)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array having a specified number of elements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16362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zeros()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 ndarray with all zeros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490284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ones()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creates a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 with all ones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410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7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4ABA-2536-452A-B8CF-6BB8310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F56A-BFFE-8DC6-2BB1-ABF08C84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25DE-FAF2-C02C-5225-C4803A07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universal functions (</a:t>
            </a:r>
            <a:r>
              <a:rPr lang="en-US" dirty="0" err="1"/>
              <a:t>ufuncs</a:t>
            </a:r>
            <a:r>
              <a:rPr lang="en-US" dirty="0"/>
              <a:t>), optimized for element-wise operations: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Arithmetic operations: +, -, *, /, %,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Mathematical operations: </a:t>
            </a:r>
            <a:r>
              <a:rPr lang="en-US" dirty="0" err="1"/>
              <a:t>np.add</a:t>
            </a:r>
            <a:r>
              <a:rPr lang="en-US" dirty="0"/>
              <a:t>, </a:t>
            </a:r>
            <a:r>
              <a:rPr lang="en-US" dirty="0" err="1"/>
              <a:t>np.subtract</a:t>
            </a:r>
            <a:r>
              <a:rPr lang="en-US" dirty="0"/>
              <a:t>, </a:t>
            </a:r>
            <a:r>
              <a:rPr lang="en-US" dirty="0" err="1"/>
              <a:t>np.multiply</a:t>
            </a:r>
            <a:r>
              <a:rPr lang="en-US" dirty="0"/>
              <a:t>, </a:t>
            </a:r>
            <a:r>
              <a:rPr lang="en-US" dirty="0" err="1"/>
              <a:t>np.divide</a:t>
            </a:r>
            <a:r>
              <a:rPr lang="en-US" dirty="0"/>
              <a:t>, </a:t>
            </a:r>
            <a:r>
              <a:rPr lang="en-US" dirty="0" err="1"/>
              <a:t>np.power</a:t>
            </a:r>
            <a:r>
              <a:rPr lang="en-US" dirty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Trigonometric functions: </a:t>
            </a:r>
            <a:r>
              <a:rPr lang="en-US" dirty="0" err="1"/>
              <a:t>np.sin</a:t>
            </a:r>
            <a:r>
              <a:rPr lang="en-US" dirty="0"/>
              <a:t>, </a:t>
            </a:r>
            <a:r>
              <a:rPr lang="en-US" dirty="0" err="1"/>
              <a:t>np.cos</a:t>
            </a:r>
            <a:r>
              <a:rPr lang="en-US" dirty="0"/>
              <a:t>, </a:t>
            </a:r>
            <a:r>
              <a:rPr lang="en-US" dirty="0" err="1"/>
              <a:t>np.tan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Logarithmic functions: log, log10, log2, log1p,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Statistical functions: </a:t>
            </a:r>
            <a:r>
              <a:rPr lang="en-US" dirty="0" err="1"/>
              <a:t>np.mean</a:t>
            </a:r>
            <a:r>
              <a:rPr lang="en-US" dirty="0"/>
              <a:t>, </a:t>
            </a:r>
            <a:r>
              <a:rPr lang="en-US" dirty="0" err="1"/>
              <a:t>np.median</a:t>
            </a:r>
            <a:r>
              <a:rPr lang="en-US" dirty="0"/>
              <a:t>, </a:t>
            </a:r>
            <a:r>
              <a:rPr lang="en-US" dirty="0" err="1"/>
              <a:t>np.std</a:t>
            </a:r>
            <a:r>
              <a:rPr lang="en-US" dirty="0"/>
              <a:t>, </a:t>
            </a:r>
            <a:r>
              <a:rPr lang="en-US" dirty="0" err="1"/>
              <a:t>np.var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Comparisons: ==, !=, &lt;, &gt;, &lt;=, &gt;=,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Logical operations: AND, OR, NOT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C7632-3935-B774-7628-5E615F27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5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3884-8345-11B2-82A8-39148C6B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9A21-0EEA-5EE9-EDF3-CFC93DF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91CE-36D4-4CA5-F5F1-A1F36768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Vectorization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like mathematical vector operations, operations can also be applied over entire arrays simultaneously instead of using loops to process one element at a time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characterized by two key concepts: element-wise operations and broadcasting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vectorization is significantly faster than using loops: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broadcasting in NumPy facilitates this by expanding the smaller array to match the shape of the larger one before executing the operation when operations involve arrays of different shapes: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4D439-44C7-00AB-C8A3-800FA4B9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0B82-3FB6-6E5C-D6F3-DAA5DBE3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158-962A-4E17-1C26-3741F39F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CE9D-F574-5652-9FCE-3B949A00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Indexing: using a single index value or multiple index values, see textbook example</a:t>
            </a:r>
          </a:p>
          <a:p>
            <a:r>
              <a:rPr lang="en-US" dirty="0"/>
              <a:t>Slicing: retrieving a sequence or block of elements from an array. The result of slicing is a shallow copy, which can be modified. see textbook example</a:t>
            </a:r>
          </a:p>
          <a:p>
            <a:r>
              <a:rPr lang="en-US" dirty="0"/>
              <a:t>When indexing and slicing are applied to multi-dimensional arrays, various sections of the array can be accessed </a:t>
            </a:r>
          </a:p>
          <a:p>
            <a:r>
              <a:rPr lang="en-US" dirty="0"/>
              <a:t>In slicing, the colon (:) retrieves all elements along a specific dimension, and the ellipsis (...) produces a complete indexing tuple with as many colons as needed</a:t>
            </a:r>
          </a:p>
          <a:p>
            <a:r>
              <a:rPr lang="en-US" dirty="0"/>
              <a:t>Slicing can also be used to expand an existing array by inserting a new dimension.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300D3-045D-0AE8-5337-D579D89A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65EF-34A3-2D6A-298D-B86336D8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1780-2632-A6AB-9032-B95809BF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CDB1-2AAF-5BBA-93BA-FF11974E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Fancy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indexing with arrays of indices to select multiple elements from an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an array of indices on a multidimensional array to create a new array by selecting specific rows or columns: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ABADD-27EF-E9C2-C6A8-AF6A0B28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0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C742-15CB-357A-139B-9177F1E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EADE-6CD7-1C90-843B-A4C0DE9D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7760-2468-7F23-A41F-C13EE7A5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Boolean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Boolean arrays are arrays where elements have values of either True or False, and they can be used for indexing: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43C04-4E74-65DE-41C4-64ECD277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5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24CF-759C-5FAD-430E-15FBA1AA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603F-B473-240C-A855-471BC67B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0C20-4871-6CB8-186A-57AAA30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argmax() and </a:t>
            </a:r>
            <a:r>
              <a:rPr lang="en-US" dirty="0" err="1"/>
              <a:t>argmin</a:t>
            </a:r>
            <a:r>
              <a:rPr lang="en-US" dirty="0"/>
              <a:t>() functions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argmax(): find the index of the maximum value(s) along a specified axis in an array, such as axis = 0, axis = 1, etc.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argmin</a:t>
            </a:r>
            <a:r>
              <a:rPr lang="en-US" dirty="0"/>
              <a:t>(): find the index of the </a:t>
            </a:r>
            <a:r>
              <a:rPr lang="en-US" dirty="0" err="1"/>
              <a:t>manimum</a:t>
            </a:r>
            <a:r>
              <a:rPr lang="en-US" dirty="0"/>
              <a:t> value(s) along a specified axis in an array, such as axis = 0, axis = 1, etc.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3B0F4-095C-3473-BCCB-6E0C9CB9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2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125-AD14-1AE7-19D0-651CAC4D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63B0-118B-2C9A-2BCB-56ADB6BF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B763-40D1-B4CA-3902-A872CED4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operations along a specified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sum()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mean()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sort()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argsort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6FF39-93D9-F9A9-46E1-4CC16D3A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9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C451-CF10-2035-4945-2AAA0D69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66AA-2132-E603-A495-78E96AE4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DF08-5A97-ABDA-8133-EC6B4A336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reshape: change the dimension of an array either by creating a new view with the specified dimensions or by modifying the array itself. See textbook example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59BB0-5BF4-056A-4EB0-BC36CEC2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DE3A09-9603-13D8-DF4D-A67CCF79F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92684"/>
              </p:ext>
            </p:extLst>
          </p:nvPr>
        </p:nvGraphicFramePr>
        <p:xfrm>
          <a:off x="1082306" y="2644697"/>
          <a:ext cx="9895584" cy="3264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7271">
                  <a:extLst>
                    <a:ext uri="{9D8B030D-6E8A-4147-A177-3AD203B41FA5}">
                      <a16:colId xmlns:a16="http://schemas.microsoft.com/office/drawing/2014/main" val="2328669918"/>
                    </a:ext>
                  </a:extLst>
                </a:gridCol>
                <a:gridCol w="8208313">
                  <a:extLst>
                    <a:ext uri="{9D8B030D-6E8A-4147-A177-3AD203B41FA5}">
                      <a16:colId xmlns:a16="http://schemas.microsoft.com/office/drawing/2014/main" val="415750986"/>
                    </a:ext>
                  </a:extLst>
                </a:gridCol>
              </a:tblGrid>
              <a:tr h="2770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943983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reshape()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642055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ravel()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flattened array of one dimension, the original array is not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4448202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resize()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new view of the array, original array is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314420"/>
                  </a:ext>
                </a:extLst>
              </a:tr>
              <a:tr h="96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np.transpose()/T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for the permutation of the axes. If not provided, the default is to reverse the order of the axes.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787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36A4-1F3E-29F4-B8AC-05DF9086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0F6F-582B-877F-64AE-387F99B2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6DFFF-5880-1023-DC9D-DDEDDB172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Concatenating and Splitting Array: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concatenate(): specify arrays and axis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split(): specify array and axis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51951-415F-D362-F0E1-5A6CE4BC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1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3C4B-E5CD-76B0-52F9-9CF5DFF7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6B19-D0FC-10ED-4452-8BD7083D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22BB-5043-267C-1B93-DA323F76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Array data type conversion: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determine the data type of a NumPy array using the </a:t>
            </a:r>
            <a:r>
              <a:rPr lang="en-US" dirty="0" err="1"/>
              <a:t>dtype</a:t>
            </a:r>
            <a:r>
              <a:rPr lang="en-US" dirty="0"/>
              <a:t> attribute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convert an array’s data type from one </a:t>
            </a:r>
            <a:r>
              <a:rPr lang="en-US" dirty="0" err="1"/>
              <a:t>dtype</a:t>
            </a:r>
            <a:r>
              <a:rPr lang="en-US" dirty="0"/>
              <a:t> to another using NumPy’s </a:t>
            </a:r>
            <a:r>
              <a:rPr lang="en-US" dirty="0" err="1"/>
              <a:t>astype</a:t>
            </a:r>
            <a:r>
              <a:rPr lang="en-US" dirty="0"/>
              <a:t>()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DE0DD-AAF5-02DE-C395-5D8BC6BB1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4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3556-E234-DE6E-A82B-BC743C6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75E-9F78-F27E-FE69-E8DB5EE0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4F40-CC27-5C5F-AACC-FE9C34FB7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supports arrays where different columns can have different data types</a:t>
            </a:r>
          </a:p>
          <a:p>
            <a:r>
              <a:rPr lang="en-US" dirty="0"/>
              <a:t>each column (field) can have a distinct data type, which is specified using a list of field names and their corresponding data types </a:t>
            </a:r>
          </a:p>
          <a:p>
            <a:r>
              <a:rPr lang="en-US" dirty="0"/>
              <a:t>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3830E-E5EF-1ADC-ECC2-9464BB86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73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2EB1-63C4-BA19-31C9-EB3A156B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4275-BEE7-8854-B043-241B7414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 from files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9A84-8247-8C5E-6195-AEBCCD894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several methods to load data from text-based files, including .csv files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loadtxt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fromfile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load().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 is flexible in handling data with various data types and delimiters: 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88189-CD1F-1FC0-D0C0-1B8A289F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7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1131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https://he.kendallhunt.com/product/data-analytics-using-python  </vt:lpstr>
      <vt:lpstr>Why NumPy</vt:lpstr>
      <vt:lpstr>Installation and Testing</vt:lpstr>
      <vt:lpstr>Getting Started with NumPy</vt:lpstr>
      <vt:lpstr>Getting Started with NumPy</vt:lpstr>
      <vt:lpstr>NumPy Basic Operations</vt:lpstr>
      <vt:lpstr>NumPy Basic Operations</vt:lpstr>
      <vt:lpstr>Indexing and Slicing</vt:lpstr>
      <vt:lpstr>Indexing and Slicing</vt:lpstr>
      <vt:lpstr>Indexing and Slicing</vt:lpstr>
      <vt:lpstr>Various Operations </vt:lpstr>
      <vt:lpstr>Various Operations </vt:lpstr>
      <vt:lpstr>Various Operations </vt:lpstr>
      <vt:lpstr>Various Operations </vt:lpstr>
      <vt:lpstr>Various Operations </vt:lpstr>
      <vt:lpstr>Structured Array</vt:lpstr>
      <vt:lpstr>Importing Data from files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137</cp:revision>
  <dcterms:created xsi:type="dcterms:W3CDTF">2025-01-08T14:48:28Z</dcterms:created>
  <dcterms:modified xsi:type="dcterms:W3CDTF">2025-01-10T16:22:00Z</dcterms:modified>
</cp:coreProperties>
</file>