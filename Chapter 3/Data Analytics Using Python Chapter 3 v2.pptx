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1" r:id="rId3"/>
    <p:sldId id="260" r:id="rId4"/>
    <p:sldId id="291" r:id="rId5"/>
    <p:sldId id="292" r:id="rId6"/>
    <p:sldId id="262" r:id="rId7"/>
    <p:sldId id="263" r:id="rId8"/>
    <p:sldId id="293" r:id="rId9"/>
    <p:sldId id="294" r:id="rId10"/>
    <p:sldId id="264" r:id="rId11"/>
    <p:sldId id="295" r:id="rId12"/>
    <p:sldId id="296" r:id="rId13"/>
    <p:sldId id="297" r:id="rId14"/>
    <p:sldId id="298" r:id="rId15"/>
    <p:sldId id="299" r:id="rId16"/>
    <p:sldId id="3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3" autoAdjust="0"/>
    <p:restoredTop sz="94660"/>
  </p:normalViewPr>
  <p:slideViewPr>
    <p:cSldViewPr snapToGrid="0">
      <p:cViewPr varScale="1">
        <p:scale>
          <a:sx n="64" d="100"/>
          <a:sy n="64" d="100"/>
        </p:scale>
        <p:origin x="42" y="2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634336-CC35-47FF-9CFF-77D48BCBA02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FAF411F-4D1A-4215-9C24-19ED61179A09}">
      <dgm:prSet phldrT="[Text]" custT="1"/>
      <dgm:spPr>
        <a:xfrm>
          <a:off x="0" y="2559"/>
          <a:ext cx="5486400" cy="43000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200" dirty="0">
              <a:solidFill>
                <a:sysClr val="window" lastClr="FFFFFF"/>
              </a:solidFill>
              <a:latin typeface="Aptos" panose="02110004020202020204"/>
              <a:ea typeface="+mn-ea"/>
              <a:cs typeface="+mn-cs"/>
            </a:rPr>
            <a:t>Operations spreadsheets provide: data loading, data analysis, data visualization, data modeling</a:t>
          </a:r>
        </a:p>
      </dgm:t>
    </dgm:pt>
    <dgm:pt modelId="{D627E23B-2EB6-461D-A36A-4CDF3D8200C3}" type="parTrans" cxnId="{D20EF946-6127-466D-8A28-89168069067B}">
      <dgm:prSet/>
      <dgm:spPr/>
      <dgm:t>
        <a:bodyPr/>
        <a:lstStyle/>
        <a:p>
          <a:endParaRPr lang="en-US"/>
        </a:p>
      </dgm:t>
    </dgm:pt>
    <dgm:pt modelId="{76F1CF7C-0453-476A-A85C-BB776AFE7642}" type="sibTrans" cxnId="{D20EF946-6127-466D-8A28-89168069067B}">
      <dgm:prSet/>
      <dgm:spPr/>
      <dgm:t>
        <a:bodyPr/>
        <a:lstStyle/>
        <a:p>
          <a:endParaRPr lang="en-US"/>
        </a:p>
      </dgm:t>
    </dgm:pt>
    <dgm:pt modelId="{96CC48B5-7A88-4E17-A446-CB5807F9C562}">
      <dgm:prSet phldrT="[Text]" custT="1"/>
      <dgm:spPr>
        <a:xfrm>
          <a:off x="0" y="432560"/>
          <a:ext cx="5486400" cy="727710"/>
        </a:xfrm>
        <a:prstGeom prst="rect">
          <a:avLst/>
        </a:prstGeom>
        <a:noFill/>
        <a:ln>
          <a:noFill/>
        </a:ln>
        <a:effectLst/>
      </dgm:spPr>
      <dgm:t>
        <a:bodyPr/>
        <a:lstStyle/>
        <a:p>
          <a:pPr>
            <a:buChar char="•"/>
          </a:pPr>
          <a:r>
            <a:rPr lang="en-US" sz="1100" dirty="0">
              <a:solidFill>
                <a:sysClr val="windowText" lastClr="000000">
                  <a:hueOff val="0"/>
                  <a:satOff val="0"/>
                  <a:lumOff val="0"/>
                  <a:alphaOff val="0"/>
                </a:sysClr>
              </a:solidFill>
              <a:latin typeface="Aptos" panose="02110004020202020204"/>
              <a:ea typeface="+mn-ea"/>
              <a:cs typeface="+mn-cs"/>
            </a:rPr>
            <a:t>Pandas can perform all the operations that spreadsheets do, and it also offers capabilities beyond spreadsheets, such as advanced data manipulation and complex modeling with machine learning algorithms.</a:t>
          </a:r>
        </a:p>
      </dgm:t>
    </dgm:pt>
    <dgm:pt modelId="{FC590C13-279D-4ECB-AFE8-52B3177A06DD}" type="parTrans" cxnId="{632F991F-115B-4A25-AF0A-7044BE9DF3B9}">
      <dgm:prSet/>
      <dgm:spPr/>
      <dgm:t>
        <a:bodyPr/>
        <a:lstStyle/>
        <a:p>
          <a:endParaRPr lang="en-US"/>
        </a:p>
      </dgm:t>
    </dgm:pt>
    <dgm:pt modelId="{846FE6FC-5E4B-4DE0-B8D8-686D088A4995}" type="sibTrans" cxnId="{632F991F-115B-4A25-AF0A-7044BE9DF3B9}">
      <dgm:prSet/>
      <dgm:spPr/>
      <dgm:t>
        <a:bodyPr/>
        <a:lstStyle/>
        <a:p>
          <a:endParaRPr lang="en-US"/>
        </a:p>
      </dgm:t>
    </dgm:pt>
    <dgm:pt modelId="{ADB58DB9-B9D7-45FD-A753-5AC679B13FA9}">
      <dgm:prSet phldrT="[Text]" custT="1"/>
      <dgm:spPr>
        <a:xfrm>
          <a:off x="0" y="1003617"/>
          <a:ext cx="5486400" cy="35568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200">
              <a:solidFill>
                <a:sysClr val="window" lastClr="FFFFFF"/>
              </a:solidFill>
              <a:latin typeface="Aptos" panose="02110004020202020204"/>
              <a:ea typeface="+mn-ea"/>
              <a:cs typeface="+mn-cs"/>
            </a:rPr>
            <a:t>Efficiency and scale</a:t>
          </a:r>
        </a:p>
      </dgm:t>
    </dgm:pt>
    <dgm:pt modelId="{46077C6F-B621-4BA5-B3B7-EC7F6353AE09}" type="parTrans" cxnId="{89BFE059-87A8-415F-AD14-D499B9536F22}">
      <dgm:prSet/>
      <dgm:spPr/>
      <dgm:t>
        <a:bodyPr/>
        <a:lstStyle/>
        <a:p>
          <a:endParaRPr lang="en-US"/>
        </a:p>
      </dgm:t>
    </dgm:pt>
    <dgm:pt modelId="{93B4616D-C79D-44BC-97CF-D4D5D4DEDA31}" type="sibTrans" cxnId="{89BFE059-87A8-415F-AD14-D499B9536F22}">
      <dgm:prSet/>
      <dgm:spPr/>
      <dgm:t>
        <a:bodyPr/>
        <a:lstStyle/>
        <a:p>
          <a:endParaRPr lang="en-US"/>
        </a:p>
      </dgm:t>
    </dgm:pt>
    <dgm:pt modelId="{730335F6-785F-45A5-A1E2-D62A758CB010}">
      <dgm:prSet phldrT="[Text]" custT="1"/>
      <dgm:spPr>
        <a:xfrm>
          <a:off x="0" y="1406417"/>
          <a:ext cx="5486400" cy="579600"/>
        </a:xfrm>
        <a:prstGeom prst="rect">
          <a:avLst/>
        </a:prstGeom>
        <a:noFill/>
        <a:ln>
          <a:noFill/>
        </a:ln>
        <a:effectLst/>
      </dgm:spPr>
      <dgm:t>
        <a:bodyPr/>
        <a:lstStyle/>
        <a:p>
          <a:pPr>
            <a:buChar char="•"/>
          </a:pPr>
          <a:r>
            <a:rPr lang="en-US" sz="1100" dirty="0">
              <a:solidFill>
                <a:sysClr val="windowText" lastClr="000000">
                  <a:hueOff val="0"/>
                  <a:satOff val="0"/>
                  <a:lumOff val="0"/>
                  <a:alphaOff val="0"/>
                </a:sysClr>
              </a:solidFill>
              <a:latin typeface="Aptos" panose="02110004020202020204"/>
              <a:ea typeface="+mn-ea"/>
              <a:cs typeface="+mn-cs"/>
            </a:rPr>
            <a:t>Pandas is more efficient than spreadsheets when processing large and complex datasets.
Pandas can handle data that spreadsheets cannot manage effectively.</a:t>
          </a:r>
        </a:p>
      </dgm:t>
    </dgm:pt>
    <dgm:pt modelId="{AF200D97-6E79-488A-84FD-A4DD25D761A7}" type="parTrans" cxnId="{073A688E-041A-4A8B-9937-8D5F6B62B2A3}">
      <dgm:prSet/>
      <dgm:spPr/>
      <dgm:t>
        <a:bodyPr/>
        <a:lstStyle/>
        <a:p>
          <a:endParaRPr lang="en-US"/>
        </a:p>
      </dgm:t>
    </dgm:pt>
    <dgm:pt modelId="{A011C15C-1883-4E9E-8F67-652C366D7781}" type="sibTrans" cxnId="{073A688E-041A-4A8B-9937-8D5F6B62B2A3}">
      <dgm:prSet/>
      <dgm:spPr/>
      <dgm:t>
        <a:bodyPr/>
        <a:lstStyle/>
        <a:p>
          <a:endParaRPr lang="en-US"/>
        </a:p>
      </dgm:t>
    </dgm:pt>
    <dgm:pt modelId="{681E7A67-EF60-489E-8E2E-5B646DBD353A}">
      <dgm:prSet phldrT="[Text]" custT="1"/>
      <dgm:spPr>
        <a:xfrm>
          <a:off x="0" y="2030257"/>
          <a:ext cx="5486400" cy="35435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200">
              <a:solidFill>
                <a:sysClr val="window" lastClr="FFFFFF"/>
              </a:solidFill>
              <a:latin typeface="Aptos" panose="02110004020202020204"/>
              <a:ea typeface="+mn-ea"/>
              <a:cs typeface="+mn-cs"/>
            </a:rPr>
            <a:t>Data processing</a:t>
          </a:r>
        </a:p>
      </dgm:t>
    </dgm:pt>
    <dgm:pt modelId="{29750F2C-30D3-4FB7-B620-3F4EA040BBD4}" type="parTrans" cxnId="{FB25D4D5-0313-4A41-A124-198714A0C069}">
      <dgm:prSet/>
      <dgm:spPr/>
      <dgm:t>
        <a:bodyPr/>
        <a:lstStyle/>
        <a:p>
          <a:endParaRPr lang="en-US"/>
        </a:p>
      </dgm:t>
    </dgm:pt>
    <dgm:pt modelId="{93E8F373-D4D8-4491-83E6-FABCFDD803B0}" type="sibTrans" cxnId="{FB25D4D5-0313-4A41-A124-198714A0C069}">
      <dgm:prSet/>
      <dgm:spPr/>
      <dgm:t>
        <a:bodyPr/>
        <a:lstStyle/>
        <a:p>
          <a:endParaRPr lang="en-US"/>
        </a:p>
      </dgm:t>
    </dgm:pt>
    <dgm:pt modelId="{504C58D9-B14D-426D-A86F-EE792FD62F27}">
      <dgm:prSet phldrT="[Text]" custT="1"/>
      <dgm:spPr>
        <a:xfrm>
          <a:off x="0" y="2452465"/>
          <a:ext cx="5486400" cy="747934"/>
        </a:xfrm>
        <a:prstGeom prst="rect">
          <a:avLst/>
        </a:prstGeom>
        <a:noFill/>
        <a:ln>
          <a:noFill/>
        </a:ln>
        <a:effectLst/>
      </dgm:spPr>
      <dgm:t>
        <a:bodyPr/>
        <a:lstStyle/>
        <a:p>
          <a:pPr>
            <a:buChar char="•"/>
          </a:pPr>
          <a:r>
            <a:rPr lang="en-US" sz="1100" dirty="0">
              <a:solidFill>
                <a:sysClr val="windowText" lastClr="000000">
                  <a:hueOff val="0"/>
                  <a:satOff val="0"/>
                  <a:lumOff val="0"/>
                  <a:alphaOff val="0"/>
                </a:sysClr>
              </a:solidFill>
              <a:latin typeface="Aptos" panose="02110004020202020204"/>
              <a:ea typeface="+mn-ea"/>
              <a:cs typeface="+mn-cs"/>
            </a:rPr>
            <a:t>Pandas provides a wide range of operations, including handling missing data, filtering, sorting, grouping, and merging, which are often cumbersome in spreadsheets.
Pandas also offers advanced functions for time series analysis, aggregations, and other tasks that spreadsheets cannot manage effectively.</a:t>
          </a:r>
        </a:p>
      </dgm:t>
      <dgm:extLst>
        <a:ext uri="{E40237B7-FDA0-4F09-8148-C483321AD2D9}">
          <dgm14:cNvPr xmlns:dgm14="http://schemas.microsoft.com/office/drawing/2010/diagram" id="0" name="" descr="Pandas’s major benefits over spreadsheets"/>
        </a:ext>
      </dgm:extLst>
    </dgm:pt>
    <dgm:pt modelId="{A25BC3F6-B52B-4E29-B9C0-9AD9032AB34A}" type="parTrans" cxnId="{FA191EEB-E680-4E33-A469-A30188286070}">
      <dgm:prSet/>
      <dgm:spPr/>
      <dgm:t>
        <a:bodyPr/>
        <a:lstStyle/>
        <a:p>
          <a:endParaRPr lang="en-US"/>
        </a:p>
      </dgm:t>
    </dgm:pt>
    <dgm:pt modelId="{A64D6668-FFAE-4869-9D3D-4C78DB3B8C74}" type="sibTrans" cxnId="{FA191EEB-E680-4E33-A469-A30188286070}">
      <dgm:prSet/>
      <dgm:spPr/>
      <dgm:t>
        <a:bodyPr/>
        <a:lstStyle/>
        <a:p>
          <a:endParaRPr lang="en-US"/>
        </a:p>
      </dgm:t>
    </dgm:pt>
    <dgm:pt modelId="{059994AD-B944-49F5-A160-AC2FD2C36C6F}" type="pres">
      <dgm:prSet presAssocID="{A0634336-CC35-47FF-9CFF-77D48BCBA02C}" presName="linear" presStyleCnt="0">
        <dgm:presLayoutVars>
          <dgm:animLvl val="lvl"/>
          <dgm:resizeHandles val="exact"/>
        </dgm:presLayoutVars>
      </dgm:prSet>
      <dgm:spPr/>
    </dgm:pt>
    <dgm:pt modelId="{9D158217-EDB1-42E5-A015-F47252220B52}" type="pres">
      <dgm:prSet presAssocID="{9FAF411F-4D1A-4215-9C24-19ED61179A09}" presName="parentText" presStyleLbl="node1" presStyleIdx="0" presStyleCnt="3" custScaleY="65629">
        <dgm:presLayoutVars>
          <dgm:chMax val="0"/>
          <dgm:bulletEnabled val="1"/>
        </dgm:presLayoutVars>
      </dgm:prSet>
      <dgm:spPr/>
    </dgm:pt>
    <dgm:pt modelId="{47306636-AE19-437E-A2CE-7AA88EB85F83}" type="pres">
      <dgm:prSet presAssocID="{9FAF411F-4D1A-4215-9C24-19ED61179A09}" presName="childText" presStyleLbl="revTx" presStyleIdx="0" presStyleCnt="3" custScaleY="125554">
        <dgm:presLayoutVars>
          <dgm:bulletEnabled val="1"/>
        </dgm:presLayoutVars>
      </dgm:prSet>
      <dgm:spPr/>
    </dgm:pt>
    <dgm:pt modelId="{A96FE44E-C93B-45A0-87DB-32715BE58B6D}" type="pres">
      <dgm:prSet presAssocID="{ADB58DB9-B9D7-45FD-A753-5AC679B13FA9}" presName="parentText" presStyleLbl="node1" presStyleIdx="1" presStyleCnt="3" custScaleY="54286" custLinFactNeighborX="-157" custLinFactNeighborY="-27028">
        <dgm:presLayoutVars>
          <dgm:chMax val="0"/>
          <dgm:bulletEnabled val="1"/>
        </dgm:presLayoutVars>
      </dgm:prSet>
      <dgm:spPr/>
    </dgm:pt>
    <dgm:pt modelId="{1E52C09A-1E40-42AB-8D01-3C533BCEA1D8}" type="pres">
      <dgm:prSet presAssocID="{ADB58DB9-B9D7-45FD-A753-5AC679B13FA9}" presName="childText" presStyleLbl="revTx" presStyleIdx="1" presStyleCnt="3" custLinFactNeighborY="-16718">
        <dgm:presLayoutVars>
          <dgm:bulletEnabled val="1"/>
        </dgm:presLayoutVars>
      </dgm:prSet>
      <dgm:spPr/>
    </dgm:pt>
    <dgm:pt modelId="{1B4FA215-8AC3-4FF3-A622-8C1B459228C1}" type="pres">
      <dgm:prSet presAssocID="{681E7A67-EF60-489E-8E2E-5B646DBD353A}" presName="parentText" presStyleLbl="node1" presStyleIdx="2" presStyleCnt="3" custScaleY="54083" custLinFactNeighborX="-157" custLinFactNeighborY="-9487">
        <dgm:presLayoutVars>
          <dgm:chMax val="0"/>
          <dgm:bulletEnabled val="1"/>
        </dgm:presLayoutVars>
      </dgm:prSet>
      <dgm:spPr/>
    </dgm:pt>
    <dgm:pt modelId="{D3658795-6401-4ABC-9DB4-3974F0E68BF0}" type="pres">
      <dgm:prSet presAssocID="{681E7A67-EF60-489E-8E2E-5B646DBD353A}" presName="childText" presStyleLbl="revTx" presStyleIdx="2" presStyleCnt="3" custScaleY="108668" custLinFactNeighborX="-157" custLinFactNeighborY="1945">
        <dgm:presLayoutVars>
          <dgm:bulletEnabled val="1"/>
        </dgm:presLayoutVars>
      </dgm:prSet>
      <dgm:spPr/>
    </dgm:pt>
  </dgm:ptLst>
  <dgm:cxnLst>
    <dgm:cxn modelId="{632F991F-115B-4A25-AF0A-7044BE9DF3B9}" srcId="{9FAF411F-4D1A-4215-9C24-19ED61179A09}" destId="{96CC48B5-7A88-4E17-A446-CB5807F9C562}" srcOrd="0" destOrd="0" parTransId="{FC590C13-279D-4ECB-AFE8-52B3177A06DD}" sibTransId="{846FE6FC-5E4B-4DE0-B8D8-686D088A4995}"/>
    <dgm:cxn modelId="{9586082B-FCB2-48D1-B138-4B42E0F89663}" type="presOf" srcId="{730335F6-785F-45A5-A1E2-D62A758CB010}" destId="{1E52C09A-1E40-42AB-8D01-3C533BCEA1D8}" srcOrd="0" destOrd="0" presId="urn:microsoft.com/office/officeart/2005/8/layout/vList2"/>
    <dgm:cxn modelId="{2BBBDD40-2ED8-4454-A314-A831B1665008}" type="presOf" srcId="{96CC48B5-7A88-4E17-A446-CB5807F9C562}" destId="{47306636-AE19-437E-A2CE-7AA88EB85F83}" srcOrd="0" destOrd="0" presId="urn:microsoft.com/office/officeart/2005/8/layout/vList2"/>
    <dgm:cxn modelId="{D20EF946-6127-466D-8A28-89168069067B}" srcId="{A0634336-CC35-47FF-9CFF-77D48BCBA02C}" destId="{9FAF411F-4D1A-4215-9C24-19ED61179A09}" srcOrd="0" destOrd="0" parTransId="{D627E23B-2EB6-461D-A36A-4CDF3D8200C3}" sibTransId="{76F1CF7C-0453-476A-A85C-BB776AFE7642}"/>
    <dgm:cxn modelId="{5F86B64F-9422-4B93-B691-B616DCDC33D4}" type="presOf" srcId="{681E7A67-EF60-489E-8E2E-5B646DBD353A}" destId="{1B4FA215-8AC3-4FF3-A622-8C1B459228C1}" srcOrd="0" destOrd="0" presId="urn:microsoft.com/office/officeart/2005/8/layout/vList2"/>
    <dgm:cxn modelId="{D5E7D06F-BC71-46B7-8933-DC1A70E2C17A}" type="presOf" srcId="{A0634336-CC35-47FF-9CFF-77D48BCBA02C}" destId="{059994AD-B944-49F5-A160-AC2FD2C36C6F}" srcOrd="0" destOrd="0" presId="urn:microsoft.com/office/officeart/2005/8/layout/vList2"/>
    <dgm:cxn modelId="{89BFE059-87A8-415F-AD14-D499B9536F22}" srcId="{A0634336-CC35-47FF-9CFF-77D48BCBA02C}" destId="{ADB58DB9-B9D7-45FD-A753-5AC679B13FA9}" srcOrd="1" destOrd="0" parTransId="{46077C6F-B621-4BA5-B3B7-EC7F6353AE09}" sibTransId="{93B4616D-C79D-44BC-97CF-D4D5D4DEDA31}"/>
    <dgm:cxn modelId="{073A688E-041A-4A8B-9937-8D5F6B62B2A3}" srcId="{ADB58DB9-B9D7-45FD-A753-5AC679B13FA9}" destId="{730335F6-785F-45A5-A1E2-D62A758CB010}" srcOrd="0" destOrd="0" parTransId="{AF200D97-6E79-488A-84FD-A4DD25D761A7}" sibTransId="{A011C15C-1883-4E9E-8F67-652C366D7781}"/>
    <dgm:cxn modelId="{68A230A3-CA11-4BE7-AA7A-A262A3610160}" type="presOf" srcId="{9FAF411F-4D1A-4215-9C24-19ED61179A09}" destId="{9D158217-EDB1-42E5-A015-F47252220B52}" srcOrd="0" destOrd="0" presId="urn:microsoft.com/office/officeart/2005/8/layout/vList2"/>
    <dgm:cxn modelId="{4A9286AF-5A61-41FC-8BF8-ECA503BE5961}" type="presOf" srcId="{ADB58DB9-B9D7-45FD-A753-5AC679B13FA9}" destId="{A96FE44E-C93B-45A0-87DB-32715BE58B6D}" srcOrd="0" destOrd="0" presId="urn:microsoft.com/office/officeart/2005/8/layout/vList2"/>
    <dgm:cxn modelId="{FB25D4D5-0313-4A41-A124-198714A0C069}" srcId="{A0634336-CC35-47FF-9CFF-77D48BCBA02C}" destId="{681E7A67-EF60-489E-8E2E-5B646DBD353A}" srcOrd="2" destOrd="0" parTransId="{29750F2C-30D3-4FB7-B620-3F4EA040BBD4}" sibTransId="{93E8F373-D4D8-4491-83E6-FABCFDD803B0}"/>
    <dgm:cxn modelId="{FA191EEB-E680-4E33-A469-A30188286070}" srcId="{681E7A67-EF60-489E-8E2E-5B646DBD353A}" destId="{504C58D9-B14D-426D-A86F-EE792FD62F27}" srcOrd="0" destOrd="0" parTransId="{A25BC3F6-B52B-4E29-B9C0-9AD9032AB34A}" sibTransId="{A64D6668-FFAE-4869-9D3D-4C78DB3B8C74}"/>
    <dgm:cxn modelId="{3F7A28F5-FC7A-49A4-B8A8-C725EF678441}" type="presOf" srcId="{504C58D9-B14D-426D-A86F-EE792FD62F27}" destId="{D3658795-6401-4ABC-9DB4-3974F0E68BF0}" srcOrd="0" destOrd="0" presId="urn:microsoft.com/office/officeart/2005/8/layout/vList2"/>
    <dgm:cxn modelId="{4B5F38CE-6CDA-4DC4-9FB8-7CDA9BCFF3A1}" type="presParOf" srcId="{059994AD-B944-49F5-A160-AC2FD2C36C6F}" destId="{9D158217-EDB1-42E5-A015-F47252220B52}" srcOrd="0" destOrd="0" presId="urn:microsoft.com/office/officeart/2005/8/layout/vList2"/>
    <dgm:cxn modelId="{C209E84C-0A83-46F6-B268-4570403C3C9F}" type="presParOf" srcId="{059994AD-B944-49F5-A160-AC2FD2C36C6F}" destId="{47306636-AE19-437E-A2CE-7AA88EB85F83}" srcOrd="1" destOrd="0" presId="urn:microsoft.com/office/officeart/2005/8/layout/vList2"/>
    <dgm:cxn modelId="{785137C3-06BF-4C33-8D14-F938ED5C5BDF}" type="presParOf" srcId="{059994AD-B944-49F5-A160-AC2FD2C36C6F}" destId="{A96FE44E-C93B-45A0-87DB-32715BE58B6D}" srcOrd="2" destOrd="0" presId="urn:microsoft.com/office/officeart/2005/8/layout/vList2"/>
    <dgm:cxn modelId="{6536AC00-85A9-4C34-A73F-DC3F1D92677C}" type="presParOf" srcId="{059994AD-B944-49F5-A160-AC2FD2C36C6F}" destId="{1E52C09A-1E40-42AB-8D01-3C533BCEA1D8}" srcOrd="3" destOrd="0" presId="urn:microsoft.com/office/officeart/2005/8/layout/vList2"/>
    <dgm:cxn modelId="{C8C76508-CA3D-41FD-ACC7-A83F0D217C49}" type="presParOf" srcId="{059994AD-B944-49F5-A160-AC2FD2C36C6F}" destId="{1B4FA215-8AC3-4FF3-A622-8C1B459228C1}" srcOrd="4" destOrd="0" presId="urn:microsoft.com/office/officeart/2005/8/layout/vList2"/>
    <dgm:cxn modelId="{BEBD1CFB-B2CD-4BEE-97AD-F1B67FE603F0}" type="presParOf" srcId="{059994AD-B944-49F5-A160-AC2FD2C36C6F}" destId="{D3658795-6401-4ABC-9DB4-3974F0E68BF0}"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58217-EDB1-42E5-A015-F47252220B52}">
      <dsp:nvSpPr>
        <dsp:cNvPr id="0" name=""/>
        <dsp:cNvSpPr/>
      </dsp:nvSpPr>
      <dsp:spPr>
        <a:xfrm>
          <a:off x="0" y="2559"/>
          <a:ext cx="5486400" cy="43000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solidFill>
                <a:sysClr val="window" lastClr="FFFFFF"/>
              </a:solidFill>
              <a:latin typeface="Aptos" panose="02110004020202020204"/>
              <a:ea typeface="+mn-ea"/>
              <a:cs typeface="+mn-cs"/>
            </a:rPr>
            <a:t>Operations spreadsheets provide: data loading, data analysis, data visualization, data modeling</a:t>
          </a:r>
        </a:p>
      </dsp:txBody>
      <dsp:txXfrm>
        <a:off x="20991" y="23550"/>
        <a:ext cx="5444418" cy="388019"/>
      </dsp:txXfrm>
    </dsp:sp>
    <dsp:sp modelId="{47306636-AE19-437E-A2CE-7AA88EB85F83}">
      <dsp:nvSpPr>
        <dsp:cNvPr id="0" name=""/>
        <dsp:cNvSpPr/>
      </dsp:nvSpPr>
      <dsp:spPr>
        <a:xfrm>
          <a:off x="0" y="432560"/>
          <a:ext cx="5486400" cy="727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3970" rIns="78232" bIns="13970" numCol="1" spcCol="1270" anchor="t" anchorCtr="0">
          <a:noAutofit/>
        </a:bodyPr>
        <a:lstStyle/>
        <a:p>
          <a:pPr marL="57150" lvl="1" indent="-57150" algn="l" defTabSz="488950">
            <a:lnSpc>
              <a:spcPct val="90000"/>
            </a:lnSpc>
            <a:spcBef>
              <a:spcPct val="0"/>
            </a:spcBef>
            <a:spcAft>
              <a:spcPct val="20000"/>
            </a:spcAft>
            <a:buChar char="•"/>
          </a:pPr>
          <a:r>
            <a:rPr lang="en-US" sz="1100" kern="1200" dirty="0">
              <a:solidFill>
                <a:sysClr val="windowText" lastClr="000000">
                  <a:hueOff val="0"/>
                  <a:satOff val="0"/>
                  <a:lumOff val="0"/>
                  <a:alphaOff val="0"/>
                </a:sysClr>
              </a:solidFill>
              <a:latin typeface="Aptos" panose="02110004020202020204"/>
              <a:ea typeface="+mn-ea"/>
              <a:cs typeface="+mn-cs"/>
            </a:rPr>
            <a:t>Pandas can perform all the operations that spreadsheets do, and it also offers capabilities beyond spreadsheets, such as advanced data manipulation and complex modeling with machine learning algorithms.</a:t>
          </a:r>
        </a:p>
      </dsp:txBody>
      <dsp:txXfrm>
        <a:off x="0" y="432560"/>
        <a:ext cx="5486400" cy="727710"/>
      </dsp:txXfrm>
    </dsp:sp>
    <dsp:sp modelId="{A96FE44E-C93B-45A0-87DB-32715BE58B6D}">
      <dsp:nvSpPr>
        <dsp:cNvPr id="0" name=""/>
        <dsp:cNvSpPr/>
      </dsp:nvSpPr>
      <dsp:spPr>
        <a:xfrm>
          <a:off x="0" y="1003617"/>
          <a:ext cx="5486400" cy="35568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solidFill>
                <a:sysClr val="window" lastClr="FFFFFF"/>
              </a:solidFill>
              <a:latin typeface="Aptos" panose="02110004020202020204"/>
              <a:ea typeface="+mn-ea"/>
              <a:cs typeface="+mn-cs"/>
            </a:rPr>
            <a:t>Efficiency and scale</a:t>
          </a:r>
        </a:p>
      </dsp:txBody>
      <dsp:txXfrm>
        <a:off x="17363" y="1020980"/>
        <a:ext cx="5451674" cy="320955"/>
      </dsp:txXfrm>
    </dsp:sp>
    <dsp:sp modelId="{1E52C09A-1E40-42AB-8D01-3C533BCEA1D8}">
      <dsp:nvSpPr>
        <dsp:cNvPr id="0" name=""/>
        <dsp:cNvSpPr/>
      </dsp:nvSpPr>
      <dsp:spPr>
        <a:xfrm>
          <a:off x="0" y="1406417"/>
          <a:ext cx="548640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3970" rIns="78232" bIns="13970" numCol="1" spcCol="1270" anchor="t" anchorCtr="0">
          <a:noAutofit/>
        </a:bodyPr>
        <a:lstStyle/>
        <a:p>
          <a:pPr marL="57150" lvl="1" indent="-57150" algn="l" defTabSz="488950">
            <a:lnSpc>
              <a:spcPct val="90000"/>
            </a:lnSpc>
            <a:spcBef>
              <a:spcPct val="0"/>
            </a:spcBef>
            <a:spcAft>
              <a:spcPct val="20000"/>
            </a:spcAft>
            <a:buChar char="•"/>
          </a:pPr>
          <a:r>
            <a:rPr lang="en-US" sz="1100" kern="1200" dirty="0">
              <a:solidFill>
                <a:sysClr val="windowText" lastClr="000000">
                  <a:hueOff val="0"/>
                  <a:satOff val="0"/>
                  <a:lumOff val="0"/>
                  <a:alphaOff val="0"/>
                </a:sysClr>
              </a:solidFill>
              <a:latin typeface="Aptos" panose="02110004020202020204"/>
              <a:ea typeface="+mn-ea"/>
              <a:cs typeface="+mn-cs"/>
            </a:rPr>
            <a:t>Pandas is more efficient than spreadsheets when processing large and complex datasets.
Pandas can handle data that spreadsheets cannot manage effectively.</a:t>
          </a:r>
        </a:p>
      </dsp:txBody>
      <dsp:txXfrm>
        <a:off x="0" y="1406417"/>
        <a:ext cx="5486400" cy="579600"/>
      </dsp:txXfrm>
    </dsp:sp>
    <dsp:sp modelId="{1B4FA215-8AC3-4FF3-A622-8C1B459228C1}">
      <dsp:nvSpPr>
        <dsp:cNvPr id="0" name=""/>
        <dsp:cNvSpPr/>
      </dsp:nvSpPr>
      <dsp:spPr>
        <a:xfrm>
          <a:off x="0" y="2030257"/>
          <a:ext cx="5486400" cy="35435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solidFill>
                <a:sysClr val="window" lastClr="FFFFFF"/>
              </a:solidFill>
              <a:latin typeface="Aptos" panose="02110004020202020204"/>
              <a:ea typeface="+mn-ea"/>
              <a:cs typeface="+mn-cs"/>
            </a:rPr>
            <a:t>Data processing</a:t>
          </a:r>
        </a:p>
      </dsp:txBody>
      <dsp:txXfrm>
        <a:off x="17298" y="2047555"/>
        <a:ext cx="5451804" cy="319755"/>
      </dsp:txXfrm>
    </dsp:sp>
    <dsp:sp modelId="{D3658795-6401-4ABC-9DB4-3974F0E68BF0}">
      <dsp:nvSpPr>
        <dsp:cNvPr id="0" name=""/>
        <dsp:cNvSpPr/>
      </dsp:nvSpPr>
      <dsp:spPr>
        <a:xfrm>
          <a:off x="0" y="2452465"/>
          <a:ext cx="5486400" cy="747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3970" rIns="78232" bIns="13970" numCol="1" spcCol="1270" anchor="t" anchorCtr="0">
          <a:noAutofit/>
        </a:bodyPr>
        <a:lstStyle/>
        <a:p>
          <a:pPr marL="57150" lvl="1" indent="-57150" algn="l" defTabSz="488950">
            <a:lnSpc>
              <a:spcPct val="90000"/>
            </a:lnSpc>
            <a:spcBef>
              <a:spcPct val="0"/>
            </a:spcBef>
            <a:spcAft>
              <a:spcPct val="20000"/>
            </a:spcAft>
            <a:buChar char="•"/>
          </a:pPr>
          <a:r>
            <a:rPr lang="en-US" sz="1100" kern="1200" dirty="0">
              <a:solidFill>
                <a:sysClr val="windowText" lastClr="000000">
                  <a:hueOff val="0"/>
                  <a:satOff val="0"/>
                  <a:lumOff val="0"/>
                  <a:alphaOff val="0"/>
                </a:sysClr>
              </a:solidFill>
              <a:latin typeface="Aptos" panose="02110004020202020204"/>
              <a:ea typeface="+mn-ea"/>
              <a:cs typeface="+mn-cs"/>
            </a:rPr>
            <a:t>Pandas provides a wide range of operations, including handling missing data, filtering, sorting, grouping, and merging, which are often cumbersome in spreadsheets.
Pandas also offers advanced functions for time series analysis, aggregations, and other tasks that spreadsheets cannot manage effectively.</a:t>
          </a:r>
        </a:p>
      </dsp:txBody>
      <dsp:txXfrm>
        <a:off x="0" y="2452465"/>
        <a:ext cx="5486400" cy="7479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ata Analytics using Python book Chapter 3 Cover">
            <a:extLst>
              <a:ext uri="{FF2B5EF4-FFF2-40B4-BE49-F238E27FC236}">
                <a16:creationId xmlns:a16="http://schemas.microsoft.com/office/drawing/2014/main" id="{2A665619-3E8F-6BE6-7962-2F5F05365A09}"/>
              </a:ext>
            </a:extLst>
          </p:cNvPr>
          <p:cNvPicPr>
            <a:picLocks noChangeAspect="1"/>
          </p:cNvPicPr>
          <p:nvPr/>
        </p:nvPicPr>
        <p:blipFill>
          <a:blip r:embed="rId2"/>
          <a:srcRect l="5835" r="17992"/>
          <a:stretch/>
        </p:blipFill>
        <p:spPr>
          <a:xfrm>
            <a:off x="-1" y="10"/>
            <a:ext cx="12192001" cy="4201449"/>
          </a:xfrm>
          <a:prstGeom prst="rect">
            <a:avLst/>
          </a:prstGeom>
        </p:spPr>
      </p:pic>
      <p:grpSp>
        <p:nvGrpSpPr>
          <p:cNvPr id="23" name="Group 22">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17" name="Title 1">
            <a:extLst>
              <a:ext uri="{FF2B5EF4-FFF2-40B4-BE49-F238E27FC236}">
                <a16:creationId xmlns:a16="http://schemas.microsoft.com/office/drawing/2014/main" id="{566AEE7F-C92D-54F4-2880-0F82C355D376}"/>
              </a:ext>
            </a:extLst>
          </p:cNvPr>
          <p:cNvSpPr>
            <a:spLocks noGrp="1"/>
          </p:cNvSpPr>
          <p:nvPr>
            <p:ph type="ctrTitle"/>
          </p:nvPr>
        </p:nvSpPr>
        <p:spPr>
          <a:xfrm>
            <a:off x="804672" y="5116529"/>
            <a:ext cx="10592174" cy="1000655"/>
          </a:xfrm>
        </p:spPr>
        <p:txBody>
          <a:bodyPr anchor="t">
            <a:normAutofit fontScale="90000"/>
          </a:bodyPr>
          <a:lstStyle/>
          <a:p>
            <a:pPr algn="l"/>
            <a:r>
              <a:rPr lang="en-US" sz="4000" dirty="0">
                <a:solidFill>
                  <a:schemeClr val="tx2"/>
                </a:solidFill>
              </a:rPr>
              <a:t>Data Analytics Using Python</a:t>
            </a:r>
            <a:br>
              <a:rPr lang="en-US" sz="4000" dirty="0">
                <a:solidFill>
                  <a:schemeClr val="tx2"/>
                </a:solidFill>
              </a:rPr>
            </a:br>
            <a:r>
              <a:rPr lang="en-US" sz="4000" dirty="0">
                <a:solidFill>
                  <a:schemeClr val="tx2"/>
                </a:solidFill>
              </a:rPr>
              <a:t>Dr. Ziping Liu</a:t>
            </a:r>
            <a:br>
              <a:rPr lang="en-US" sz="4000" dirty="0">
                <a:solidFill>
                  <a:schemeClr val="tx2"/>
                </a:solidFill>
              </a:rPr>
            </a:br>
            <a:br>
              <a:rPr lang="en-US" sz="4000" dirty="0">
                <a:solidFill>
                  <a:schemeClr val="tx2"/>
                </a:solidFill>
              </a:rPr>
            </a:br>
            <a:endParaRPr lang="en-US" sz="4000" dirty="0">
              <a:solidFill>
                <a:schemeClr val="tx2"/>
              </a:solidFill>
            </a:endParaRPr>
          </a:p>
        </p:txBody>
      </p:sp>
      <p:sp>
        <p:nvSpPr>
          <p:cNvPr id="18" name="Subtitle 2">
            <a:extLst>
              <a:ext uri="{FF2B5EF4-FFF2-40B4-BE49-F238E27FC236}">
                <a16:creationId xmlns:a16="http://schemas.microsoft.com/office/drawing/2014/main" id="{34C743A7-98F9-8627-C0D6-33FB5B5498CD}"/>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3 Pandas</a:t>
            </a:r>
          </a:p>
        </p:txBody>
      </p:sp>
    </p:spTree>
    <p:extLst>
      <p:ext uri="{BB962C8B-B14F-4D97-AF65-F5344CB8AC3E}">
        <p14:creationId xmlns:p14="http://schemas.microsoft.com/office/powerpoint/2010/main" val="4278189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14D7D6-C6FB-4F91-7A82-A276C243449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8FC3BDB-F14D-F5CC-142D-0C8E92B79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ata Analytics using Python book Chapter 3 Cover">
            <a:extLst>
              <a:ext uri="{FF2B5EF4-FFF2-40B4-BE49-F238E27FC236}">
                <a16:creationId xmlns:a16="http://schemas.microsoft.com/office/drawing/2014/main" id="{4B46ED78-DA26-6D99-AF34-5C21EFB1DBD3}"/>
              </a:ext>
            </a:extLst>
          </p:cNvPr>
          <p:cNvPicPr>
            <a:picLocks noChangeAspect="1"/>
          </p:cNvPicPr>
          <p:nvPr/>
        </p:nvPicPr>
        <p:blipFill>
          <a:blip r:embed="rId2"/>
          <a:srcRect l="5835" r="17992"/>
          <a:stretch/>
        </p:blipFill>
        <p:spPr>
          <a:xfrm>
            <a:off x="-1" y="10"/>
            <a:ext cx="12192001" cy="4201449"/>
          </a:xfrm>
          <a:prstGeom prst="rect">
            <a:avLst/>
          </a:prstGeom>
        </p:spPr>
      </p:pic>
      <p:grpSp>
        <p:nvGrpSpPr>
          <p:cNvPr id="23" name="Group 22">
            <a:extLst>
              <a:ext uri="{FF2B5EF4-FFF2-40B4-BE49-F238E27FC236}">
                <a16:creationId xmlns:a16="http://schemas.microsoft.com/office/drawing/2014/main" id="{2B8BAB64-0FD1-282F-B6F5-77EBE76CF2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490586FC-3136-73F5-F125-5F4EB04A7B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2C2F1A5-F2CA-D842-E90E-E45C1EC71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2C07925-8C6D-D6CD-E435-740CD4AB4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0F8D5A8-A07E-B173-7E17-C847FF6D10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17" name="Title 1">
            <a:extLst>
              <a:ext uri="{FF2B5EF4-FFF2-40B4-BE49-F238E27FC236}">
                <a16:creationId xmlns:a16="http://schemas.microsoft.com/office/drawing/2014/main" id="{E4696CF3-1732-4180-8673-F52B020340B5}"/>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https://he.kendallhunt.com/product/data-analytics-using-python</a:t>
            </a:r>
            <a:br>
              <a:rPr lang="en-US" sz="4000" dirty="0">
                <a:solidFill>
                  <a:schemeClr val="tx2"/>
                </a:solidFill>
              </a:rPr>
            </a:br>
            <a:br>
              <a:rPr lang="en-US" sz="4000" dirty="0">
                <a:solidFill>
                  <a:schemeClr val="tx2"/>
                </a:solidFill>
              </a:rPr>
            </a:br>
            <a:endParaRPr lang="en-US" sz="4000" dirty="0">
              <a:solidFill>
                <a:schemeClr val="tx2"/>
              </a:solidFill>
            </a:endParaRPr>
          </a:p>
        </p:txBody>
      </p:sp>
      <p:sp>
        <p:nvSpPr>
          <p:cNvPr id="18" name="Subtitle 2">
            <a:extLst>
              <a:ext uri="{FF2B5EF4-FFF2-40B4-BE49-F238E27FC236}">
                <a16:creationId xmlns:a16="http://schemas.microsoft.com/office/drawing/2014/main" id="{24FB068A-5763-719C-57C9-85835B05223B}"/>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3 Pandas</a:t>
            </a:r>
          </a:p>
        </p:txBody>
      </p:sp>
    </p:spTree>
    <p:extLst>
      <p:ext uri="{BB962C8B-B14F-4D97-AF65-F5344CB8AC3E}">
        <p14:creationId xmlns:p14="http://schemas.microsoft.com/office/powerpoint/2010/main" val="1966813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A379-4975-80DB-8A99-0A8C6BBC9CFD}"/>
              </a:ext>
            </a:extLst>
          </p:cNvPr>
          <p:cNvSpPr>
            <a:spLocks noGrp="1"/>
          </p:cNvSpPr>
          <p:nvPr>
            <p:ph type="title"/>
          </p:nvPr>
        </p:nvSpPr>
        <p:spPr/>
        <p:txBody>
          <a:bodyPr/>
          <a:lstStyle/>
          <a:p>
            <a:r>
              <a:rPr lang="en-US" dirty="0"/>
              <a:t>Pandas</a:t>
            </a:r>
          </a:p>
        </p:txBody>
      </p:sp>
      <p:sp>
        <p:nvSpPr>
          <p:cNvPr id="3" name="Content Placeholder 2">
            <a:extLst>
              <a:ext uri="{FF2B5EF4-FFF2-40B4-BE49-F238E27FC236}">
                <a16:creationId xmlns:a16="http://schemas.microsoft.com/office/drawing/2014/main" id="{45BADCC9-9A6A-D1F9-2528-5D4ED8E98C23}"/>
              </a:ext>
            </a:extLst>
          </p:cNvPr>
          <p:cNvSpPr>
            <a:spLocks noGrp="1"/>
          </p:cNvSpPr>
          <p:nvPr>
            <p:ph idx="1"/>
          </p:nvPr>
        </p:nvSpPr>
        <p:spPr/>
        <p:txBody>
          <a:bodyPr>
            <a:normAutofit/>
          </a:bodyPr>
          <a:lstStyle/>
          <a:p>
            <a:r>
              <a:rPr lang="en-US" dirty="0"/>
              <a:t>a Python package specifically designed for data analysis and manipulation</a:t>
            </a:r>
          </a:p>
          <a:p>
            <a:r>
              <a:rPr lang="en-US" dirty="0"/>
              <a:t>primary data structures: Series and </a:t>
            </a:r>
            <a:r>
              <a:rPr lang="en-US" dirty="0" err="1"/>
              <a:t>DataFrames</a:t>
            </a:r>
            <a:r>
              <a:rPr lang="en-US" dirty="0"/>
              <a:t> which are structured like spreadsheets. </a:t>
            </a:r>
          </a:p>
          <a:p>
            <a:r>
              <a:rPr lang="en-US" dirty="0"/>
              <a:t>provides various operations to make data manipulation and analysis easy and fast, especially for large and complex datasets</a:t>
            </a:r>
          </a:p>
        </p:txBody>
      </p:sp>
      <p:pic>
        <p:nvPicPr>
          <p:cNvPr id="4" name="Picture 3">
            <a:extLst>
              <a:ext uri="{FF2B5EF4-FFF2-40B4-BE49-F238E27FC236}">
                <a16:creationId xmlns:a16="http://schemas.microsoft.com/office/drawing/2014/main" id="{A1D4AA88-5BCC-84A9-7F2A-E7FED0281513}"/>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2316115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5BD37-47F7-6CF1-339E-1BCB1C66C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77DFD-8DD4-C65C-1B7C-50F357128A2A}"/>
              </a:ext>
            </a:extLst>
          </p:cNvPr>
          <p:cNvSpPr>
            <a:spLocks noGrp="1"/>
          </p:cNvSpPr>
          <p:nvPr>
            <p:ph type="title"/>
          </p:nvPr>
        </p:nvSpPr>
        <p:spPr/>
        <p:txBody>
          <a:bodyPr/>
          <a:lstStyle/>
          <a:p>
            <a:r>
              <a:rPr lang="en-US" dirty="0"/>
              <a:t>Introduction to Pandas</a:t>
            </a:r>
          </a:p>
        </p:txBody>
      </p:sp>
      <p:sp>
        <p:nvSpPr>
          <p:cNvPr id="3" name="Content Placeholder 2">
            <a:extLst>
              <a:ext uri="{FF2B5EF4-FFF2-40B4-BE49-F238E27FC236}">
                <a16:creationId xmlns:a16="http://schemas.microsoft.com/office/drawing/2014/main" id="{E56DD964-D453-B6BB-93B2-6E4B26D7582D}"/>
              </a:ext>
            </a:extLst>
          </p:cNvPr>
          <p:cNvSpPr>
            <a:spLocks noGrp="1"/>
          </p:cNvSpPr>
          <p:nvPr>
            <p:ph idx="1"/>
          </p:nvPr>
        </p:nvSpPr>
        <p:spPr>
          <a:xfrm>
            <a:off x="838200" y="1825625"/>
            <a:ext cx="4780005" cy="4351338"/>
          </a:xfrm>
        </p:spPr>
        <p:txBody>
          <a:bodyPr>
            <a:normAutofit/>
          </a:bodyPr>
          <a:lstStyle/>
          <a:p>
            <a:r>
              <a:rPr lang="en-US" dirty="0"/>
              <a:t>Why Pandas? </a:t>
            </a:r>
          </a:p>
          <a:p>
            <a:pPr lvl="1">
              <a:buFont typeface="Wingdings" panose="05000000000000000000" pitchFamily="2" charset="2"/>
              <a:buChar char="§"/>
            </a:pPr>
            <a:r>
              <a:rPr lang="en-US" sz="2000" dirty="0"/>
              <a:t>NumPy excels in performing intensive scientific computing with large numeric datasets</a:t>
            </a:r>
          </a:p>
          <a:p>
            <a:pPr lvl="1">
              <a:buFont typeface="Wingdings" panose="05000000000000000000" pitchFamily="2" charset="2"/>
              <a:buChar char="§"/>
            </a:pPr>
            <a:r>
              <a:rPr lang="en-US" sz="2000" dirty="0"/>
              <a:t>For data analysis applications that involve heterogeneous types of large datasets—traditionally managed by spreadsheets—Pandas offers distinct advantages</a:t>
            </a:r>
          </a:p>
          <a:p>
            <a:pPr lvl="1"/>
            <a:endParaRPr lang="en-US" dirty="0"/>
          </a:p>
        </p:txBody>
      </p:sp>
      <p:pic>
        <p:nvPicPr>
          <p:cNvPr id="4" name="Picture 3">
            <a:extLst>
              <a:ext uri="{FF2B5EF4-FFF2-40B4-BE49-F238E27FC236}">
                <a16:creationId xmlns:a16="http://schemas.microsoft.com/office/drawing/2014/main" id="{27570197-F57D-D1CF-B132-7A1A806EB61A}"/>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Diagram 4">
            <a:extLst>
              <a:ext uri="{FF2B5EF4-FFF2-40B4-BE49-F238E27FC236}">
                <a16:creationId xmlns:a16="http://schemas.microsoft.com/office/drawing/2014/main" id="{8255A63E-DDBE-2C20-46B4-C53347947AAA}"/>
              </a:ext>
            </a:extLst>
          </p:cNvPr>
          <p:cNvGraphicFramePr/>
          <p:nvPr>
            <p:extLst>
              <p:ext uri="{D42A27DB-BD31-4B8C-83A1-F6EECF244321}">
                <p14:modId xmlns:p14="http://schemas.microsoft.com/office/powerpoint/2010/main" val="1962599604"/>
              </p:ext>
            </p:extLst>
          </p:nvPr>
        </p:nvGraphicFramePr>
        <p:xfrm>
          <a:off x="5743030" y="1919417"/>
          <a:ext cx="5486400" cy="3200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126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02F0E-71B5-C340-FB83-7EC2DDB19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FFAEE-E1EE-D12B-2B3A-6015A8830D22}"/>
              </a:ext>
            </a:extLst>
          </p:cNvPr>
          <p:cNvSpPr>
            <a:spLocks noGrp="1"/>
          </p:cNvSpPr>
          <p:nvPr>
            <p:ph type="title"/>
          </p:nvPr>
        </p:nvSpPr>
        <p:spPr/>
        <p:txBody>
          <a:bodyPr/>
          <a:lstStyle/>
          <a:p>
            <a:r>
              <a:rPr lang="en-US" dirty="0"/>
              <a:t>Introduction to Pandas</a:t>
            </a:r>
          </a:p>
        </p:txBody>
      </p:sp>
      <p:sp>
        <p:nvSpPr>
          <p:cNvPr id="3" name="Content Placeholder 2">
            <a:extLst>
              <a:ext uri="{FF2B5EF4-FFF2-40B4-BE49-F238E27FC236}">
                <a16:creationId xmlns:a16="http://schemas.microsoft.com/office/drawing/2014/main" id="{3FC4251C-B1B6-82C2-250F-3C6FEB509F09}"/>
              </a:ext>
            </a:extLst>
          </p:cNvPr>
          <p:cNvSpPr>
            <a:spLocks noGrp="1"/>
          </p:cNvSpPr>
          <p:nvPr>
            <p:ph idx="1"/>
          </p:nvPr>
        </p:nvSpPr>
        <p:spPr/>
        <p:txBody>
          <a:bodyPr>
            <a:normAutofit/>
          </a:bodyPr>
          <a:lstStyle/>
          <a:p>
            <a:r>
              <a:rPr lang="en-US" dirty="0"/>
              <a:t>Installation and Testing</a:t>
            </a:r>
          </a:p>
          <a:p>
            <a:endParaRPr lang="en-US" dirty="0"/>
          </a:p>
          <a:p>
            <a:endParaRPr lang="en-US" dirty="0"/>
          </a:p>
        </p:txBody>
      </p:sp>
      <p:pic>
        <p:nvPicPr>
          <p:cNvPr id="4" name="Picture 3">
            <a:extLst>
              <a:ext uri="{FF2B5EF4-FFF2-40B4-BE49-F238E27FC236}">
                <a16:creationId xmlns:a16="http://schemas.microsoft.com/office/drawing/2014/main" id="{6FE3E449-5236-4B1F-880D-4300BB9A62ED}"/>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6" name="Table 5" descr="Pandas installation with pip and conda">
            <a:extLst>
              <a:ext uri="{FF2B5EF4-FFF2-40B4-BE49-F238E27FC236}">
                <a16:creationId xmlns:a16="http://schemas.microsoft.com/office/drawing/2014/main" id="{6640224E-2A81-5602-63C8-011B589F68FB}"/>
              </a:ext>
            </a:extLst>
          </p:cNvPr>
          <p:cNvGraphicFramePr>
            <a:graphicFrameLocks noGrp="1"/>
          </p:cNvGraphicFramePr>
          <p:nvPr>
            <p:extLst>
              <p:ext uri="{D42A27DB-BD31-4B8C-83A1-F6EECF244321}">
                <p14:modId xmlns:p14="http://schemas.microsoft.com/office/powerpoint/2010/main" val="2327037057"/>
              </p:ext>
            </p:extLst>
          </p:nvPr>
        </p:nvGraphicFramePr>
        <p:xfrm>
          <a:off x="1179307" y="2338961"/>
          <a:ext cx="7905699" cy="3391857"/>
        </p:xfrm>
        <a:graphic>
          <a:graphicData uri="http://schemas.openxmlformats.org/drawingml/2006/table">
            <a:tbl>
              <a:tblPr firstRow="1" firstCol="1" bandRow="1">
                <a:tableStyleId>{5C22544A-7EE6-4342-B048-85BDC9FD1C3A}</a:tableStyleId>
              </a:tblPr>
              <a:tblGrid>
                <a:gridCol w="3711919">
                  <a:extLst>
                    <a:ext uri="{9D8B030D-6E8A-4147-A177-3AD203B41FA5}">
                      <a16:colId xmlns:a16="http://schemas.microsoft.com/office/drawing/2014/main" val="1334219055"/>
                    </a:ext>
                  </a:extLst>
                </a:gridCol>
                <a:gridCol w="4193780">
                  <a:extLst>
                    <a:ext uri="{9D8B030D-6E8A-4147-A177-3AD203B41FA5}">
                      <a16:colId xmlns:a16="http://schemas.microsoft.com/office/drawing/2014/main" val="3317903200"/>
                    </a:ext>
                  </a:extLst>
                </a:gridCol>
              </a:tblGrid>
              <a:tr h="220403">
                <a:tc>
                  <a:txBody>
                    <a:bodyPr/>
                    <a:lstStyle/>
                    <a:p>
                      <a:pPr marL="0" marR="0">
                        <a:lnSpc>
                          <a:spcPct val="115000"/>
                        </a:lnSpc>
                        <a:spcAft>
                          <a:spcPts val="800"/>
                        </a:spcAft>
                      </a:pPr>
                      <a:r>
                        <a:rPr lang="en-US" sz="1600" kern="100">
                          <a:effectLst/>
                        </a:rPr>
                        <a:t>Using pip:</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Using </a:t>
                      </a:r>
                      <a:r>
                        <a:rPr lang="en-US" sz="1600" kern="100" dirty="0" err="1">
                          <a:effectLst/>
                        </a:rPr>
                        <a:t>conda</a:t>
                      </a:r>
                      <a:r>
                        <a:rPr lang="en-US" sz="1600" kern="100" dirty="0">
                          <a:effectLst/>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56206021"/>
                  </a:ext>
                </a:extLst>
              </a:tr>
              <a:tr h="220403">
                <a:tc>
                  <a:txBody>
                    <a:bodyPr/>
                    <a:lstStyle/>
                    <a:p>
                      <a:pPr marL="0" marR="0">
                        <a:lnSpc>
                          <a:spcPct val="115000"/>
                        </a:lnSpc>
                        <a:spcAft>
                          <a:spcPts val="800"/>
                        </a:spcAft>
                      </a:pPr>
                      <a:r>
                        <a:rPr lang="en-US" sz="1600" kern="100">
                          <a:effectLst/>
                        </a:rPr>
                        <a:t>pip install pandas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err="1">
                          <a:effectLst/>
                        </a:rPr>
                        <a:t>conda</a:t>
                      </a:r>
                      <a:r>
                        <a:rPr lang="en-US" sz="1600" kern="100" dirty="0">
                          <a:effectLst/>
                        </a:rPr>
                        <a:t> install pandas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91104605"/>
                  </a:ext>
                </a:extLst>
              </a:tr>
              <a:tr h="908216">
                <a:tc gridSpan="2">
                  <a:txBody>
                    <a:bodyPr/>
                    <a:lstStyle/>
                    <a:p>
                      <a:pPr marL="0" marR="0">
                        <a:lnSpc>
                          <a:spcPct val="115000"/>
                        </a:lnSpc>
                        <a:spcAft>
                          <a:spcPts val="800"/>
                        </a:spcAft>
                      </a:pPr>
                      <a:r>
                        <a:rPr lang="en-US" sz="1600" kern="100">
                          <a:effectLst/>
                        </a:rPr>
                        <a:t>Verifying the installation:</a:t>
                      </a:r>
                    </a:p>
                    <a:p>
                      <a:pPr marL="0" marR="0">
                        <a:lnSpc>
                          <a:spcPct val="115000"/>
                        </a:lnSpc>
                        <a:spcAft>
                          <a:spcPts val="800"/>
                        </a:spcAft>
                      </a:pPr>
                      <a:r>
                        <a:rPr lang="en-US" sz="1600" kern="100">
                          <a:effectLst/>
                        </a:rPr>
                        <a:t>import pandas as pd</a:t>
                      </a:r>
                    </a:p>
                    <a:p>
                      <a:pPr marL="0" marR="0">
                        <a:lnSpc>
                          <a:spcPct val="115000"/>
                        </a:lnSpc>
                        <a:spcAft>
                          <a:spcPts val="800"/>
                        </a:spcAft>
                      </a:pPr>
                      <a:r>
                        <a:rPr lang="en-US" sz="1600" kern="100">
                          <a:effectLst/>
                        </a:rPr>
                        <a:t>print(pd.__version__)</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47206014"/>
                  </a:ext>
                </a:extLst>
              </a:tr>
              <a:tr h="1827914">
                <a:tc gridSpan="2">
                  <a:txBody>
                    <a:bodyPr/>
                    <a:lstStyle/>
                    <a:p>
                      <a:pPr marL="0" marR="0">
                        <a:lnSpc>
                          <a:spcPct val="115000"/>
                        </a:lnSpc>
                        <a:spcAft>
                          <a:spcPts val="800"/>
                        </a:spcAft>
                      </a:pPr>
                      <a:r>
                        <a:rPr lang="en-US" sz="1600" kern="100" dirty="0">
                          <a:effectLst/>
                        </a:rPr>
                        <a:t>Testing the Pandas installation using a simple script:</a:t>
                      </a:r>
                    </a:p>
                    <a:p>
                      <a:pPr marL="0" marR="0">
                        <a:lnSpc>
                          <a:spcPct val="115000"/>
                        </a:lnSpc>
                        <a:spcAft>
                          <a:spcPts val="800"/>
                        </a:spcAft>
                      </a:pPr>
                      <a:r>
                        <a:rPr lang="en-US" sz="1600" kern="100" dirty="0">
                          <a:effectLst/>
                        </a:rPr>
                        <a:t>import pandas as pd</a:t>
                      </a:r>
                    </a:p>
                    <a:p>
                      <a:pPr marL="0" marR="0">
                        <a:lnSpc>
                          <a:spcPct val="115000"/>
                        </a:lnSpc>
                        <a:spcAft>
                          <a:spcPts val="800"/>
                        </a:spcAft>
                      </a:pPr>
                      <a:r>
                        <a:rPr lang="en-US" sz="1600" kern="100" dirty="0" err="1">
                          <a:effectLst/>
                        </a:rPr>
                        <a:t>stock_data_dict</a:t>
                      </a:r>
                      <a:r>
                        <a:rPr lang="en-US" sz="1600" kern="100" dirty="0">
                          <a:effectLst/>
                        </a:rPr>
                        <a:t> = {'ticker': ['AAPL', 'TSLA', 'GOOG'], 'price': [150.23, 900.00, 2800.00]}</a:t>
                      </a:r>
                    </a:p>
                    <a:p>
                      <a:pPr marL="0" marR="0">
                        <a:lnSpc>
                          <a:spcPct val="115000"/>
                        </a:lnSpc>
                        <a:spcAft>
                          <a:spcPts val="800"/>
                        </a:spcAft>
                      </a:pPr>
                      <a:r>
                        <a:rPr lang="en-US" sz="1600" kern="100" dirty="0" err="1">
                          <a:effectLst/>
                        </a:rPr>
                        <a:t>df</a:t>
                      </a:r>
                      <a:r>
                        <a:rPr lang="en-US" sz="1600" kern="100" dirty="0">
                          <a:effectLst/>
                        </a:rPr>
                        <a:t> = </a:t>
                      </a:r>
                      <a:r>
                        <a:rPr lang="en-US" sz="1600" kern="100" dirty="0" err="1">
                          <a:effectLst/>
                        </a:rPr>
                        <a:t>pd.DataFrame</a:t>
                      </a:r>
                      <a:r>
                        <a:rPr lang="en-US" sz="1600" kern="100" dirty="0">
                          <a:effectLst/>
                        </a:rPr>
                        <a:t>(</a:t>
                      </a:r>
                      <a:r>
                        <a:rPr lang="en-US" sz="1600" kern="100" dirty="0" err="1">
                          <a:effectLst/>
                        </a:rPr>
                        <a:t>stock_data_dict</a:t>
                      </a:r>
                      <a:r>
                        <a:rPr lang="en-US" sz="1600" kern="100" dirty="0">
                          <a:effectLst/>
                        </a:rPr>
                        <a:t>)</a:t>
                      </a:r>
                    </a:p>
                    <a:p>
                      <a:pPr marL="0" marR="0">
                        <a:lnSpc>
                          <a:spcPct val="115000"/>
                        </a:lnSpc>
                        <a:spcAft>
                          <a:spcPts val="800"/>
                        </a:spcAft>
                      </a:pPr>
                      <a:r>
                        <a:rPr lang="en-US" sz="1600" kern="100" dirty="0">
                          <a:effectLst/>
                        </a:rPr>
                        <a:t>print(</a:t>
                      </a:r>
                      <a:r>
                        <a:rPr lang="en-US" sz="1600" kern="100" dirty="0" err="1">
                          <a:effectLst/>
                        </a:rPr>
                        <a:t>df</a:t>
                      </a:r>
                      <a:r>
                        <a:rPr lang="en-US" sz="1600" kern="100" dirty="0">
                          <a:effectLst/>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453456410"/>
                  </a:ext>
                </a:extLst>
              </a:tr>
            </a:tbl>
          </a:graphicData>
        </a:graphic>
      </p:graphicFrame>
    </p:spTree>
    <p:extLst>
      <p:ext uri="{BB962C8B-B14F-4D97-AF65-F5344CB8AC3E}">
        <p14:creationId xmlns:p14="http://schemas.microsoft.com/office/powerpoint/2010/main" val="3542174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F10ED-AECE-10BB-48CC-88F36A13F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3B884-72D2-4A32-C106-AEE33BE91062}"/>
              </a:ext>
            </a:extLst>
          </p:cNvPr>
          <p:cNvSpPr>
            <a:spLocks noGrp="1"/>
          </p:cNvSpPr>
          <p:nvPr>
            <p:ph type="title"/>
          </p:nvPr>
        </p:nvSpPr>
        <p:spPr/>
        <p:txBody>
          <a:bodyPr/>
          <a:lstStyle/>
          <a:p>
            <a:r>
              <a:rPr lang="en-US" dirty="0"/>
              <a:t>Getting Started with Pandas</a:t>
            </a:r>
          </a:p>
        </p:txBody>
      </p:sp>
      <p:sp>
        <p:nvSpPr>
          <p:cNvPr id="3" name="Content Placeholder 2" descr="Pandas DataFrames/Series vs NumPy ndarray ">
            <a:extLst>
              <a:ext uri="{FF2B5EF4-FFF2-40B4-BE49-F238E27FC236}">
                <a16:creationId xmlns:a16="http://schemas.microsoft.com/office/drawing/2014/main" id="{E0FC9401-4FED-2721-C525-3D5076DEB0E2}"/>
              </a:ext>
            </a:extLst>
          </p:cNvPr>
          <p:cNvSpPr>
            <a:spLocks noGrp="1"/>
          </p:cNvSpPr>
          <p:nvPr>
            <p:ph idx="1"/>
          </p:nvPr>
        </p:nvSpPr>
        <p:spPr>
          <a:xfrm>
            <a:off x="772298" y="1438447"/>
            <a:ext cx="10515600" cy="4351338"/>
          </a:xfrm>
        </p:spPr>
        <p:txBody>
          <a:bodyPr>
            <a:normAutofit/>
          </a:bodyPr>
          <a:lstStyle/>
          <a:p>
            <a:r>
              <a:rPr lang="pt-BR" dirty="0"/>
              <a:t>Pandas DataFrames/Series</a:t>
            </a:r>
          </a:p>
          <a:p>
            <a:pPr lvl="1">
              <a:buFont typeface="Wingdings" panose="05000000000000000000" pitchFamily="2" charset="2"/>
              <a:buChar char="§"/>
            </a:pPr>
            <a:r>
              <a:rPr lang="en-US" dirty="0"/>
              <a:t>Series: one-dimensional labeled array, where labels serve as indices</a:t>
            </a:r>
          </a:p>
          <a:p>
            <a:pPr lvl="1">
              <a:buFont typeface="Wingdings" panose="05000000000000000000" pitchFamily="2" charset="2"/>
              <a:buChar char="§"/>
            </a:pPr>
            <a:r>
              <a:rPr lang="en-US" dirty="0" err="1"/>
              <a:t>DataFrame</a:t>
            </a:r>
            <a:r>
              <a:rPr lang="en-US" dirty="0"/>
              <a:t> extends the concept of a Series to two dimensions, with both rows and columns labeled (row index and column index) </a:t>
            </a:r>
            <a:endParaRPr lang="pt-BR" dirty="0"/>
          </a:p>
          <a:p>
            <a:r>
              <a:rPr lang="pt-BR" dirty="0"/>
              <a:t>Pandas DataFrames/Series vs NumPy ndarray </a:t>
            </a:r>
          </a:p>
          <a:p>
            <a:endParaRPr lang="pt-BR" dirty="0"/>
          </a:p>
          <a:p>
            <a:endParaRPr lang="pt-BR" dirty="0"/>
          </a:p>
          <a:p>
            <a:pPr lvl="1">
              <a:buFont typeface="Wingdings" panose="05000000000000000000" pitchFamily="2" charset="2"/>
              <a:buChar char="§"/>
            </a:pPr>
            <a:endParaRPr lang="en-US" dirty="0"/>
          </a:p>
        </p:txBody>
      </p:sp>
      <p:pic>
        <p:nvPicPr>
          <p:cNvPr id="4" name="Picture 3">
            <a:extLst>
              <a:ext uri="{FF2B5EF4-FFF2-40B4-BE49-F238E27FC236}">
                <a16:creationId xmlns:a16="http://schemas.microsoft.com/office/drawing/2014/main" id="{4994B07C-A60A-F75D-7AE4-76C207BB729F}"/>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7" name="Table 6" descr="Pandas ">
            <a:extLst>
              <a:ext uri="{FF2B5EF4-FFF2-40B4-BE49-F238E27FC236}">
                <a16:creationId xmlns:a16="http://schemas.microsoft.com/office/drawing/2014/main" id="{EFB0513B-2C78-1E82-03C2-6966DE7D8927}"/>
              </a:ext>
            </a:extLst>
          </p:cNvPr>
          <p:cNvGraphicFramePr>
            <a:graphicFrameLocks noGrp="1"/>
          </p:cNvGraphicFramePr>
          <p:nvPr>
            <p:extLst>
              <p:ext uri="{D42A27DB-BD31-4B8C-83A1-F6EECF244321}">
                <p14:modId xmlns:p14="http://schemas.microsoft.com/office/powerpoint/2010/main" val="3821916333"/>
              </p:ext>
            </p:extLst>
          </p:nvPr>
        </p:nvGraphicFramePr>
        <p:xfrm>
          <a:off x="1088915" y="3591697"/>
          <a:ext cx="9449337" cy="2223127"/>
        </p:xfrm>
        <a:graphic>
          <a:graphicData uri="http://schemas.openxmlformats.org/drawingml/2006/table">
            <a:tbl>
              <a:tblPr firstRow="1" firstCol="1" bandRow="1">
                <a:tableStyleId>{5C22544A-7EE6-4342-B048-85BDC9FD1C3A}</a:tableStyleId>
              </a:tblPr>
              <a:tblGrid>
                <a:gridCol w="1554132">
                  <a:extLst>
                    <a:ext uri="{9D8B030D-6E8A-4147-A177-3AD203B41FA5}">
                      <a16:colId xmlns:a16="http://schemas.microsoft.com/office/drawing/2014/main" val="3950095660"/>
                    </a:ext>
                  </a:extLst>
                </a:gridCol>
                <a:gridCol w="4093810">
                  <a:extLst>
                    <a:ext uri="{9D8B030D-6E8A-4147-A177-3AD203B41FA5}">
                      <a16:colId xmlns:a16="http://schemas.microsoft.com/office/drawing/2014/main" val="2931375466"/>
                    </a:ext>
                  </a:extLst>
                </a:gridCol>
                <a:gridCol w="3801395">
                  <a:extLst>
                    <a:ext uri="{9D8B030D-6E8A-4147-A177-3AD203B41FA5}">
                      <a16:colId xmlns:a16="http://schemas.microsoft.com/office/drawing/2014/main" val="1009377689"/>
                    </a:ext>
                  </a:extLst>
                </a:gridCol>
              </a:tblGrid>
              <a:tr h="326926">
                <a:tc>
                  <a:txBody>
                    <a:bodyPr/>
                    <a:lstStyle/>
                    <a:p>
                      <a:pPr marL="0" marR="0">
                        <a:lnSpc>
                          <a:spcPct val="115000"/>
                        </a:lnSpc>
                        <a:spcAft>
                          <a:spcPts val="800"/>
                        </a:spcAft>
                      </a:pPr>
                      <a:r>
                        <a:rPr lang="en-US" sz="1400" kern="100" dirty="0">
                          <a:effectLst/>
                        </a:rPr>
                        <a:t> </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err="1">
                          <a:effectLst/>
                        </a:rPr>
                        <a:t>Pandas’s</a:t>
                      </a:r>
                      <a:r>
                        <a:rPr lang="en-US" sz="1400" kern="100" dirty="0">
                          <a:effectLst/>
                        </a:rPr>
                        <a:t> Series and </a:t>
                      </a:r>
                      <a:r>
                        <a:rPr lang="en-US" sz="1400" kern="100" dirty="0" err="1">
                          <a:effectLst/>
                        </a:rPr>
                        <a:t>DataFrames</a:t>
                      </a:r>
                      <a:r>
                        <a:rPr lang="en-US" sz="1400" kern="100" dirty="0">
                          <a:effectLst/>
                        </a:rPr>
                        <a: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NumPy </a:t>
                      </a:r>
                      <a:r>
                        <a:rPr lang="en-US" sz="1400" kern="100" dirty="0" err="1">
                          <a:effectLst/>
                        </a:rPr>
                        <a:t>ndarray</a:t>
                      </a:r>
                      <a:r>
                        <a:rPr lang="en-US" sz="1400" kern="100" dirty="0">
                          <a:effectLst/>
                        </a:rPr>
                        <a: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98502879"/>
                  </a:ext>
                </a:extLst>
              </a:tr>
              <a:tr h="326926">
                <a:tc>
                  <a:txBody>
                    <a:bodyPr/>
                    <a:lstStyle/>
                    <a:p>
                      <a:pPr marL="0" marR="0">
                        <a:lnSpc>
                          <a:spcPct val="115000"/>
                        </a:lnSpc>
                        <a:spcAft>
                          <a:spcPts val="800"/>
                        </a:spcAft>
                      </a:pPr>
                      <a:r>
                        <a:rPr lang="en-US" sz="1400" kern="100">
                          <a:effectLst/>
                        </a:rPr>
                        <a:t>speed</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faster with element-wise ops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a:effectLst/>
                        </a:rPr>
                        <a:t>Faster with element-wise ops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05270593"/>
                  </a:ext>
                </a:extLst>
              </a:tr>
              <a:tr h="326926">
                <a:tc>
                  <a:txBody>
                    <a:bodyPr/>
                    <a:lstStyle/>
                    <a:p>
                      <a:pPr marL="0" marR="0">
                        <a:lnSpc>
                          <a:spcPct val="115000"/>
                        </a:lnSpc>
                        <a:spcAft>
                          <a:spcPts val="800"/>
                        </a:spcAft>
                      </a:pPr>
                      <a:r>
                        <a:rPr lang="en-US" sz="1400" kern="100">
                          <a:effectLst/>
                        </a:rPr>
                        <a:t>data types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heterogenous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homogeneous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94791123"/>
                  </a:ext>
                </a:extLst>
              </a:tr>
              <a:tr h="662086">
                <a:tc>
                  <a:txBody>
                    <a:bodyPr/>
                    <a:lstStyle/>
                    <a:p>
                      <a:pPr marL="0" marR="0">
                        <a:lnSpc>
                          <a:spcPct val="115000"/>
                        </a:lnSpc>
                        <a:spcAft>
                          <a:spcPts val="800"/>
                        </a:spcAft>
                      </a:pPr>
                      <a:r>
                        <a:rPr lang="en-US" sz="1400" kern="100">
                          <a:effectLst/>
                        </a:rPr>
                        <a:t>size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can be altered with functions such as append(), drop(), and insert()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fixed once created</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85476924"/>
                  </a:ext>
                </a:extLst>
              </a:tr>
              <a:tr h="555223">
                <a:tc>
                  <a:txBody>
                    <a:bodyPr/>
                    <a:lstStyle/>
                    <a:p>
                      <a:pPr marL="0" marR="0">
                        <a:lnSpc>
                          <a:spcPct val="115000"/>
                        </a:lnSpc>
                        <a:spcAft>
                          <a:spcPts val="800"/>
                        </a:spcAft>
                      </a:pPr>
                      <a:r>
                        <a:rPr lang="en-US" sz="1400" kern="100">
                          <a:effectLst/>
                        </a:rPr>
                        <a:t>dimension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Series is one-dimension</a:t>
                      </a:r>
                    </a:p>
                    <a:p>
                      <a:pPr marL="0" marR="0">
                        <a:lnSpc>
                          <a:spcPct val="115000"/>
                        </a:lnSpc>
                        <a:spcAft>
                          <a:spcPts val="800"/>
                        </a:spcAft>
                      </a:pPr>
                      <a:r>
                        <a:rPr lang="en-US" sz="1400" kern="100" dirty="0" err="1">
                          <a:effectLst/>
                        </a:rPr>
                        <a:t>DataFrame</a:t>
                      </a:r>
                      <a:r>
                        <a:rPr lang="en-US" sz="1400" kern="100" dirty="0">
                          <a:effectLst/>
                        </a:rPr>
                        <a:t> is two-dimension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Can be one-dimension, two-dimension or n-dimension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66822681"/>
                  </a:ext>
                </a:extLst>
              </a:tr>
            </a:tbl>
          </a:graphicData>
        </a:graphic>
      </p:graphicFrame>
    </p:spTree>
    <p:extLst>
      <p:ext uri="{BB962C8B-B14F-4D97-AF65-F5344CB8AC3E}">
        <p14:creationId xmlns:p14="http://schemas.microsoft.com/office/powerpoint/2010/main" val="1585707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75E08-25F9-D8B4-9368-84CA3256A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34F05-E38B-9AFD-A5F0-F9BF88CF5947}"/>
              </a:ext>
            </a:extLst>
          </p:cNvPr>
          <p:cNvSpPr>
            <a:spLocks noGrp="1"/>
          </p:cNvSpPr>
          <p:nvPr>
            <p:ph type="title"/>
          </p:nvPr>
        </p:nvSpPr>
        <p:spPr/>
        <p:txBody>
          <a:bodyPr/>
          <a:lstStyle/>
          <a:p>
            <a:r>
              <a:rPr lang="en-US" dirty="0"/>
              <a:t>Use Pandas, create Series and </a:t>
            </a:r>
            <a:r>
              <a:rPr lang="en-US" dirty="0" err="1"/>
              <a:t>Dataframes</a:t>
            </a:r>
            <a:endParaRPr lang="en-US" dirty="0"/>
          </a:p>
        </p:txBody>
      </p:sp>
      <p:sp>
        <p:nvSpPr>
          <p:cNvPr id="3" name="Content Placeholder 2">
            <a:extLst>
              <a:ext uri="{FF2B5EF4-FFF2-40B4-BE49-F238E27FC236}">
                <a16:creationId xmlns:a16="http://schemas.microsoft.com/office/drawing/2014/main" id="{19D8CA83-14C4-7633-7D08-567F7ACCB420}"/>
              </a:ext>
            </a:extLst>
          </p:cNvPr>
          <p:cNvSpPr>
            <a:spLocks noGrp="1"/>
          </p:cNvSpPr>
          <p:nvPr>
            <p:ph idx="1"/>
          </p:nvPr>
        </p:nvSpPr>
        <p:spPr>
          <a:xfrm>
            <a:off x="772298" y="1438447"/>
            <a:ext cx="10515600" cy="4351338"/>
          </a:xfrm>
        </p:spPr>
        <p:txBody>
          <a:bodyPr>
            <a:normAutofit lnSpcReduction="10000"/>
          </a:bodyPr>
          <a:lstStyle/>
          <a:p>
            <a:r>
              <a:rPr lang="en-US" dirty="0"/>
              <a:t>use Pandas: import pandas as pd</a:t>
            </a:r>
          </a:p>
          <a:p>
            <a:r>
              <a:rPr lang="en-US" dirty="0"/>
              <a:t>create a Series: see textbook example</a:t>
            </a:r>
          </a:p>
          <a:p>
            <a:pPr lvl="1">
              <a:buFont typeface="Wingdings" panose="05000000000000000000" pitchFamily="2" charset="2"/>
              <a:buChar char="§"/>
            </a:pPr>
            <a:r>
              <a:rPr lang="en-US" dirty="0"/>
              <a:t>use the series method with the default index</a:t>
            </a:r>
          </a:p>
          <a:p>
            <a:pPr lvl="1">
              <a:buFont typeface="Wingdings" panose="05000000000000000000" pitchFamily="2" charset="2"/>
              <a:buChar char="§"/>
            </a:pPr>
            <a:r>
              <a:rPr lang="en-US" dirty="0"/>
              <a:t>use the series method with a specified index</a:t>
            </a:r>
          </a:p>
          <a:p>
            <a:pPr lvl="1">
              <a:buFont typeface="Wingdings" panose="05000000000000000000" pitchFamily="2" charset="2"/>
              <a:buChar char="§"/>
            </a:pPr>
            <a:r>
              <a:rPr lang="en-US" dirty="0"/>
              <a:t>use the series method with a dictionary </a:t>
            </a:r>
          </a:p>
          <a:p>
            <a:r>
              <a:rPr lang="en-US" dirty="0"/>
              <a:t>create a </a:t>
            </a:r>
            <a:r>
              <a:rPr lang="en-US" dirty="0" err="1"/>
              <a:t>DataFrame</a:t>
            </a:r>
            <a:r>
              <a:rPr lang="en-US" dirty="0"/>
              <a:t>: see textbook example</a:t>
            </a:r>
          </a:p>
          <a:p>
            <a:pPr lvl="1">
              <a:buFont typeface="Wingdings" panose="05000000000000000000" pitchFamily="2" charset="2"/>
              <a:buChar char="§"/>
            </a:pPr>
            <a:r>
              <a:rPr lang="en-US" dirty="0"/>
              <a:t>use </a:t>
            </a:r>
            <a:r>
              <a:rPr lang="en-US" dirty="0" err="1"/>
              <a:t>DataFrame</a:t>
            </a:r>
            <a:r>
              <a:rPr lang="en-US" dirty="0"/>
              <a:t> method with a dictionary, a list, or a two-dimensional NumPy array</a:t>
            </a:r>
          </a:p>
          <a:p>
            <a:pPr lvl="1">
              <a:buFont typeface="Wingdings" panose="05000000000000000000" pitchFamily="2" charset="2"/>
              <a:buChar char="§"/>
            </a:pPr>
            <a:r>
              <a:rPr lang="en-US" dirty="0"/>
              <a:t>can specify names for both the index and columns</a:t>
            </a:r>
          </a:p>
          <a:p>
            <a:pPr lvl="1">
              <a:buFont typeface="Wingdings" panose="05000000000000000000" pitchFamily="2" charset="2"/>
              <a:buChar char="§"/>
            </a:pPr>
            <a:r>
              <a:rPr lang="en-US" dirty="0"/>
              <a:t>create a </a:t>
            </a:r>
            <a:r>
              <a:rPr lang="en-US" dirty="0" err="1"/>
              <a:t>DataFrame</a:t>
            </a:r>
            <a:r>
              <a:rPr lang="en-US" dirty="0"/>
              <a:t> from a file, such as a .csv(Comma-Separated Values) file</a:t>
            </a:r>
          </a:p>
          <a:p>
            <a:endParaRPr lang="en-US" dirty="0"/>
          </a:p>
        </p:txBody>
      </p:sp>
      <p:pic>
        <p:nvPicPr>
          <p:cNvPr id="4" name="Picture 3">
            <a:extLst>
              <a:ext uri="{FF2B5EF4-FFF2-40B4-BE49-F238E27FC236}">
                <a16:creationId xmlns:a16="http://schemas.microsoft.com/office/drawing/2014/main" id="{327724AD-B096-2673-2722-8E6DCC9A388C}"/>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388707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0B180-C8D4-93E9-B87B-B10C1B6A7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FB876-713E-5893-6F93-89D8655C6C63}"/>
              </a:ext>
            </a:extLst>
          </p:cNvPr>
          <p:cNvSpPr>
            <a:spLocks noGrp="1"/>
          </p:cNvSpPr>
          <p:nvPr>
            <p:ph type="title"/>
          </p:nvPr>
        </p:nvSpPr>
        <p:spPr/>
        <p:txBody>
          <a:bodyPr/>
          <a:lstStyle/>
          <a:p>
            <a:r>
              <a:rPr lang="en-US" dirty="0"/>
              <a:t>Viewing and Inspecting on </a:t>
            </a:r>
            <a:r>
              <a:rPr lang="en-US" dirty="0" err="1"/>
              <a:t>DataFrames</a:t>
            </a:r>
            <a:endParaRPr lang="en-US" dirty="0"/>
          </a:p>
        </p:txBody>
      </p:sp>
      <p:sp>
        <p:nvSpPr>
          <p:cNvPr id="3" name="Content Placeholder 2">
            <a:extLst>
              <a:ext uri="{FF2B5EF4-FFF2-40B4-BE49-F238E27FC236}">
                <a16:creationId xmlns:a16="http://schemas.microsoft.com/office/drawing/2014/main" id="{CDBEBC55-DC0E-362E-58ED-CA444A54C6A9}"/>
              </a:ext>
            </a:extLst>
          </p:cNvPr>
          <p:cNvSpPr>
            <a:spLocks noGrp="1"/>
          </p:cNvSpPr>
          <p:nvPr>
            <p:ph idx="1"/>
          </p:nvPr>
        </p:nvSpPr>
        <p:spPr>
          <a:xfrm>
            <a:off x="772298" y="1438447"/>
            <a:ext cx="10515600" cy="4351338"/>
          </a:xfrm>
        </p:spPr>
        <p:txBody>
          <a:bodyPr>
            <a:normAutofit/>
          </a:bodyPr>
          <a:lstStyle/>
          <a:p>
            <a:r>
              <a:rPr lang="en-US" dirty="0"/>
              <a:t>a summary view of the data, with details on the first and last records, general statistics, and metadata</a:t>
            </a:r>
          </a:p>
          <a:p>
            <a:endParaRPr lang="en-US" dirty="0"/>
          </a:p>
        </p:txBody>
      </p:sp>
      <p:pic>
        <p:nvPicPr>
          <p:cNvPr id="4" name="Picture 3">
            <a:extLst>
              <a:ext uri="{FF2B5EF4-FFF2-40B4-BE49-F238E27FC236}">
                <a16:creationId xmlns:a16="http://schemas.microsoft.com/office/drawing/2014/main" id="{82F99093-FC1A-3A48-174B-3915C9B0C1E9}"/>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Table 4" descr="Functions in DataFrame for summary view of data">
            <a:extLst>
              <a:ext uri="{FF2B5EF4-FFF2-40B4-BE49-F238E27FC236}">
                <a16:creationId xmlns:a16="http://schemas.microsoft.com/office/drawing/2014/main" id="{3DB607B5-22B1-3CAB-20EC-C201CFF18A7D}"/>
              </a:ext>
            </a:extLst>
          </p:cNvPr>
          <p:cNvGraphicFramePr>
            <a:graphicFrameLocks noGrp="1"/>
          </p:cNvGraphicFramePr>
          <p:nvPr>
            <p:extLst>
              <p:ext uri="{D42A27DB-BD31-4B8C-83A1-F6EECF244321}">
                <p14:modId xmlns:p14="http://schemas.microsoft.com/office/powerpoint/2010/main" val="1340141991"/>
              </p:ext>
            </p:extLst>
          </p:nvPr>
        </p:nvGraphicFramePr>
        <p:xfrm>
          <a:off x="1087395" y="2429166"/>
          <a:ext cx="8765058" cy="2744194"/>
        </p:xfrm>
        <a:graphic>
          <a:graphicData uri="http://schemas.openxmlformats.org/drawingml/2006/table">
            <a:tbl>
              <a:tblPr firstRow="1" firstCol="1" bandRow="1">
                <a:tableStyleId>{5C22544A-7EE6-4342-B048-85BDC9FD1C3A}</a:tableStyleId>
              </a:tblPr>
              <a:tblGrid>
                <a:gridCol w="3163329">
                  <a:extLst>
                    <a:ext uri="{9D8B030D-6E8A-4147-A177-3AD203B41FA5}">
                      <a16:colId xmlns:a16="http://schemas.microsoft.com/office/drawing/2014/main" val="3739602843"/>
                    </a:ext>
                  </a:extLst>
                </a:gridCol>
                <a:gridCol w="5601729">
                  <a:extLst>
                    <a:ext uri="{9D8B030D-6E8A-4147-A177-3AD203B41FA5}">
                      <a16:colId xmlns:a16="http://schemas.microsoft.com/office/drawing/2014/main" val="3742769151"/>
                    </a:ext>
                  </a:extLst>
                </a:gridCol>
              </a:tblGrid>
              <a:tr h="690431">
                <a:tc>
                  <a:txBody>
                    <a:bodyPr/>
                    <a:lstStyle/>
                    <a:p>
                      <a:pPr marL="0" marR="0">
                        <a:lnSpc>
                          <a:spcPct val="115000"/>
                        </a:lnSpc>
                        <a:spcAft>
                          <a:spcPts val="800"/>
                        </a:spcAft>
                      </a:pPr>
                      <a:r>
                        <a:rPr lang="en-US" sz="1600" kern="100">
                          <a:effectLst/>
                        </a:rPr>
                        <a:t>DataFrame description function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Description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0322182"/>
                  </a:ext>
                </a:extLst>
              </a:tr>
              <a:tr h="336451">
                <a:tc>
                  <a:txBody>
                    <a:bodyPr/>
                    <a:lstStyle/>
                    <a:p>
                      <a:pPr marL="0" marR="0">
                        <a:lnSpc>
                          <a:spcPct val="115000"/>
                        </a:lnSpc>
                        <a:spcAft>
                          <a:spcPts val="800"/>
                        </a:spcAft>
                      </a:pPr>
                      <a:r>
                        <a:rPr lang="en-US" sz="1600" kern="100">
                          <a:effectLst/>
                        </a:rPr>
                        <a:t>head(n)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display the top n entries of a DataFrame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59693535"/>
                  </a:ext>
                </a:extLst>
              </a:tr>
              <a:tr h="336451">
                <a:tc>
                  <a:txBody>
                    <a:bodyPr/>
                    <a:lstStyle/>
                    <a:p>
                      <a:pPr marL="0" marR="0">
                        <a:lnSpc>
                          <a:spcPct val="115000"/>
                        </a:lnSpc>
                        <a:spcAft>
                          <a:spcPts val="800"/>
                        </a:spcAft>
                      </a:pPr>
                      <a:r>
                        <a:rPr lang="en-US" sz="1600" kern="100">
                          <a:effectLst/>
                        </a:rPr>
                        <a:t>tail(n)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display the last n entries of a </a:t>
                      </a:r>
                      <a:r>
                        <a:rPr lang="en-US" sz="1600" kern="100" dirty="0" err="1">
                          <a:effectLst/>
                        </a:rPr>
                        <a:t>DataFrame</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28495559"/>
                  </a:ext>
                </a:extLst>
              </a:tr>
              <a:tr h="336451">
                <a:tc>
                  <a:txBody>
                    <a:bodyPr/>
                    <a:lstStyle/>
                    <a:p>
                      <a:pPr marL="0" marR="0">
                        <a:lnSpc>
                          <a:spcPct val="115000"/>
                        </a:lnSpc>
                        <a:spcAft>
                          <a:spcPts val="800"/>
                        </a:spcAft>
                      </a:pPr>
                      <a:r>
                        <a:rPr lang="en-US" sz="1600" kern="100">
                          <a:effectLst/>
                        </a:rPr>
                        <a:t>describe()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provide general statistics about a DataFrame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29045127"/>
                  </a:ext>
                </a:extLst>
              </a:tr>
              <a:tr h="1044410">
                <a:tc>
                  <a:txBody>
                    <a:bodyPr/>
                    <a:lstStyle/>
                    <a:p>
                      <a:pPr marL="0" marR="0">
                        <a:lnSpc>
                          <a:spcPct val="115000"/>
                        </a:lnSpc>
                        <a:spcAft>
                          <a:spcPts val="800"/>
                        </a:spcAft>
                      </a:pPr>
                      <a:r>
                        <a:rPr lang="en-US" sz="1600" kern="100">
                          <a:effectLst/>
                        </a:rPr>
                        <a:t>info()</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provide the total number of entries, data types for each column and the number of non-null entries for each column</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21063599"/>
                  </a:ext>
                </a:extLst>
              </a:tr>
            </a:tbl>
          </a:graphicData>
        </a:graphic>
      </p:graphicFrame>
    </p:spTree>
    <p:extLst>
      <p:ext uri="{BB962C8B-B14F-4D97-AF65-F5344CB8AC3E}">
        <p14:creationId xmlns:p14="http://schemas.microsoft.com/office/powerpoint/2010/main" val="1589948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FF3C1-491F-C053-63F5-CBCB928E0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358C9-00B5-E6A3-FDE9-1A3ECB5ABE39}"/>
              </a:ext>
            </a:extLst>
          </p:cNvPr>
          <p:cNvSpPr>
            <a:spLocks noGrp="1"/>
          </p:cNvSpPr>
          <p:nvPr>
            <p:ph type="title"/>
          </p:nvPr>
        </p:nvSpPr>
        <p:spPr/>
        <p:txBody>
          <a:bodyPr/>
          <a:lstStyle/>
          <a:p>
            <a:r>
              <a:rPr lang="en-US" dirty="0"/>
              <a:t>Indexing and slicing</a:t>
            </a:r>
          </a:p>
        </p:txBody>
      </p:sp>
      <p:graphicFrame>
        <p:nvGraphicFramePr>
          <p:cNvPr id="5" name="Content Placeholder 4" descr="functions for indexing and slicing">
            <a:extLst>
              <a:ext uri="{FF2B5EF4-FFF2-40B4-BE49-F238E27FC236}">
                <a16:creationId xmlns:a16="http://schemas.microsoft.com/office/drawing/2014/main" id="{94178337-4A4A-BB15-4357-1BD9CC2DCCD3}"/>
              </a:ext>
            </a:extLst>
          </p:cNvPr>
          <p:cNvGraphicFramePr>
            <a:graphicFrameLocks noGrp="1"/>
          </p:cNvGraphicFramePr>
          <p:nvPr>
            <p:ph idx="1"/>
            <p:extLst>
              <p:ext uri="{D42A27DB-BD31-4B8C-83A1-F6EECF244321}">
                <p14:modId xmlns:p14="http://schemas.microsoft.com/office/powerpoint/2010/main" val="1163124308"/>
              </p:ext>
            </p:extLst>
          </p:nvPr>
        </p:nvGraphicFramePr>
        <p:xfrm>
          <a:off x="947351" y="1438276"/>
          <a:ext cx="10338487" cy="4404264"/>
        </p:xfrm>
        <a:graphic>
          <a:graphicData uri="http://schemas.openxmlformats.org/drawingml/2006/table">
            <a:tbl>
              <a:tblPr firstRow="1" firstCol="1" bandRow="1">
                <a:tableStyleId>{5C22544A-7EE6-4342-B048-85BDC9FD1C3A}</a:tableStyleId>
              </a:tblPr>
              <a:tblGrid>
                <a:gridCol w="4771184">
                  <a:extLst>
                    <a:ext uri="{9D8B030D-6E8A-4147-A177-3AD203B41FA5}">
                      <a16:colId xmlns:a16="http://schemas.microsoft.com/office/drawing/2014/main" val="237949625"/>
                    </a:ext>
                  </a:extLst>
                </a:gridCol>
                <a:gridCol w="5567303">
                  <a:extLst>
                    <a:ext uri="{9D8B030D-6E8A-4147-A177-3AD203B41FA5}">
                      <a16:colId xmlns:a16="http://schemas.microsoft.com/office/drawing/2014/main" val="2238636640"/>
                    </a:ext>
                  </a:extLst>
                </a:gridCol>
              </a:tblGrid>
              <a:tr h="189468">
                <a:tc>
                  <a:txBody>
                    <a:bodyPr/>
                    <a:lstStyle/>
                    <a:p>
                      <a:pPr marL="0" marR="0">
                        <a:lnSpc>
                          <a:spcPct val="115000"/>
                        </a:lnSpc>
                        <a:spcAft>
                          <a:spcPts val="800"/>
                        </a:spcAft>
                      </a:pPr>
                      <a:r>
                        <a:rPr lang="en-US" sz="1400" kern="100">
                          <a:effectLst/>
                        </a:rPr>
                        <a:t>Indexing and slicing methods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descripitons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3891093240"/>
                  </a:ext>
                </a:extLst>
              </a:tr>
              <a:tr h="192839">
                <a:tc>
                  <a:txBody>
                    <a:bodyPr/>
                    <a:lstStyle/>
                    <a:p>
                      <a:pPr marL="0" marR="0">
                        <a:lnSpc>
                          <a:spcPct val="115000"/>
                        </a:lnSpc>
                        <a:spcAft>
                          <a:spcPts val="800"/>
                        </a:spcAft>
                      </a:pPr>
                      <a:r>
                        <a:rPr lang="en-US" sz="1400" kern="100">
                          <a:effectLst/>
                        </a:rPr>
                        <a:t>df[label]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select a single column by its label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1312196187"/>
                  </a:ext>
                </a:extLst>
              </a:tr>
              <a:tr h="588146">
                <a:tc>
                  <a:txBody>
                    <a:bodyPr/>
                    <a:lstStyle/>
                    <a:p>
                      <a:pPr marL="0" marR="0">
                        <a:lnSpc>
                          <a:spcPct val="115000"/>
                        </a:lnSpc>
                        <a:spcAft>
                          <a:spcPts val="800"/>
                        </a:spcAft>
                      </a:pPr>
                      <a:r>
                        <a:rPr lang="en-US" sz="1400" kern="100">
                          <a:effectLst/>
                        </a:rPr>
                        <a:t>.loc[row label, col label]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select a single value based on row and column labels, is preferable for DataFrames with labeled indices and columns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3287432726"/>
                  </a:ext>
                </a:extLst>
              </a:tr>
              <a:tr h="790855">
                <a:tc>
                  <a:txBody>
                    <a:bodyPr/>
                    <a:lstStyle/>
                    <a:p>
                      <a:pPr marL="0" marR="0">
                        <a:lnSpc>
                          <a:spcPct val="115000"/>
                        </a:lnSpc>
                        <a:spcAft>
                          <a:spcPts val="800"/>
                        </a:spcAft>
                      </a:pPr>
                      <a:r>
                        <a:rPr lang="en-US" sz="1400" kern="100">
                          <a:effectLst/>
                        </a:rPr>
                        <a:t>.loc[starting row label:ending rowlabel, starting column label:ending column label]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dirty="0">
                          <a:effectLst/>
                        </a:rPr>
                        <a:t>select range of contiguous row and column data based on row and column labels. Slicing is inclusive</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3055114090"/>
                  </a:ext>
                </a:extLst>
              </a:tr>
              <a:tr h="392178">
                <a:tc>
                  <a:txBody>
                    <a:bodyPr/>
                    <a:lstStyle/>
                    <a:p>
                      <a:pPr marL="0" marR="0">
                        <a:lnSpc>
                          <a:spcPct val="115000"/>
                        </a:lnSpc>
                        <a:spcAft>
                          <a:spcPts val="800"/>
                        </a:spcAft>
                      </a:pPr>
                      <a:r>
                        <a:rPr lang="en-US" sz="1400" kern="100">
                          <a:effectLst/>
                        </a:rPr>
                        <a:t>.iloc[row position number, column position number]</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select a single value based on integer positions (0-based indexing)</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349189773"/>
                  </a:ext>
                </a:extLst>
              </a:tr>
              <a:tr h="990195">
                <a:tc>
                  <a:txBody>
                    <a:bodyPr/>
                    <a:lstStyle/>
                    <a:p>
                      <a:pPr marL="0" marR="0">
                        <a:lnSpc>
                          <a:spcPct val="115000"/>
                        </a:lnSpc>
                        <a:spcAft>
                          <a:spcPts val="800"/>
                        </a:spcAft>
                      </a:pPr>
                      <a:r>
                        <a:rPr lang="en-US" sz="1400" kern="100">
                          <a:effectLst/>
                        </a:rPr>
                        <a:t>.iloc[starting row position number:ending row position number, starting column position number:ending column position number]</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select range of contiguous row and column data based on integer positions. Slicing is inclusive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637795192"/>
                  </a:ext>
                </a:extLst>
              </a:tr>
              <a:tr h="588146">
                <a:tc>
                  <a:txBody>
                    <a:bodyPr/>
                    <a:lstStyle/>
                    <a:p>
                      <a:pPr marL="0" marR="0">
                        <a:lnSpc>
                          <a:spcPct val="115000"/>
                        </a:lnSpc>
                        <a:spcAft>
                          <a:spcPts val="800"/>
                        </a:spcAft>
                      </a:pPr>
                      <a:r>
                        <a:rPr lang="en-US" sz="1400" kern="100">
                          <a:effectLst/>
                        </a:rPr>
                        <a:t>.at[row label, col label]</a:t>
                      </a:r>
                    </a:p>
                    <a:p>
                      <a:pPr marL="0" marR="0">
                        <a:lnSpc>
                          <a:spcPct val="115000"/>
                        </a:lnSpc>
                        <a:spcAft>
                          <a:spcPts val="800"/>
                        </a:spcAft>
                      </a:pPr>
                      <a:r>
                        <a:rPr lang="en-US" sz="1400" kern="100">
                          <a:effectLst/>
                        </a:rPr>
                        <a:t> </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access a single value based on row and column labels, similar to .loc but more efficient for scalar access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101196503"/>
                  </a:ext>
                </a:extLst>
              </a:tr>
              <a:tr h="588146">
                <a:tc>
                  <a:txBody>
                    <a:bodyPr/>
                    <a:lstStyle/>
                    <a:p>
                      <a:pPr marL="0" marR="0">
                        <a:lnSpc>
                          <a:spcPct val="115000"/>
                        </a:lnSpc>
                        <a:spcAft>
                          <a:spcPts val="800"/>
                        </a:spcAft>
                      </a:pPr>
                      <a:r>
                        <a:rPr lang="en-US" sz="1400" kern="100" dirty="0">
                          <a:effectLst/>
                        </a:rPr>
                        <a:t>.</a:t>
                      </a:r>
                      <a:r>
                        <a:rPr lang="en-US" sz="1400" kern="100" dirty="0" err="1">
                          <a:effectLst/>
                        </a:rPr>
                        <a:t>iat</a:t>
                      </a:r>
                      <a:r>
                        <a:rPr lang="en-US" sz="1400" kern="100" dirty="0">
                          <a:effectLst/>
                        </a:rPr>
                        <a:t>[row position number, column position number]</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dirty="0">
                          <a:effectLst/>
                        </a:rPr>
                        <a:t>access a single value based on integer positions, similar to .</a:t>
                      </a:r>
                      <a:r>
                        <a:rPr lang="en-US" sz="1400" kern="100" dirty="0" err="1">
                          <a:effectLst/>
                        </a:rPr>
                        <a:t>iloc</a:t>
                      </a:r>
                      <a:r>
                        <a:rPr lang="en-US" sz="1400" kern="100" dirty="0">
                          <a:effectLst/>
                        </a:rPr>
                        <a:t> but more efficient for scalar access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1439519425"/>
                  </a:ext>
                </a:extLst>
              </a:tr>
            </a:tbl>
          </a:graphicData>
        </a:graphic>
      </p:graphicFrame>
      <p:pic>
        <p:nvPicPr>
          <p:cNvPr id="4" name="Picture 3">
            <a:extLst>
              <a:ext uri="{FF2B5EF4-FFF2-40B4-BE49-F238E27FC236}">
                <a16:creationId xmlns:a16="http://schemas.microsoft.com/office/drawing/2014/main" id="{F6C62205-2E23-ECCB-836C-5B9E51CF1BBD}"/>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1172262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44ABA-2536-452A-B8CF-6BB831094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9F56A-BFFE-8DC6-2BB1-ABF08C84CB29}"/>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0BE025DE-FAF2-C02C-5225-C4803A071D21}"/>
              </a:ext>
            </a:extLst>
          </p:cNvPr>
          <p:cNvSpPr>
            <a:spLocks noGrp="1"/>
          </p:cNvSpPr>
          <p:nvPr>
            <p:ph idx="1"/>
          </p:nvPr>
        </p:nvSpPr>
        <p:spPr>
          <a:xfrm>
            <a:off x="772298" y="1438447"/>
            <a:ext cx="10515600" cy="4351338"/>
          </a:xfrm>
        </p:spPr>
        <p:txBody>
          <a:bodyPr>
            <a:normAutofit/>
          </a:bodyPr>
          <a:lstStyle/>
          <a:p>
            <a:r>
              <a:rPr lang="en-US" dirty="0"/>
              <a:t>Data Filtering: select data based on specific conditions</a:t>
            </a:r>
          </a:p>
          <a:p>
            <a:endParaRPr lang="en-US" dirty="0"/>
          </a:p>
          <a:p>
            <a:endParaRPr lang="en-US" dirty="0"/>
          </a:p>
          <a:p>
            <a:endParaRPr lang="en-US" dirty="0"/>
          </a:p>
        </p:txBody>
      </p:sp>
      <p:pic>
        <p:nvPicPr>
          <p:cNvPr id="4" name="Picture 3">
            <a:extLst>
              <a:ext uri="{FF2B5EF4-FFF2-40B4-BE49-F238E27FC236}">
                <a16:creationId xmlns:a16="http://schemas.microsoft.com/office/drawing/2014/main" id="{455C7632-3935-B774-7628-5E615F27FCD9}"/>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6" name="Table 5" descr="filtering methods">
            <a:extLst>
              <a:ext uri="{FF2B5EF4-FFF2-40B4-BE49-F238E27FC236}">
                <a16:creationId xmlns:a16="http://schemas.microsoft.com/office/drawing/2014/main" id="{929749A9-B099-473D-24D1-FAED9681DCDC}"/>
              </a:ext>
            </a:extLst>
          </p:cNvPr>
          <p:cNvGraphicFramePr>
            <a:graphicFrameLocks noGrp="1"/>
          </p:cNvGraphicFramePr>
          <p:nvPr>
            <p:extLst>
              <p:ext uri="{D42A27DB-BD31-4B8C-83A1-F6EECF244321}">
                <p14:modId xmlns:p14="http://schemas.microsoft.com/office/powerpoint/2010/main" val="3586167000"/>
              </p:ext>
            </p:extLst>
          </p:nvPr>
        </p:nvGraphicFramePr>
        <p:xfrm>
          <a:off x="1084390" y="2029224"/>
          <a:ext cx="9188193" cy="2089696"/>
        </p:xfrm>
        <a:graphic>
          <a:graphicData uri="http://schemas.openxmlformats.org/drawingml/2006/table">
            <a:tbl>
              <a:tblPr firstRow="1" firstCol="1" bandRow="1">
                <a:tableStyleId>{5C22544A-7EE6-4342-B048-85BDC9FD1C3A}</a:tableStyleId>
              </a:tblPr>
              <a:tblGrid>
                <a:gridCol w="2559920">
                  <a:extLst>
                    <a:ext uri="{9D8B030D-6E8A-4147-A177-3AD203B41FA5}">
                      <a16:colId xmlns:a16="http://schemas.microsoft.com/office/drawing/2014/main" val="1219183027"/>
                    </a:ext>
                  </a:extLst>
                </a:gridCol>
                <a:gridCol w="6628273">
                  <a:extLst>
                    <a:ext uri="{9D8B030D-6E8A-4147-A177-3AD203B41FA5}">
                      <a16:colId xmlns:a16="http://schemas.microsoft.com/office/drawing/2014/main" val="3974676148"/>
                    </a:ext>
                  </a:extLst>
                </a:gridCol>
              </a:tblGrid>
              <a:tr h="342338">
                <a:tc>
                  <a:txBody>
                    <a:bodyPr/>
                    <a:lstStyle/>
                    <a:p>
                      <a:pPr marL="0" marR="0">
                        <a:lnSpc>
                          <a:spcPct val="115000"/>
                        </a:lnSpc>
                        <a:spcAft>
                          <a:spcPts val="800"/>
                        </a:spcAft>
                      </a:pPr>
                      <a:r>
                        <a:rPr lang="en-US" sz="1600" kern="100">
                          <a:effectLst/>
                        </a:rPr>
                        <a:t>Filtering methods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Descriptions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30461936"/>
                  </a:ext>
                </a:extLst>
              </a:tr>
              <a:tr h="342338">
                <a:tc>
                  <a:txBody>
                    <a:bodyPr/>
                    <a:lstStyle/>
                    <a:p>
                      <a:pPr marL="0" marR="0">
                        <a:lnSpc>
                          <a:spcPct val="115000"/>
                        </a:lnSpc>
                        <a:spcAft>
                          <a:spcPts val="800"/>
                        </a:spcAft>
                      </a:pPr>
                      <a:r>
                        <a:rPr lang="en-US" sz="1600" kern="100">
                          <a:effectLst/>
                        </a:rPr>
                        <a:t>boolean indexing</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write boolean expressions to filter rows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45711573"/>
                  </a:ext>
                </a:extLst>
              </a:tr>
              <a:tr h="702510">
                <a:tc>
                  <a:txBody>
                    <a:bodyPr/>
                    <a:lstStyle/>
                    <a:p>
                      <a:pPr marL="0" marR="0">
                        <a:lnSpc>
                          <a:spcPct val="115000"/>
                        </a:lnSpc>
                        <a:spcAft>
                          <a:spcPts val="800"/>
                        </a:spcAft>
                      </a:pPr>
                      <a:r>
                        <a:rPr lang="en-US" sz="1600" kern="100">
                          <a:effectLst/>
                        </a:rPr>
                        <a:t>.query method</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write SQL-like filtering expressions with column names, comparison operators, and logical operators (AND, OR, NOT)</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6225760"/>
                  </a:ext>
                </a:extLst>
              </a:tr>
              <a:tr h="702510">
                <a:tc>
                  <a:txBody>
                    <a:bodyPr/>
                    <a:lstStyle/>
                    <a:p>
                      <a:pPr marL="0" marR="0">
                        <a:lnSpc>
                          <a:spcPct val="115000"/>
                        </a:lnSpc>
                        <a:spcAft>
                          <a:spcPts val="800"/>
                        </a:spcAft>
                      </a:pPr>
                      <a:r>
                        <a:rPr lang="en-US" sz="1600" kern="100">
                          <a:effectLst/>
                        </a:rPr>
                        <a:t>.isin method</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provide specific values to filter rows based on membership in a list or set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080996"/>
                  </a:ext>
                </a:extLst>
              </a:tr>
            </a:tbl>
          </a:graphicData>
        </a:graphic>
      </p:graphicFrame>
    </p:spTree>
    <p:extLst>
      <p:ext uri="{BB962C8B-B14F-4D97-AF65-F5344CB8AC3E}">
        <p14:creationId xmlns:p14="http://schemas.microsoft.com/office/powerpoint/2010/main" val="2912657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0531-3DA9-9675-8CC3-07CF51BFD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191C7-2CF8-F6BF-CDB8-8C64C7F45CF4}"/>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1D9F780E-2103-253D-AA4E-A2F1E31CCC2B}"/>
              </a:ext>
            </a:extLst>
          </p:cNvPr>
          <p:cNvSpPr>
            <a:spLocks noGrp="1"/>
          </p:cNvSpPr>
          <p:nvPr>
            <p:ph idx="1"/>
          </p:nvPr>
        </p:nvSpPr>
        <p:spPr>
          <a:xfrm>
            <a:off x="772298" y="1438447"/>
            <a:ext cx="10515600" cy="4351338"/>
          </a:xfrm>
        </p:spPr>
        <p:txBody>
          <a:bodyPr>
            <a:normAutofit/>
          </a:bodyPr>
          <a:lstStyle/>
          <a:p>
            <a:r>
              <a:rPr lang="en-US" dirty="0"/>
              <a:t>Handling Missing Data: to locate, remove, or replace</a:t>
            </a:r>
          </a:p>
          <a:p>
            <a:endParaRPr lang="en-US" dirty="0"/>
          </a:p>
          <a:p>
            <a:endParaRPr lang="en-US" dirty="0"/>
          </a:p>
          <a:p>
            <a:endParaRPr lang="en-US" dirty="0"/>
          </a:p>
        </p:txBody>
      </p:sp>
      <p:pic>
        <p:nvPicPr>
          <p:cNvPr id="4" name="Picture 3">
            <a:extLst>
              <a:ext uri="{FF2B5EF4-FFF2-40B4-BE49-F238E27FC236}">
                <a16:creationId xmlns:a16="http://schemas.microsoft.com/office/drawing/2014/main" id="{519F21B8-7AAF-7F5B-8878-E442149C2877}"/>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Table 4" descr="methods for missing data handling">
            <a:extLst>
              <a:ext uri="{FF2B5EF4-FFF2-40B4-BE49-F238E27FC236}">
                <a16:creationId xmlns:a16="http://schemas.microsoft.com/office/drawing/2014/main" id="{FBA28123-1C78-D2E0-ADCD-7A6054946AC6}"/>
              </a:ext>
            </a:extLst>
          </p:cNvPr>
          <p:cNvGraphicFramePr>
            <a:graphicFrameLocks noGrp="1"/>
          </p:cNvGraphicFramePr>
          <p:nvPr>
            <p:extLst>
              <p:ext uri="{D42A27DB-BD31-4B8C-83A1-F6EECF244321}">
                <p14:modId xmlns:p14="http://schemas.microsoft.com/office/powerpoint/2010/main" val="1928719294"/>
              </p:ext>
            </p:extLst>
          </p:nvPr>
        </p:nvGraphicFramePr>
        <p:xfrm>
          <a:off x="1111762" y="1929313"/>
          <a:ext cx="10097012" cy="3713535"/>
        </p:xfrm>
        <a:graphic>
          <a:graphicData uri="http://schemas.openxmlformats.org/drawingml/2006/table">
            <a:tbl>
              <a:tblPr firstRow="1" firstCol="1" bandRow="1">
                <a:tableStyleId>{5C22544A-7EE6-4342-B048-85BDC9FD1C3A}</a:tableStyleId>
              </a:tblPr>
              <a:tblGrid>
                <a:gridCol w="3279006">
                  <a:extLst>
                    <a:ext uri="{9D8B030D-6E8A-4147-A177-3AD203B41FA5}">
                      <a16:colId xmlns:a16="http://schemas.microsoft.com/office/drawing/2014/main" val="2211940586"/>
                    </a:ext>
                  </a:extLst>
                </a:gridCol>
                <a:gridCol w="6818006">
                  <a:extLst>
                    <a:ext uri="{9D8B030D-6E8A-4147-A177-3AD203B41FA5}">
                      <a16:colId xmlns:a16="http://schemas.microsoft.com/office/drawing/2014/main" val="2805250464"/>
                    </a:ext>
                  </a:extLst>
                </a:gridCol>
              </a:tblGrid>
              <a:tr h="253999">
                <a:tc>
                  <a:txBody>
                    <a:bodyPr/>
                    <a:lstStyle/>
                    <a:p>
                      <a:pPr marL="0" marR="0">
                        <a:lnSpc>
                          <a:spcPct val="115000"/>
                        </a:lnSpc>
                        <a:spcAft>
                          <a:spcPts val="800"/>
                        </a:spcAft>
                      </a:pPr>
                      <a:r>
                        <a:rPr lang="en-US" sz="1600" kern="100">
                          <a:effectLst/>
                        </a:rPr>
                        <a:t>methods handling missing values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descriptions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33606461"/>
                  </a:ext>
                </a:extLst>
              </a:tr>
              <a:tr h="788461">
                <a:tc>
                  <a:txBody>
                    <a:bodyPr/>
                    <a:lstStyle/>
                    <a:p>
                      <a:pPr marL="0" marR="0">
                        <a:lnSpc>
                          <a:spcPct val="115000"/>
                        </a:lnSpc>
                        <a:spcAft>
                          <a:spcPts val="800"/>
                        </a:spcAft>
                      </a:pPr>
                      <a:r>
                        <a:rPr lang="en-US" sz="1600" kern="100">
                          <a:effectLst/>
                        </a:rPr>
                        <a:t>.info()</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provide the total number of entries, data types for each column and the number of non-null entries for each column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81744265"/>
                  </a:ext>
                </a:extLst>
              </a:tr>
              <a:tr h="521230">
                <a:tc>
                  <a:txBody>
                    <a:bodyPr/>
                    <a:lstStyle/>
                    <a:p>
                      <a:pPr marL="0" marR="0">
                        <a:lnSpc>
                          <a:spcPct val="115000"/>
                        </a:lnSpc>
                        <a:spcAft>
                          <a:spcPts val="800"/>
                        </a:spcAft>
                      </a:pPr>
                      <a:r>
                        <a:rPr lang="en-US" sz="1600" kern="100">
                          <a:effectLst/>
                        </a:rPr>
                        <a:t>.isnull()</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returns a DataFrame filled with boolean values. Used to locate the location with null values. </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85808773"/>
                  </a:ext>
                </a:extLst>
              </a:tr>
              <a:tr h="1055692">
                <a:tc>
                  <a:txBody>
                    <a:bodyPr/>
                    <a:lstStyle/>
                    <a:p>
                      <a:pPr marL="0" marR="0">
                        <a:lnSpc>
                          <a:spcPct val="115000"/>
                        </a:lnSpc>
                        <a:spcAft>
                          <a:spcPts val="800"/>
                        </a:spcAft>
                      </a:pPr>
                      <a:r>
                        <a:rPr lang="en-US" sz="1600" kern="100">
                          <a:effectLst/>
                        </a:rPr>
                        <a:t>.dropna(axis=0, how='any')</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axis can be 0 or 1, 0 is default and is for index, 1 is for columns. how can be “any” or “all”, “any” is default. Used to remove the entries with null values. </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39957113"/>
                  </a:ext>
                </a:extLst>
              </a:tr>
              <a:tr h="1055692">
                <a:tc>
                  <a:txBody>
                    <a:bodyPr/>
                    <a:lstStyle/>
                    <a:p>
                      <a:pPr marL="0" marR="0">
                        <a:lnSpc>
                          <a:spcPct val="115000"/>
                        </a:lnSpc>
                        <a:spcAft>
                          <a:spcPts val="800"/>
                        </a:spcAft>
                      </a:pPr>
                      <a:r>
                        <a:rPr lang="en-US" sz="1600" kern="100">
                          <a:effectLst/>
                        </a:rPr>
                        <a:t>.fillna(inplace=False)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err="1">
                          <a:effectLst/>
                        </a:rPr>
                        <a:t>inplace</a:t>
                      </a:r>
                      <a:r>
                        <a:rPr lang="en-US" sz="1600" kern="100" dirty="0">
                          <a:effectLst/>
                        </a:rPr>
                        <a:t> can be True or False, False is default. Returns a new </a:t>
                      </a:r>
                      <a:r>
                        <a:rPr lang="en-US" sz="1600" kern="100" dirty="0" err="1">
                          <a:effectLst/>
                        </a:rPr>
                        <a:t>DataFrame</a:t>
                      </a:r>
                      <a:r>
                        <a:rPr lang="en-US" sz="1600" kern="100" dirty="0">
                          <a:effectLst/>
                        </a:rPr>
                        <a:t> if False, otherwise, alter the original </a:t>
                      </a:r>
                      <a:r>
                        <a:rPr lang="en-US" sz="1600" kern="100" dirty="0" err="1">
                          <a:effectLst/>
                        </a:rPr>
                        <a:t>DataFrame</a:t>
                      </a:r>
                      <a:r>
                        <a:rPr lang="en-US" sz="1600" kern="100" dirty="0">
                          <a:effectLst/>
                        </a:rPr>
                        <a:t>. Used to replace null values with other values.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6853335"/>
                  </a:ext>
                </a:extLst>
              </a:tr>
            </a:tbl>
          </a:graphicData>
        </a:graphic>
      </p:graphicFrame>
    </p:spTree>
    <p:extLst>
      <p:ext uri="{BB962C8B-B14F-4D97-AF65-F5344CB8AC3E}">
        <p14:creationId xmlns:p14="http://schemas.microsoft.com/office/powerpoint/2010/main" val="2487241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ED4A-FB32-CA9C-0427-6D7E70C84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4C9A1-4E7D-D6C2-8261-9C592E1E66B4}"/>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EDDA020E-BBAD-93C3-FF16-F2BF57C78A7B}"/>
              </a:ext>
            </a:extLst>
          </p:cNvPr>
          <p:cNvSpPr>
            <a:spLocks noGrp="1"/>
          </p:cNvSpPr>
          <p:nvPr>
            <p:ph idx="1"/>
          </p:nvPr>
        </p:nvSpPr>
        <p:spPr>
          <a:xfrm>
            <a:off x="772298" y="1438447"/>
            <a:ext cx="10515600" cy="4351338"/>
          </a:xfrm>
        </p:spPr>
        <p:txBody>
          <a:bodyPr>
            <a:normAutofit/>
          </a:bodyPr>
          <a:lstStyle/>
          <a:p>
            <a:r>
              <a:rPr lang="en-US" dirty="0"/>
              <a:t>Aligning Data</a:t>
            </a:r>
          </a:p>
          <a:p>
            <a:pPr lvl="1">
              <a:buFont typeface="Wingdings" panose="05000000000000000000" pitchFamily="2" charset="2"/>
              <a:buChar char="§"/>
            </a:pPr>
            <a:r>
              <a:rPr lang="en-US" dirty="0"/>
              <a:t>How to apply element-wise operations on </a:t>
            </a:r>
            <a:r>
              <a:rPr lang="en-US" dirty="0" err="1"/>
              <a:t>DataFrames</a:t>
            </a:r>
            <a:r>
              <a:rPr lang="en-US" dirty="0"/>
              <a:t> with different shapes?</a:t>
            </a:r>
          </a:p>
          <a:p>
            <a:pPr lvl="1">
              <a:buFont typeface="Wingdings" panose="05000000000000000000" pitchFamily="2" charset="2"/>
              <a:buChar char="§"/>
            </a:pPr>
            <a:r>
              <a:rPr lang="en-US" dirty="0" err="1"/>
              <a:t>DataFrames</a:t>
            </a:r>
            <a:r>
              <a:rPr lang="en-US" dirty="0"/>
              <a:t> can be aligned based on their indexes before performing operations. </a:t>
            </a:r>
          </a:p>
          <a:p>
            <a:pPr lvl="1">
              <a:buFont typeface="Wingdings" panose="05000000000000000000" pitchFamily="2" charset="2"/>
              <a:buChar char="§"/>
            </a:pPr>
            <a:r>
              <a:rPr lang="en-US" dirty="0"/>
              <a:t>methods such as .align() and .reindex() can adjust the data according to the index and column labels</a:t>
            </a:r>
          </a:p>
          <a:p>
            <a:endParaRPr lang="en-US" dirty="0"/>
          </a:p>
          <a:p>
            <a:endParaRPr lang="en-US" dirty="0"/>
          </a:p>
        </p:txBody>
      </p:sp>
      <p:pic>
        <p:nvPicPr>
          <p:cNvPr id="4" name="Picture 3">
            <a:extLst>
              <a:ext uri="{FF2B5EF4-FFF2-40B4-BE49-F238E27FC236}">
                <a16:creationId xmlns:a16="http://schemas.microsoft.com/office/drawing/2014/main" id="{9D39FEAE-9EEE-46BB-103E-BD300248C580}"/>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4257090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76077-6D9A-C636-90FB-23D90386D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21602-3E45-6696-9BB6-B4228927959F}"/>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AC8DD8C0-8769-75F8-5419-B0EFD481EF25}"/>
              </a:ext>
            </a:extLst>
          </p:cNvPr>
          <p:cNvSpPr>
            <a:spLocks noGrp="1"/>
          </p:cNvSpPr>
          <p:nvPr>
            <p:ph idx="1"/>
          </p:nvPr>
        </p:nvSpPr>
        <p:spPr>
          <a:xfrm>
            <a:off x="772298" y="1438447"/>
            <a:ext cx="10515600" cy="4351338"/>
          </a:xfrm>
        </p:spPr>
        <p:txBody>
          <a:bodyPr>
            <a:normAutofit/>
          </a:bodyPr>
          <a:lstStyle/>
          <a:p>
            <a:r>
              <a:rPr lang="en-US" dirty="0"/>
              <a:t>Operations on </a:t>
            </a:r>
            <a:r>
              <a:rPr lang="en-US" dirty="0" err="1"/>
              <a:t>DataFrames</a:t>
            </a:r>
            <a:endParaRPr lang="en-US" dirty="0"/>
          </a:p>
          <a:p>
            <a:pPr lvl="1">
              <a:buFont typeface="Wingdings" panose="05000000000000000000" pitchFamily="2" charset="2"/>
              <a:buChar char="§"/>
            </a:pPr>
            <a:r>
              <a:rPr lang="en-US" dirty="0"/>
              <a:t>Arithmetic operations </a:t>
            </a:r>
          </a:p>
          <a:p>
            <a:pPr lvl="2">
              <a:buFont typeface="Courier New" panose="02070309020205020404" pitchFamily="49" charset="0"/>
              <a:buChar char="o"/>
            </a:pPr>
            <a:r>
              <a:rPr lang="en-US" dirty="0"/>
              <a:t>two </a:t>
            </a:r>
            <a:r>
              <a:rPr lang="en-US" dirty="0" err="1"/>
              <a:t>DataFrames</a:t>
            </a:r>
            <a:r>
              <a:rPr lang="en-US" dirty="0"/>
              <a:t> with the same shape: arithmetic operations directly applied on the corresponding elements </a:t>
            </a:r>
          </a:p>
          <a:p>
            <a:pPr lvl="2">
              <a:buFont typeface="Courier New" panose="02070309020205020404" pitchFamily="49" charset="0"/>
              <a:buChar char="o"/>
            </a:pPr>
            <a:r>
              <a:rPr lang="en-US" dirty="0"/>
              <a:t>two </a:t>
            </a:r>
            <a:r>
              <a:rPr lang="en-US" dirty="0" err="1"/>
              <a:t>DataFrames</a:t>
            </a:r>
            <a:r>
              <a:rPr lang="en-US" dirty="0"/>
              <a:t> with different shapes: broadcasting or realignment using .align() and .reindex() first</a:t>
            </a:r>
          </a:p>
          <a:p>
            <a:pPr lvl="2">
              <a:buFont typeface="Courier New" panose="02070309020205020404" pitchFamily="49" charset="0"/>
              <a:buChar char="o"/>
            </a:pPr>
            <a:r>
              <a:rPr lang="en-US" dirty="0"/>
              <a:t>add a Series to a </a:t>
            </a:r>
            <a:r>
              <a:rPr lang="en-US" dirty="0" err="1"/>
              <a:t>DataFrame</a:t>
            </a:r>
            <a:r>
              <a:rPr lang="en-US" dirty="0"/>
              <a:t>: automatically aligns the Series with the </a:t>
            </a:r>
            <a:r>
              <a:rPr lang="en-US" dirty="0" err="1"/>
              <a:t>DataFrame’s</a:t>
            </a:r>
            <a:r>
              <a:rPr lang="en-US" dirty="0"/>
              <a:t> index</a:t>
            </a:r>
          </a:p>
          <a:p>
            <a:endParaRPr lang="en-US" dirty="0"/>
          </a:p>
          <a:p>
            <a:endParaRPr lang="en-US" dirty="0"/>
          </a:p>
        </p:txBody>
      </p:sp>
      <p:pic>
        <p:nvPicPr>
          <p:cNvPr id="4" name="Picture 3">
            <a:extLst>
              <a:ext uri="{FF2B5EF4-FFF2-40B4-BE49-F238E27FC236}">
                <a16:creationId xmlns:a16="http://schemas.microsoft.com/office/drawing/2014/main" id="{D65C782C-B9CA-E081-9EE9-C3DE181C462F}"/>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2138940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D269D-0FEA-396B-EB03-46FD789D1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3609F-7AD0-6810-852A-172E1D555FF9}"/>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4DA429D9-6A77-B275-402B-A7F678F2E87E}"/>
              </a:ext>
            </a:extLst>
          </p:cNvPr>
          <p:cNvSpPr>
            <a:spLocks noGrp="1"/>
          </p:cNvSpPr>
          <p:nvPr>
            <p:ph idx="1"/>
          </p:nvPr>
        </p:nvSpPr>
        <p:spPr>
          <a:xfrm>
            <a:off x="772298" y="1438447"/>
            <a:ext cx="10515600" cy="4351338"/>
          </a:xfrm>
        </p:spPr>
        <p:txBody>
          <a:bodyPr>
            <a:normAutofit/>
          </a:bodyPr>
          <a:lstStyle/>
          <a:p>
            <a:r>
              <a:rPr lang="en-US" dirty="0"/>
              <a:t>Operations on </a:t>
            </a:r>
            <a:r>
              <a:rPr lang="en-US" dirty="0" err="1"/>
              <a:t>DataFrames</a:t>
            </a:r>
            <a:endParaRPr lang="en-US" dirty="0"/>
          </a:p>
          <a:p>
            <a:pPr lvl="1">
              <a:buFont typeface="Wingdings" panose="05000000000000000000" pitchFamily="2" charset="2"/>
              <a:buChar char="§"/>
            </a:pPr>
            <a:r>
              <a:rPr lang="en-US" dirty="0"/>
              <a:t>Apply customized operations</a:t>
            </a:r>
          </a:p>
          <a:p>
            <a:endParaRPr lang="en-US" dirty="0"/>
          </a:p>
          <a:p>
            <a:endParaRPr lang="en-US" dirty="0"/>
          </a:p>
        </p:txBody>
      </p:sp>
      <p:pic>
        <p:nvPicPr>
          <p:cNvPr id="4" name="Picture 3">
            <a:extLst>
              <a:ext uri="{FF2B5EF4-FFF2-40B4-BE49-F238E27FC236}">
                <a16:creationId xmlns:a16="http://schemas.microsoft.com/office/drawing/2014/main" id="{0F08549C-F0B0-6204-9087-B38299AE0F6B}"/>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Table 4" descr="map() and apply() functions">
            <a:extLst>
              <a:ext uri="{FF2B5EF4-FFF2-40B4-BE49-F238E27FC236}">
                <a16:creationId xmlns:a16="http://schemas.microsoft.com/office/drawing/2014/main" id="{042EC408-8FAD-C000-01B8-0F03C9FD47C6}"/>
              </a:ext>
            </a:extLst>
          </p:cNvPr>
          <p:cNvGraphicFramePr>
            <a:graphicFrameLocks noGrp="1"/>
          </p:cNvGraphicFramePr>
          <p:nvPr>
            <p:extLst>
              <p:ext uri="{D42A27DB-BD31-4B8C-83A1-F6EECF244321}">
                <p14:modId xmlns:p14="http://schemas.microsoft.com/office/powerpoint/2010/main" val="1307907225"/>
              </p:ext>
            </p:extLst>
          </p:nvPr>
        </p:nvGraphicFramePr>
        <p:xfrm>
          <a:off x="1326742" y="2397739"/>
          <a:ext cx="8081400" cy="3425447"/>
        </p:xfrm>
        <a:graphic>
          <a:graphicData uri="http://schemas.openxmlformats.org/drawingml/2006/table">
            <a:tbl>
              <a:tblPr firstRow="1" firstCol="1" bandRow="1">
                <a:tableStyleId>{5C22544A-7EE6-4342-B048-85BDC9FD1C3A}</a:tableStyleId>
              </a:tblPr>
              <a:tblGrid>
                <a:gridCol w="1006934">
                  <a:extLst>
                    <a:ext uri="{9D8B030D-6E8A-4147-A177-3AD203B41FA5}">
                      <a16:colId xmlns:a16="http://schemas.microsoft.com/office/drawing/2014/main" val="2253875115"/>
                    </a:ext>
                  </a:extLst>
                </a:gridCol>
                <a:gridCol w="7074466">
                  <a:extLst>
                    <a:ext uri="{9D8B030D-6E8A-4147-A177-3AD203B41FA5}">
                      <a16:colId xmlns:a16="http://schemas.microsoft.com/office/drawing/2014/main" val="3058857597"/>
                    </a:ext>
                  </a:extLst>
                </a:gridCol>
              </a:tblGrid>
              <a:tr h="161974">
                <a:tc>
                  <a:txBody>
                    <a:bodyPr/>
                    <a:lstStyle/>
                    <a:p>
                      <a:pPr marL="0" marR="0">
                        <a:lnSpc>
                          <a:spcPct val="115000"/>
                        </a:lnSpc>
                        <a:spcAft>
                          <a:spcPts val="800"/>
                        </a:spcAft>
                      </a:pPr>
                      <a:r>
                        <a:rPr lang="en-US" sz="1400" kern="100">
                          <a:effectLst/>
                        </a:rPr>
                        <a:t>function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a:effectLst/>
                        </a:rPr>
                        <a:t>description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44425876"/>
                  </a:ext>
                </a:extLst>
              </a:tr>
              <a:tr h="1596074">
                <a:tc>
                  <a:txBody>
                    <a:bodyPr/>
                    <a:lstStyle/>
                    <a:p>
                      <a:pPr marL="0" marR="0">
                        <a:lnSpc>
                          <a:spcPct val="115000"/>
                        </a:lnSpc>
                        <a:spcAft>
                          <a:spcPts val="800"/>
                        </a:spcAft>
                      </a:pPr>
                      <a:r>
                        <a:rPr lang="en-US" sz="1400" kern="100">
                          <a:effectLst/>
                        </a:rPr>
                        <a:t>map()</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00000"/>
                        </a:lnSpc>
                        <a:spcAft>
                          <a:spcPts val="0"/>
                        </a:spcAft>
                      </a:pPr>
                      <a:r>
                        <a:rPr lang="en-US" sz="1400" kern="100" dirty="0">
                          <a:effectLst/>
                        </a:rPr>
                        <a:t>used primarily for element-wise transformations in a Series, either by applying a function or using a dictionary for value mapping.</a:t>
                      </a:r>
                    </a:p>
                    <a:p>
                      <a:pPr marL="0" marR="0">
                        <a:lnSpc>
                          <a:spcPct val="100000"/>
                        </a:lnSpc>
                        <a:spcAft>
                          <a:spcPts val="0"/>
                        </a:spcAft>
                      </a:pPr>
                      <a:r>
                        <a:rPr lang="en-US" sz="1400" kern="100" dirty="0">
                          <a:effectLst/>
                        </a:rPr>
                        <a:t> </a:t>
                      </a:r>
                    </a:p>
                    <a:p>
                      <a:pPr marL="0" marR="0">
                        <a:lnSpc>
                          <a:spcPct val="100000"/>
                        </a:lnSpc>
                        <a:spcAft>
                          <a:spcPts val="0"/>
                        </a:spcAft>
                      </a:pPr>
                      <a:r>
                        <a:rPr lang="en-US" sz="1400" kern="100" dirty="0">
                          <a:effectLst/>
                        </a:rPr>
                        <a:t>def </a:t>
                      </a:r>
                      <a:r>
                        <a:rPr lang="en-US" sz="1400" kern="100" dirty="0" err="1">
                          <a:effectLst/>
                        </a:rPr>
                        <a:t>function_name</a:t>
                      </a:r>
                      <a:r>
                        <a:rPr lang="en-US" sz="1400" kern="100" dirty="0">
                          <a:effectLst/>
                        </a:rPr>
                        <a:t>(param):</a:t>
                      </a:r>
                    </a:p>
                    <a:p>
                      <a:pPr marL="0" marR="0">
                        <a:lnSpc>
                          <a:spcPct val="100000"/>
                        </a:lnSpc>
                        <a:spcAft>
                          <a:spcPts val="0"/>
                        </a:spcAft>
                      </a:pPr>
                      <a:r>
                        <a:rPr lang="en-US" sz="1400" kern="100" dirty="0">
                          <a:effectLst/>
                        </a:rPr>
                        <a:t>    function body</a:t>
                      </a:r>
                    </a:p>
                    <a:p>
                      <a:pPr marL="0" marR="0">
                        <a:lnSpc>
                          <a:spcPct val="100000"/>
                        </a:lnSpc>
                        <a:spcAft>
                          <a:spcPts val="0"/>
                        </a:spcAft>
                      </a:pPr>
                      <a:r>
                        <a:rPr lang="en-US" sz="1400" kern="100" dirty="0" err="1">
                          <a:effectLst/>
                        </a:rPr>
                        <a:t>series_variable.map</a:t>
                      </a:r>
                      <a:r>
                        <a:rPr lang="en-US" sz="1400" kern="100" dirty="0">
                          <a:effectLst/>
                        </a:rPr>
                        <a:t>(</a:t>
                      </a:r>
                      <a:r>
                        <a:rPr lang="en-US" sz="1400" kern="100" dirty="0" err="1">
                          <a:effectLst/>
                        </a:rPr>
                        <a:t>function_name</a:t>
                      </a:r>
                      <a:r>
                        <a:rPr lang="en-US" sz="1400" kern="100" dirty="0">
                          <a:effectLst/>
                        </a:rPr>
                        <a:t> or dictionary name)</a:t>
                      </a:r>
                    </a:p>
                    <a:p>
                      <a:pPr marL="0" marR="0">
                        <a:lnSpc>
                          <a:spcPct val="100000"/>
                        </a:lnSpc>
                        <a:spcAft>
                          <a:spcPts val="0"/>
                        </a:spcAft>
                      </a:pPr>
                      <a:r>
                        <a:rPr lang="en-US" sz="1400" kern="100" dirty="0">
                          <a:effectLst/>
                        </a:rPr>
                        <a:t>or </a:t>
                      </a:r>
                      <a:r>
                        <a:rPr lang="en-US" sz="1400" kern="100" dirty="0" err="1">
                          <a:effectLst/>
                        </a:rPr>
                        <a:t>series_variable.map</a:t>
                      </a:r>
                      <a:r>
                        <a:rPr lang="en-US" sz="1400" kern="100" dirty="0">
                          <a:effectLst/>
                        </a:rPr>
                        <a:t>(lambda v: expression on v)</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24248115"/>
                  </a:ext>
                </a:extLst>
              </a:tr>
              <a:tr h="1596074">
                <a:tc>
                  <a:txBody>
                    <a:bodyPr/>
                    <a:lstStyle/>
                    <a:p>
                      <a:pPr marL="0" marR="0">
                        <a:lnSpc>
                          <a:spcPct val="115000"/>
                        </a:lnSpc>
                        <a:spcAft>
                          <a:spcPts val="800"/>
                        </a:spcAft>
                      </a:pPr>
                      <a:r>
                        <a:rPr lang="en-US" sz="1400" kern="100">
                          <a:effectLst/>
                        </a:rPr>
                        <a:t>apply()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00000"/>
                        </a:lnSpc>
                        <a:spcAft>
                          <a:spcPts val="0"/>
                        </a:spcAft>
                      </a:pPr>
                      <a:r>
                        <a:rPr lang="en-US" sz="1400" kern="100" dirty="0">
                          <a:effectLst/>
                        </a:rPr>
                        <a:t>used for applying a user-defined function along an axis (0 for rows, 1 for columns) of a </a:t>
                      </a:r>
                      <a:r>
                        <a:rPr lang="en-US" sz="1400" kern="100" dirty="0" err="1">
                          <a:effectLst/>
                        </a:rPr>
                        <a:t>DataFrame</a:t>
                      </a:r>
                      <a:r>
                        <a:rPr lang="en-US" sz="1400" kern="100" dirty="0">
                          <a:effectLst/>
                        </a:rPr>
                        <a:t>. It supports complex operations. </a:t>
                      </a:r>
                    </a:p>
                    <a:p>
                      <a:pPr marL="0" marR="0">
                        <a:lnSpc>
                          <a:spcPct val="100000"/>
                        </a:lnSpc>
                        <a:spcAft>
                          <a:spcPts val="0"/>
                        </a:spcAft>
                      </a:pPr>
                      <a:r>
                        <a:rPr lang="en-US" sz="1400" kern="100" dirty="0">
                          <a:effectLst/>
                        </a:rPr>
                        <a:t> </a:t>
                      </a:r>
                    </a:p>
                    <a:p>
                      <a:pPr marL="0" marR="0">
                        <a:lnSpc>
                          <a:spcPct val="100000"/>
                        </a:lnSpc>
                        <a:spcAft>
                          <a:spcPts val="0"/>
                        </a:spcAft>
                      </a:pPr>
                      <a:r>
                        <a:rPr lang="en-US" sz="1400" kern="100" dirty="0">
                          <a:effectLst/>
                        </a:rPr>
                        <a:t>def </a:t>
                      </a:r>
                      <a:r>
                        <a:rPr lang="en-US" sz="1400" kern="100" dirty="0" err="1">
                          <a:effectLst/>
                        </a:rPr>
                        <a:t>function_name</a:t>
                      </a:r>
                      <a:r>
                        <a:rPr lang="en-US" sz="1400" kern="100" dirty="0">
                          <a:effectLst/>
                        </a:rPr>
                        <a:t>(param):</a:t>
                      </a:r>
                    </a:p>
                    <a:p>
                      <a:pPr marL="0" marR="0">
                        <a:lnSpc>
                          <a:spcPct val="100000"/>
                        </a:lnSpc>
                        <a:spcAft>
                          <a:spcPts val="0"/>
                        </a:spcAft>
                      </a:pPr>
                      <a:r>
                        <a:rPr lang="en-US" sz="1400" kern="100" dirty="0">
                          <a:effectLst/>
                        </a:rPr>
                        <a:t>    function body</a:t>
                      </a:r>
                    </a:p>
                    <a:p>
                      <a:pPr marL="0" marR="0">
                        <a:lnSpc>
                          <a:spcPct val="100000"/>
                        </a:lnSpc>
                        <a:spcAft>
                          <a:spcPts val="0"/>
                        </a:spcAft>
                      </a:pPr>
                      <a:r>
                        <a:rPr lang="en-US" sz="1400" kern="100" dirty="0" err="1">
                          <a:effectLst/>
                        </a:rPr>
                        <a:t>df.apply</a:t>
                      </a:r>
                      <a:r>
                        <a:rPr lang="en-US" sz="1400" kern="100" dirty="0">
                          <a:effectLst/>
                        </a:rPr>
                        <a:t>(</a:t>
                      </a:r>
                      <a:r>
                        <a:rPr lang="en-US" sz="1400" kern="100" dirty="0" err="1">
                          <a:effectLst/>
                        </a:rPr>
                        <a:t>function_name</a:t>
                      </a:r>
                      <a:r>
                        <a:rPr lang="en-US" sz="1400" kern="100" dirty="0">
                          <a:effectLst/>
                        </a:rPr>
                        <a:t>, axis = 0 or 1)</a:t>
                      </a:r>
                    </a:p>
                    <a:p>
                      <a:pPr marL="0" marR="0">
                        <a:lnSpc>
                          <a:spcPct val="100000"/>
                        </a:lnSpc>
                        <a:spcAft>
                          <a:spcPts val="0"/>
                        </a:spcAft>
                      </a:pPr>
                      <a:r>
                        <a:rPr lang="en-US" sz="1400" kern="100" dirty="0">
                          <a:effectLst/>
                        </a:rPr>
                        <a:t>or </a:t>
                      </a:r>
                      <a:r>
                        <a:rPr lang="en-US" sz="1400" kern="100" dirty="0" err="1">
                          <a:effectLst/>
                        </a:rPr>
                        <a:t>df.apply</a:t>
                      </a:r>
                      <a:r>
                        <a:rPr lang="en-US" sz="1400" kern="100" dirty="0">
                          <a:effectLst/>
                        </a:rPr>
                        <a:t>(lambda v: expression on v, axis = 0 or 1)</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36965513"/>
                  </a:ext>
                </a:extLst>
              </a:tr>
            </a:tbl>
          </a:graphicData>
        </a:graphic>
      </p:graphicFrame>
    </p:spTree>
    <p:extLst>
      <p:ext uri="{BB962C8B-B14F-4D97-AF65-F5344CB8AC3E}">
        <p14:creationId xmlns:p14="http://schemas.microsoft.com/office/powerpoint/2010/main" val="1969871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BC670-ADAB-A60B-D8F7-CD6FEDFBD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E0110-ECFE-8BBA-453E-F40BE7D22678}"/>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025FCA07-7799-9D67-A5D9-4B273F35958F}"/>
              </a:ext>
            </a:extLst>
          </p:cNvPr>
          <p:cNvSpPr>
            <a:spLocks noGrp="1"/>
          </p:cNvSpPr>
          <p:nvPr>
            <p:ph idx="1"/>
          </p:nvPr>
        </p:nvSpPr>
        <p:spPr>
          <a:xfrm>
            <a:off x="772298" y="1438447"/>
            <a:ext cx="10515600" cy="4351338"/>
          </a:xfrm>
        </p:spPr>
        <p:txBody>
          <a:bodyPr>
            <a:normAutofit/>
          </a:bodyPr>
          <a:lstStyle/>
          <a:p>
            <a:r>
              <a:rPr lang="en-US" dirty="0"/>
              <a:t>Operations on </a:t>
            </a:r>
            <a:r>
              <a:rPr lang="en-US" dirty="0" err="1"/>
              <a:t>DataFrames</a:t>
            </a:r>
            <a:endParaRPr lang="en-US" dirty="0"/>
          </a:p>
          <a:p>
            <a:pPr lvl="1">
              <a:buFont typeface="Wingdings" panose="05000000000000000000" pitchFamily="2" charset="2"/>
              <a:buChar char="§"/>
            </a:pPr>
            <a:r>
              <a:rPr lang="en-US" dirty="0"/>
              <a:t>Sorting Data</a:t>
            </a:r>
          </a:p>
          <a:p>
            <a:endParaRPr lang="en-US" dirty="0"/>
          </a:p>
        </p:txBody>
      </p:sp>
      <p:pic>
        <p:nvPicPr>
          <p:cNvPr id="4" name="Picture 3">
            <a:extLst>
              <a:ext uri="{FF2B5EF4-FFF2-40B4-BE49-F238E27FC236}">
                <a16:creationId xmlns:a16="http://schemas.microsoft.com/office/drawing/2014/main" id="{F76171AD-BC82-8D76-CD21-2B2950A6BA8B}"/>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6" name="Table 5" descr="sorting data methods">
            <a:extLst>
              <a:ext uri="{FF2B5EF4-FFF2-40B4-BE49-F238E27FC236}">
                <a16:creationId xmlns:a16="http://schemas.microsoft.com/office/drawing/2014/main" id="{FBE8A7DB-C89B-B722-1072-5FD8F576DF52}"/>
              </a:ext>
            </a:extLst>
          </p:cNvPr>
          <p:cNvGraphicFramePr>
            <a:graphicFrameLocks noGrp="1"/>
          </p:cNvGraphicFramePr>
          <p:nvPr>
            <p:extLst>
              <p:ext uri="{D42A27DB-BD31-4B8C-83A1-F6EECF244321}">
                <p14:modId xmlns:p14="http://schemas.microsoft.com/office/powerpoint/2010/main" val="3833275749"/>
              </p:ext>
            </p:extLst>
          </p:nvPr>
        </p:nvGraphicFramePr>
        <p:xfrm>
          <a:off x="1347019" y="2326402"/>
          <a:ext cx="8999706" cy="1796211"/>
        </p:xfrm>
        <a:graphic>
          <a:graphicData uri="http://schemas.openxmlformats.org/drawingml/2006/table">
            <a:tbl>
              <a:tblPr firstRow="1" firstCol="1" bandRow="1">
                <a:tableStyleId>{5C22544A-7EE6-4342-B048-85BDC9FD1C3A}</a:tableStyleId>
              </a:tblPr>
              <a:tblGrid>
                <a:gridCol w="4296906">
                  <a:extLst>
                    <a:ext uri="{9D8B030D-6E8A-4147-A177-3AD203B41FA5}">
                      <a16:colId xmlns:a16="http://schemas.microsoft.com/office/drawing/2014/main" val="4027169376"/>
                    </a:ext>
                  </a:extLst>
                </a:gridCol>
                <a:gridCol w="4702800">
                  <a:extLst>
                    <a:ext uri="{9D8B030D-6E8A-4147-A177-3AD203B41FA5}">
                      <a16:colId xmlns:a16="http://schemas.microsoft.com/office/drawing/2014/main" val="1058269074"/>
                    </a:ext>
                  </a:extLst>
                </a:gridCol>
              </a:tblGrid>
              <a:tr h="164089">
                <a:tc>
                  <a:txBody>
                    <a:bodyPr/>
                    <a:lstStyle/>
                    <a:p>
                      <a:pPr marL="0" marR="0">
                        <a:lnSpc>
                          <a:spcPct val="115000"/>
                        </a:lnSpc>
                        <a:spcAft>
                          <a:spcPts val="800"/>
                        </a:spcAft>
                      </a:pPr>
                      <a:r>
                        <a:rPr lang="en-US" sz="1600" kern="100">
                          <a:effectLst/>
                        </a:rPr>
                        <a:t>function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tc>
                  <a:txBody>
                    <a:bodyPr/>
                    <a:lstStyle/>
                    <a:p>
                      <a:pPr marL="0" marR="0">
                        <a:lnSpc>
                          <a:spcPct val="115000"/>
                        </a:lnSpc>
                        <a:spcAft>
                          <a:spcPts val="800"/>
                        </a:spcAft>
                      </a:pPr>
                      <a:r>
                        <a:rPr lang="en-US" sz="1600" kern="100">
                          <a:effectLst/>
                        </a:rPr>
                        <a:t>description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extLst>
                  <a:ext uri="{0D108BD9-81ED-4DB2-BD59-A6C34878D82A}">
                    <a16:rowId xmlns:a16="http://schemas.microsoft.com/office/drawing/2014/main" val="1517205963"/>
                  </a:ext>
                </a:extLst>
              </a:tr>
              <a:tr h="304912">
                <a:tc>
                  <a:txBody>
                    <a:bodyPr/>
                    <a:lstStyle/>
                    <a:p>
                      <a:pPr marL="0" marR="0">
                        <a:lnSpc>
                          <a:spcPct val="115000"/>
                        </a:lnSpc>
                        <a:spcAft>
                          <a:spcPts val="800"/>
                        </a:spcAft>
                      </a:pPr>
                      <a:r>
                        <a:rPr lang="en-US" sz="1600" kern="100">
                          <a:effectLst/>
                        </a:rPr>
                        <a:t>sort_index(axis=0 or 1)</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tc>
                  <a:txBody>
                    <a:bodyPr/>
                    <a:lstStyle/>
                    <a:p>
                      <a:pPr marL="0" marR="0">
                        <a:lnSpc>
                          <a:spcPct val="115000"/>
                        </a:lnSpc>
                        <a:spcAft>
                          <a:spcPts val="800"/>
                        </a:spcAft>
                      </a:pPr>
                      <a:r>
                        <a:rPr lang="en-US" sz="1600" kern="100">
                          <a:effectLst/>
                        </a:rPr>
                        <a:t>sort a DataFrame by its index labels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extLst>
                  <a:ext uri="{0D108BD9-81ED-4DB2-BD59-A6C34878D82A}">
                    <a16:rowId xmlns:a16="http://schemas.microsoft.com/office/drawing/2014/main" val="3722251134"/>
                  </a:ext>
                </a:extLst>
              </a:tr>
              <a:tr h="689186">
                <a:tc>
                  <a:txBody>
                    <a:bodyPr/>
                    <a:lstStyle/>
                    <a:p>
                      <a:pPr marL="0" marR="0">
                        <a:lnSpc>
                          <a:spcPct val="115000"/>
                        </a:lnSpc>
                        <a:spcAft>
                          <a:spcPts val="800"/>
                        </a:spcAft>
                      </a:pPr>
                      <a:r>
                        <a:rPr lang="en-US" sz="1600" kern="100">
                          <a:effectLst/>
                        </a:rPr>
                        <a:t>sort_values(by=column_name, ascending=True or False)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tc>
                  <a:txBody>
                    <a:bodyPr/>
                    <a:lstStyle/>
                    <a:p>
                      <a:pPr marL="0" marR="0">
                        <a:lnSpc>
                          <a:spcPct val="115000"/>
                        </a:lnSpc>
                        <a:spcAft>
                          <a:spcPts val="800"/>
                        </a:spcAft>
                      </a:pPr>
                      <a:r>
                        <a:rPr lang="en-US" sz="1600" kern="100">
                          <a:effectLst/>
                        </a:rPr>
                        <a:t>sort by the values in one or more columns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extLst>
                  <a:ext uri="{0D108BD9-81ED-4DB2-BD59-A6C34878D82A}">
                    <a16:rowId xmlns:a16="http://schemas.microsoft.com/office/drawing/2014/main" val="2675231722"/>
                  </a:ext>
                </a:extLst>
              </a:tr>
              <a:tr h="535476">
                <a:tc>
                  <a:txBody>
                    <a:bodyPr/>
                    <a:lstStyle/>
                    <a:p>
                      <a:pPr marL="0" marR="0">
                        <a:lnSpc>
                          <a:spcPct val="115000"/>
                        </a:lnSpc>
                        <a:spcAft>
                          <a:spcPts val="800"/>
                        </a:spcAft>
                      </a:pPr>
                      <a:r>
                        <a:rPr lang="en-US" sz="1600" kern="100">
                          <a:effectLst/>
                        </a:rPr>
                        <a:t>apply(sorting_functin, axis = 0 or 1)</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tc>
                  <a:txBody>
                    <a:bodyPr/>
                    <a:lstStyle/>
                    <a:p>
                      <a:pPr marL="0" marR="0">
                        <a:lnSpc>
                          <a:spcPct val="115000"/>
                        </a:lnSpc>
                        <a:spcAft>
                          <a:spcPts val="800"/>
                        </a:spcAft>
                      </a:pPr>
                      <a:r>
                        <a:rPr lang="en-US" sz="1600" kern="100" dirty="0">
                          <a:effectLst/>
                        </a:rPr>
                        <a:t>sort by a </a:t>
                      </a:r>
                      <a:r>
                        <a:rPr lang="en-US" sz="1600" kern="100" dirty="0" err="1">
                          <a:effectLst/>
                        </a:rPr>
                        <a:t>DataFrame’s</a:t>
                      </a:r>
                      <a:r>
                        <a:rPr lang="en-US" sz="1600" kern="100" dirty="0">
                          <a:effectLst/>
                        </a:rPr>
                        <a:t> rows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extLst>
                  <a:ext uri="{0D108BD9-81ED-4DB2-BD59-A6C34878D82A}">
                    <a16:rowId xmlns:a16="http://schemas.microsoft.com/office/drawing/2014/main" val="3089663731"/>
                  </a:ext>
                </a:extLst>
              </a:tr>
            </a:tbl>
          </a:graphicData>
        </a:graphic>
      </p:graphicFrame>
    </p:spTree>
    <p:extLst>
      <p:ext uri="{BB962C8B-B14F-4D97-AF65-F5344CB8AC3E}">
        <p14:creationId xmlns:p14="http://schemas.microsoft.com/office/powerpoint/2010/main" val="717454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26C26-5333-FAC8-590A-AA9A1EC00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2F29C-E0C4-9799-6A13-B9EC78FAB9E8}"/>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864BA488-416D-30AB-7C8D-63C964DCEDF4}"/>
              </a:ext>
            </a:extLst>
          </p:cNvPr>
          <p:cNvSpPr>
            <a:spLocks noGrp="1"/>
          </p:cNvSpPr>
          <p:nvPr>
            <p:ph idx="1"/>
          </p:nvPr>
        </p:nvSpPr>
        <p:spPr>
          <a:xfrm>
            <a:off x="772298" y="1438447"/>
            <a:ext cx="10515600" cy="4351338"/>
          </a:xfrm>
        </p:spPr>
        <p:txBody>
          <a:bodyPr>
            <a:normAutofit/>
          </a:bodyPr>
          <a:lstStyle/>
          <a:p>
            <a:r>
              <a:rPr lang="en-US" dirty="0"/>
              <a:t>Operations on </a:t>
            </a:r>
            <a:r>
              <a:rPr lang="en-US" dirty="0" err="1"/>
              <a:t>DataFrames</a:t>
            </a:r>
            <a:endParaRPr lang="en-US" dirty="0"/>
          </a:p>
          <a:p>
            <a:pPr lvl="1">
              <a:buFont typeface="Wingdings" panose="05000000000000000000" pitchFamily="2" charset="2"/>
              <a:buChar char="§"/>
            </a:pPr>
            <a:r>
              <a:rPr lang="en-US" dirty="0"/>
              <a:t>Discretization and Binning: divide continuous data into discrete segments or bins and categorize the data accordingly</a:t>
            </a:r>
          </a:p>
        </p:txBody>
      </p:sp>
      <p:pic>
        <p:nvPicPr>
          <p:cNvPr id="4" name="Picture 3">
            <a:extLst>
              <a:ext uri="{FF2B5EF4-FFF2-40B4-BE49-F238E27FC236}">
                <a16:creationId xmlns:a16="http://schemas.microsoft.com/office/drawing/2014/main" id="{628D1B3C-A3E5-C8AB-D1F0-03934FD98AE9}"/>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Table 4" descr="cut() and qcut() methods">
            <a:extLst>
              <a:ext uri="{FF2B5EF4-FFF2-40B4-BE49-F238E27FC236}">
                <a16:creationId xmlns:a16="http://schemas.microsoft.com/office/drawing/2014/main" id="{CFCDF972-6E91-E267-71BC-76EF87646653}"/>
              </a:ext>
            </a:extLst>
          </p:cNvPr>
          <p:cNvGraphicFramePr>
            <a:graphicFrameLocks noGrp="1"/>
          </p:cNvGraphicFramePr>
          <p:nvPr>
            <p:extLst>
              <p:ext uri="{D42A27DB-BD31-4B8C-83A1-F6EECF244321}">
                <p14:modId xmlns:p14="http://schemas.microsoft.com/office/powerpoint/2010/main" val="2667342876"/>
              </p:ext>
            </p:extLst>
          </p:nvPr>
        </p:nvGraphicFramePr>
        <p:xfrm>
          <a:off x="1348002" y="2708528"/>
          <a:ext cx="9731890" cy="2052941"/>
        </p:xfrm>
        <a:graphic>
          <a:graphicData uri="http://schemas.openxmlformats.org/drawingml/2006/table">
            <a:tbl>
              <a:tblPr firstRow="1" firstCol="1" bandRow="1">
                <a:tableStyleId>{5C22544A-7EE6-4342-B048-85BDC9FD1C3A}</a:tableStyleId>
              </a:tblPr>
              <a:tblGrid>
                <a:gridCol w="4865945">
                  <a:extLst>
                    <a:ext uri="{9D8B030D-6E8A-4147-A177-3AD203B41FA5}">
                      <a16:colId xmlns:a16="http://schemas.microsoft.com/office/drawing/2014/main" val="3637556710"/>
                    </a:ext>
                  </a:extLst>
                </a:gridCol>
                <a:gridCol w="4865945">
                  <a:extLst>
                    <a:ext uri="{9D8B030D-6E8A-4147-A177-3AD203B41FA5}">
                      <a16:colId xmlns:a16="http://schemas.microsoft.com/office/drawing/2014/main" val="4080233602"/>
                    </a:ext>
                  </a:extLst>
                </a:gridCol>
              </a:tblGrid>
              <a:tr h="284799">
                <a:tc>
                  <a:txBody>
                    <a:bodyPr/>
                    <a:lstStyle/>
                    <a:p>
                      <a:pPr marL="0" marR="0">
                        <a:lnSpc>
                          <a:spcPct val="115000"/>
                        </a:lnSpc>
                        <a:spcAft>
                          <a:spcPts val="800"/>
                        </a:spcAft>
                      </a:pPr>
                      <a:r>
                        <a:rPr lang="en-US" sz="1600" kern="100">
                          <a:effectLst/>
                        </a:rPr>
                        <a:t>function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description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94642615"/>
                  </a:ext>
                </a:extLst>
              </a:tr>
              <a:tr h="884071">
                <a:tc>
                  <a:txBody>
                    <a:bodyPr/>
                    <a:lstStyle/>
                    <a:p>
                      <a:pPr marL="0" marR="0">
                        <a:lnSpc>
                          <a:spcPct val="115000"/>
                        </a:lnSpc>
                        <a:spcAft>
                          <a:spcPts val="800"/>
                        </a:spcAft>
                      </a:pPr>
                      <a:r>
                        <a:rPr lang="en-US" sz="1600" kern="100">
                          <a:effectLst/>
                        </a:rPr>
                        <a:t>pandas.cut(series, bins=bins, labels=labels, right=True or False)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create bins based on user-defined edges and categorize the data accordingly. </a:t>
                      </a:r>
                      <a:r>
                        <a:rPr lang="en-US" sz="1600" kern="100">
                          <a:effectLst/>
                        </a:rPr>
                        <a:t>returns a categorical data type.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72223236"/>
                  </a:ext>
                </a:extLst>
              </a:tr>
              <a:tr h="884071">
                <a:tc>
                  <a:txBody>
                    <a:bodyPr/>
                    <a:lstStyle/>
                    <a:p>
                      <a:pPr marL="0" marR="0">
                        <a:lnSpc>
                          <a:spcPct val="115000"/>
                        </a:lnSpc>
                        <a:spcAft>
                          <a:spcPts val="800"/>
                        </a:spcAft>
                      </a:pPr>
                      <a:r>
                        <a:rPr lang="en-US" sz="1600" kern="100">
                          <a:effectLst/>
                        </a:rPr>
                        <a:t>pandas.qcut(series, q=numbers, labels=labels)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create bins based on quantiles, dividing the data into equal-sized segments. return a categorical data type.</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62760559"/>
                  </a:ext>
                </a:extLst>
              </a:tr>
            </a:tbl>
          </a:graphicData>
        </a:graphic>
      </p:graphicFrame>
    </p:spTree>
    <p:extLst>
      <p:ext uri="{BB962C8B-B14F-4D97-AF65-F5344CB8AC3E}">
        <p14:creationId xmlns:p14="http://schemas.microsoft.com/office/powerpoint/2010/main" val="1754757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820</TotalTime>
  <Words>1443</Words>
  <Application>Microsoft Office PowerPoint</Application>
  <PresentationFormat>Widescreen</PresentationFormat>
  <Paragraphs>168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Courier New</vt:lpstr>
      <vt:lpstr>Wingdings</vt:lpstr>
      <vt:lpstr>Office Theme</vt:lpstr>
      <vt:lpstr>Data Analytics Using Python Dr. Ziping Liu  </vt:lpstr>
      <vt:lpstr>https://he.kendallhunt.com/product/data-analytics-using-python  </vt:lpstr>
      <vt:lpstr>Pandas</vt:lpstr>
      <vt:lpstr>Introduction to Pandas</vt:lpstr>
      <vt:lpstr>Introduction to Pandas</vt:lpstr>
      <vt:lpstr>Getting Started with Pandas</vt:lpstr>
      <vt:lpstr>Use Pandas, create Series and Dataframes</vt:lpstr>
      <vt:lpstr>Viewing and Inspecting on DataFrames</vt:lpstr>
      <vt:lpstr>Indexing and slicing</vt:lpstr>
      <vt:lpstr>Data Manipulation</vt:lpstr>
      <vt:lpstr>Data Manipulation</vt:lpstr>
      <vt:lpstr>Data Manipulation</vt:lpstr>
      <vt:lpstr>Data Manipulation</vt:lpstr>
      <vt:lpstr>Data Manipulation</vt:lpstr>
      <vt:lpstr>Data Manipulation</vt:lpstr>
      <vt:lpstr>Data Manipulation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120</cp:revision>
  <dcterms:created xsi:type="dcterms:W3CDTF">2025-01-08T14:48:28Z</dcterms:created>
  <dcterms:modified xsi:type="dcterms:W3CDTF">2026-09-17T16:21:24Z</dcterms:modified>
</cp:coreProperties>
</file>