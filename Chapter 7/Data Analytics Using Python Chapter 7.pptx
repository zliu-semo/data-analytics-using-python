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260" r:id="rId4"/>
    <p:sldId id="302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921BC6-40A8-3205-FA73-53BEBB02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6" r="18535" b="-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46" name="Freeform: Shape 45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A7BAAAFF-B596-3D4E-1380-4692F61A0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F6BB10C-4F4C-B0BD-BA6A-E38B8E9DE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7 Data Modeling</a:t>
            </a: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E5941-2071-78A9-8755-27AB6DBA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861F930-DFC7-6924-0CC4-68189740D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7E152-D2AD-7654-6A67-399D9B610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6" r="18535" b="-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4D9F8FD4-6E0A-0BF7-EEDD-96FF817A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46" name="Freeform: Shape 45">
              <a:extLst>
                <a:ext uri="{FF2B5EF4-FFF2-40B4-BE49-F238E27FC236}">
                  <a16:creationId xmlns:a16="http://schemas.microsoft.com/office/drawing/2014/main" id="{2D947239-FE65-BFA3-EC62-096C6FE55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D5DD096-A3DD-318F-973E-1AD82FDD3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29E2CB7-CBD7-EE76-F98A-2B8150C76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C3A8CE-2CB5-0051-7A2F-61039DB80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351E04EE-CB80-5599-3FAB-809B21E0D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7 Data Modeling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819FC8-4AEA-B097-C553-4A3AB88D2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4437EA-B02E-9B1E-9BDC-FAC3FBBFB33D}"/>
              </a:ext>
            </a:extLst>
          </p:cNvPr>
          <p:cNvSpPr txBox="1">
            <a:spLocks/>
          </p:cNvSpPr>
          <p:nvPr/>
        </p:nvSpPr>
        <p:spPr>
          <a:xfrm>
            <a:off x="804672" y="5116529"/>
            <a:ext cx="10592174" cy="10006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https://he.kendallhunt.com/product/data-analytics-using-python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52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develop mathematical or statistical models to represent the data distribution and make future predictions</a:t>
            </a:r>
          </a:p>
          <a:p>
            <a:r>
              <a:rPr lang="en-US" dirty="0"/>
              <a:t>helps comprehend past events (descriptive analytics), understand why they occurred (diagnostic analytics), and predict future occurrences (predictive analytics)</a:t>
            </a:r>
          </a:p>
          <a:p>
            <a:r>
              <a:rPr lang="en-US" dirty="0"/>
              <a:t>statistical models or machine learning models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Python-based libraries such as </a:t>
            </a:r>
            <a:r>
              <a:rPr lang="en-US" dirty="0" err="1"/>
              <a:t>statsmodels</a:t>
            </a:r>
            <a:r>
              <a:rPr lang="en-US" dirty="0"/>
              <a:t>, scikit-learn, TensorFlow, and </a:t>
            </a:r>
            <a:r>
              <a:rPr lang="en-US" dirty="0" err="1"/>
              <a:t>PyTorch</a:t>
            </a:r>
            <a:r>
              <a:rPr lang="en-US" dirty="0"/>
              <a:t>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dirty="0" err="1"/>
              <a:t>statsmodels</a:t>
            </a:r>
            <a:r>
              <a:rPr lang="en-US" dirty="0"/>
              <a:t> package: statistical modeling, providing a broad range of traditional statistical tools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scikit-learn, TensorFlow, and </a:t>
            </a:r>
            <a:r>
              <a:rPr lang="en-US" dirty="0" err="1"/>
              <a:t>PyTorch</a:t>
            </a:r>
            <a:r>
              <a:rPr lang="en-US" dirty="0"/>
              <a:t>: machine learning modeling, offering diverse tools and algorithms for various machine learning tasks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976A-1A75-8B03-6B77-2C961B1A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B748-E472-2B94-0D27-9262A782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ABEA-95CF-2C55-77F2-3CA9B5663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represent a continuous and linear relationship between a dependent variable (Y) and one or more independent variables (X)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find the linear equation that best fits the data points of the independent and dependent variables with the linear equation minimizing the overall prediction error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89594-1F02-A9F3-E19C-EDED9240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5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DF21-0DA9-0C84-7467-A2977611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61F3-DE4B-7EFA-CD50-5A01DCD7A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40E0-212E-36DC-CDD9-FC9E0876A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dirty="0" err="1"/>
              <a:t>statsmodel</a:t>
            </a:r>
            <a:r>
              <a:rPr lang="en-US" dirty="0"/>
              <a:t> to perform one-way ANOVA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Performance measure: F-statistic and p-value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9FD6D-B923-8B0B-C723-A51F0691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DF9F6F18-9344-59D7-FF2B-40253F379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432" y="2262719"/>
            <a:ext cx="8226417" cy="181588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statsmodels.api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as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sm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statsmodels.formula.api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ols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Perform one-way ANOVA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model_sm_anova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ols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('Y ~ X', data=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).fit()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anova_results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sm.stats.anova_lm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model_sm_anova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typ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=1)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anova_results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96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67E92-EA07-D409-3323-B4F1AB2A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9E7B-4BE7-F935-6C67-DEC93A51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7D20-BFD2-EB49-6206-C7CBB020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/>
              <a:t>Use </a:t>
            </a:r>
            <a:r>
              <a:rPr lang="en-US" sz="2600" dirty="0" err="1"/>
              <a:t>statsmodel's</a:t>
            </a:r>
            <a:r>
              <a:rPr lang="en-US" sz="2600" dirty="0"/>
              <a:t> linear regression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Performance measure: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R-squared, adjusted R-squared values - the dependent variable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p-values for both the F-statistic and the coefficients - the model and the predictors statistically significant or not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p-values for the residual tests (Omnibus and Jarque-Bera) - normally distributed or not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Durbin-Watson statistic autocorrelation in the residuals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46C8B-369B-D130-1D4A-AE8229E3F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E10300B8-145A-B08E-EE86-0933D887B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604" y="2046747"/>
            <a:ext cx="7602933" cy="212365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sklearn.metrics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mean_squared_error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r2_score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Create the OLS model and fit it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model_sm_ols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sm.OLS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payments,claims_ols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).fit()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Y_pred_sm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model_sm_ols.predict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claims_ols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Print the model summary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model_sm_ols.summary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Performance metrics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r2_sm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model_sm_ols.rsquared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mse_sm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mean_squared_error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['Y'],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Y_pred_sm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print(f"\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nstatsmodels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performance - R-squared: {r2_sm:.4f}, MSE: {mse_sm:.4f}")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502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51C88-8004-6113-19BB-1ACFB46F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687E-B262-972D-163E-B35FAA9A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D624-6C06-3649-7343-FFB2E7C87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linear regression using scikit-learn library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Performance: R-squared and Mean Square Errors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94F9B-4751-BD63-9326-4430BBC7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E70BCE7D-C2C6-0B64-96E1-0D94E0828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840" y="2117557"/>
            <a:ext cx="8838609" cy="304698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sklearn.linear_model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LinearRegression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sklearn.metrics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mean_squared_error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r2_score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model_sk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LinearRegression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model_sk.fit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(X, Y)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Predicted values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Predicted_Y_SK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']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model_sk.predict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(X)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Y_pred_sk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model_sk.predict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(X)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Performance metrics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r2_sk = r2_score(Y,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Predicted_Y_SK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'])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mse_sk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mean_squared_error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(Y,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Predicted_Y_SK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'])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f"scikit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-learn performance - R-squared: {r2_sk:.4f}, MSE: {mse_sk:.4f}")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1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ECF5-1792-04D2-98EE-05F10E66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4DB4-0604-69EF-2FCC-851796D8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F210D-9BCC-4036-C4DC-B979EB0D9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 classification model that predicts the probability that the dependent variable (Y) belongs to a binary outcome (0 or 1) based on one or more independent variables (X)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achieved by using the logistic function (or sigmoid function) to constrain the output between 0 and 1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C6CEA-A527-606F-E135-A7DF6319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EBB810-23BB-7AD7-1295-0D5A416F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597" y="3759660"/>
            <a:ext cx="4850177" cy="219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0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DD23-4F22-5196-86D3-13C334EF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F2E2-77B4-2BDB-807B-C38B395B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F704A-8286-E419-481B-1AF54E244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</a:t>
            </a:r>
            <a:r>
              <a:rPr lang="en-US" dirty="0" err="1"/>
              <a:t>statsmodels</a:t>
            </a:r>
            <a:r>
              <a:rPr lang="en-US" dirty="0"/>
              <a:t> </a:t>
            </a:r>
          </a:p>
          <a:p>
            <a:r>
              <a:rPr lang="en-US" dirty="0"/>
              <a:t>achieved by using the logistic function (or sigmoid function) to constrain the output between 0 and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Performance measure: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R-squared value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p-values for each independent variable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entropy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LLR p-value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67322-944F-437D-1E97-FD53886CA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1A6521AB-037B-426A-8E94-9919CC061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198" y="2898310"/>
            <a:ext cx="10058400" cy="132343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statsmodels.api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as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sm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Fit the logistic regression model with intercept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logit_model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sm.Logit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(y,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sm.add_constant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(X))  # Adding constant for intercept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result =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logit_model.fit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print(result.summary2())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6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74D3-369A-F6A1-8639-009575F2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84F6-96DE-497E-9591-97A7B32C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6BEF2-E2A2-7F29-5B56-85450AB54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895" y="1406362"/>
            <a:ext cx="4088483" cy="4351338"/>
          </a:xfrm>
        </p:spPr>
        <p:txBody>
          <a:bodyPr>
            <a:normAutofit/>
          </a:bodyPr>
          <a:lstStyle/>
          <a:p>
            <a:r>
              <a:rPr lang="en-US" dirty="0"/>
              <a:t>scikit-learn library</a:t>
            </a:r>
          </a:p>
          <a:p>
            <a:r>
              <a:rPr lang="en-US" dirty="0"/>
              <a:t>Performance measure: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accuracy_score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classification_report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92BA4-F109-07BA-0565-0EDE3E5E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7BBCF102-C6E2-1456-9E03-FB5A9FAF7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9900" y="1333023"/>
            <a:ext cx="5831205" cy="469538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sklearn.model_selection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train_test_split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sklearn.linear_model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LogisticRegression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sklearn.metrics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accuracy_score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Initialize the logistic regression model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log_reg_sk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LogisticRegression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random_state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=0)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Train the model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log_reg_sk.fit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X_train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y_train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Make predictions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log_reg_sk.predict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X_test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Evaluate the model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accuracy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accuracy_score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y_test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f"Accuracy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{accuracy}")</a:t>
            </a: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sklearn.metrics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confusion_matrix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classification_report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Confusion Matrix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conf_matrix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confusion_matrix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y_test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print("\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nConfusion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Matrix:")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conf_matrix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Classification Report (Precision, Recall, F1-Score)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class_report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classification_report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y_test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y_pred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print("\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nClassification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Report:")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class_report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91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DEBD-1258-A08C-0A82-92D9DEB6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26F5-DAAB-D61E-045B-28523344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4F89-2C46-15EB-CAB8-1BB4610B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centers solely on the independent variables (X) without predicting a dependent variable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used to group data points into K distinct clusters based on similarities in their features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number of clusters (K) must be predetermined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08753-03FE-8111-7867-2F62EBA9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1E5B61-9F5E-70C6-F9D1-2B8DBE544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166" y="3793681"/>
            <a:ext cx="3364192" cy="199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51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681C-AA39-B543-CC6A-4E22A9092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479C-A6F7-1464-8B81-7B454C2C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849DD-87EF-63EB-038F-DB906A059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Two techniques help determine the optimal number of clusters: the elbow method and silhouette analysis.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 the elbow method, a plot illustrates the change in Within-Cluster Sum of Squared Errors (WCSS) for different k values. The optimal k value is typically at the "elbow" point in the curve where the WCSS starts to decrease more slowly.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Silhouette analysis involves calculating a silhouette coefficient for each data point, ranging from -1 to 1. The average silhouette score across all points measures overall cluster separation, with higher scores indicating better separation.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742DF-8DFA-9C07-4FAE-526D4C0D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4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1099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PowerPoint Presentation</vt:lpstr>
      <vt:lpstr>Introduction to Modeling</vt:lpstr>
      <vt:lpstr>Linear Regression</vt:lpstr>
      <vt:lpstr>Linear Regression</vt:lpstr>
      <vt:lpstr>Linear Regression</vt:lpstr>
      <vt:lpstr>Linear Regression</vt:lpstr>
      <vt:lpstr>Logistic Regression</vt:lpstr>
      <vt:lpstr>Logistic Regression</vt:lpstr>
      <vt:lpstr>Logistic Regression</vt:lpstr>
      <vt:lpstr>K-means Clustering</vt:lpstr>
      <vt:lpstr>K-means Clustering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171</cp:revision>
  <dcterms:created xsi:type="dcterms:W3CDTF">2025-01-08T14:48:28Z</dcterms:created>
  <dcterms:modified xsi:type="dcterms:W3CDTF">2025-01-12T15:26:29Z</dcterms:modified>
</cp:coreProperties>
</file>