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1" r:id="rId3"/>
    <p:sldId id="260" r:id="rId4"/>
    <p:sldId id="302" r:id="rId5"/>
    <p:sldId id="303" r:id="rId6"/>
    <p:sldId id="304" r:id="rId7"/>
    <p:sldId id="262" r:id="rId8"/>
    <p:sldId id="305" r:id="rId9"/>
    <p:sldId id="306" r:id="rId10"/>
    <p:sldId id="307" r:id="rId11"/>
    <p:sldId id="308" r:id="rId12"/>
    <p:sldId id="30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3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599E3-8D9F-3F5B-0308-7F5329DEA5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A90651-91C2-BA19-35EC-A04BA9FD11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1DD5A-2112-6235-85DC-B1B299E85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A9076-7565-CDA6-EDBA-EC2961545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AC44E-B761-B97D-C746-ECAB6BB96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529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9E6AC-BA0C-3CB0-A332-C14B281CD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67869-5FC6-53F4-7BC6-5136E5507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B6CE0-9019-D821-C2F3-C78CF2C5C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96E9F-D2BE-3C4A-D26A-F7C5A5D11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8CC43-53EB-84ED-63B3-9A3403CEE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431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8D887-4D96-118D-73A2-1C895A67B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1B085A-425F-FD3C-BC71-9A29495F9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4329D-6798-F07C-D487-6101B49A2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F25C4-C66D-4341-42FF-9C7C602AD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18A81-8750-B962-F8C6-6DA1403A7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004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CD042-266E-A796-1A36-96B70B229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36A0C-4A74-A126-7A99-F06853058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5CC16C-9EAC-FE9F-396B-0241F79620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39D6F5-EFBE-6874-ED24-0A51C2684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D1EDD0-9CCB-FAD1-C4F2-4E43F03FD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2613EA-8DBD-A257-A690-042711A7B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831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4ACE6-F826-5B66-2371-F2D502554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56492-1758-D69A-3E6F-15261B003F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BD8565-447E-7044-9CE0-673F60DC2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3E43F8-3C42-54CA-4E92-F6A3940F26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A97A32-71E6-549D-B127-599697995C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8A95A3-01EC-6EF0-5031-5E525E62D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274BE6-33F4-D96C-2405-87AEFEDCC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FB891F-BE7B-C13D-681A-2C793B09D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095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75743-E60C-78E3-4219-5712DC704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6DF502-5BB8-D822-01D7-20936C34E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5FAD0-C9E9-80E2-6DFA-0BC166AE6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4DCEC0-8357-5413-2403-9992319E8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388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9867B-72CF-0811-E65E-1F1A0A928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848B39-123B-5C1E-0B64-6FC3E2859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A3C226-40C4-ED8E-9C41-87B4E082F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028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2E48C-0492-969D-5358-C6C95D650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7FBA1-E0E8-57D0-829D-823FB90F4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7BB11-40DB-E7BF-59DE-E5088FC55B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79E303-25F7-D260-0C1E-1C5D9A968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87058F-FFC4-BC2B-7574-A9DB1D7F5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A0D607-D6DB-9EBE-6590-0B6F3CFD7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458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CB2A1-BC34-EA9A-859D-059A7A66E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B26546-3C25-49A1-3B36-715D1745DB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7F8061-0760-C9C3-320B-EAD574AF2E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F327B0-28E5-1E67-61B0-C32CC09E5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B7E62B-ABB9-605C-5E4E-9BF3E4FF7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2D59CD-E644-8A47-6C41-35307D327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657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41B45-B749-84F1-7E0D-232A8B6C5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325F5B-9932-7B22-3C88-08AD57BC21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74961-E805-FB33-5A16-E0CFA3716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9018F-11E0-CA53-A68B-C731CC509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87CFC-CA41-1297-94D3-F89EC65DA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80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1B2452-1456-A52C-F8D5-3234E07ED5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D70949-F825-32B2-260B-674118F1E7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E993F-73E9-E7AE-2ED3-3D288F24A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06DBD-D9C7-84D2-27D0-26FD25683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78735-00EC-3CA0-1B73-68A025E39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262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BA9FD8-0BA2-A466-EEFA-529DB2516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8B1EC5-F665-6631-6BF9-22FB9539D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F9369-7ED6-38A0-734A-DD110F926D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B8940-D37A-E1F1-4E91-FF221089D6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86E2C-CD23-0AB2-1973-F43BEF1BEF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32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5A1E9E-D3AF-FFBA-CC47-5CFED4361A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58" r="19268"/>
          <a:stretch/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35" name="Freeform: Shape 34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0E433EE4-38D4-5540-061E-9C551D4739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5116529"/>
            <a:ext cx="10592174" cy="1000655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US" sz="4000" dirty="0">
                <a:solidFill>
                  <a:schemeClr val="tx2"/>
                </a:solidFill>
              </a:rPr>
              <a:t>Data Analytics Using Python</a:t>
            </a:r>
            <a:br>
              <a:rPr lang="en-US" sz="4000" dirty="0">
                <a:solidFill>
                  <a:schemeClr val="tx2"/>
                </a:solidFill>
              </a:rPr>
            </a:br>
            <a:r>
              <a:rPr lang="en-US" sz="4000" dirty="0">
                <a:solidFill>
                  <a:schemeClr val="tx2"/>
                </a:solidFill>
              </a:rPr>
              <a:t>Dr. Ziping Liu</a:t>
            </a:r>
            <a:br>
              <a:rPr lang="en-US" sz="4000" dirty="0">
                <a:solidFill>
                  <a:schemeClr val="tx2"/>
                </a:solidFill>
              </a:rPr>
            </a:br>
            <a:br>
              <a:rPr lang="en-US" sz="4000" dirty="0">
                <a:solidFill>
                  <a:schemeClr val="tx2"/>
                </a:solidFill>
              </a:rPr>
            </a:b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0333598-3B2E-DC9A-5C82-88632FCB2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4580785"/>
            <a:ext cx="9416898" cy="484374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Chapter 6 Data Preparation - Data Cleaning, Wrangling and Aggregation</a:t>
            </a:r>
          </a:p>
        </p:txBody>
      </p:sp>
    </p:spTree>
    <p:extLst>
      <p:ext uri="{BB962C8B-B14F-4D97-AF65-F5344CB8AC3E}">
        <p14:creationId xmlns:p14="http://schemas.microsoft.com/office/powerpoint/2010/main" val="4278189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662E1F-3D00-7BF0-826E-243521203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D314FA0A-471E-2179-8D5F-C2E99B524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7D88B0-6A19-144C-6E74-8224FEC663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58" r="19268"/>
          <a:stretch/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E6C03ECE-FB07-426F-B541-769B98243D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35" name="Freeform: Shape 34">
              <a:extLst>
                <a:ext uri="{FF2B5EF4-FFF2-40B4-BE49-F238E27FC236}">
                  <a16:creationId xmlns:a16="http://schemas.microsoft.com/office/drawing/2014/main" id="{A93321E2-0F87-E15E-BB32-BB0367C998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F90DF31E-5E2C-542A-2C2C-CC3803712E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B31D5D3-C2FC-BEE5-48C5-26E982C7E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8BB6444-7350-427C-AD69-B978E4B03C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" name="Subtitle 2">
            <a:extLst>
              <a:ext uri="{FF2B5EF4-FFF2-40B4-BE49-F238E27FC236}">
                <a16:creationId xmlns:a16="http://schemas.microsoft.com/office/drawing/2014/main" id="{CBE7AAE6-EB76-63D9-1E22-97B22BEB8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4580785"/>
            <a:ext cx="9416898" cy="484374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Chapter 6 Data Preparation - Data Cleaning, Wrangling and Aggregation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0195819-BC82-94E6-7727-4AB4005286C7}"/>
              </a:ext>
            </a:extLst>
          </p:cNvPr>
          <p:cNvSpPr txBox="1">
            <a:spLocks/>
          </p:cNvSpPr>
          <p:nvPr/>
        </p:nvSpPr>
        <p:spPr>
          <a:xfrm>
            <a:off x="804672" y="5116529"/>
            <a:ext cx="10592174" cy="100065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6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100">
                <a:solidFill>
                  <a:schemeClr val="tx2"/>
                </a:solidFill>
              </a:rPr>
              <a:t>https://he.kendallhunt.com/product/data-analytics-using-python</a:t>
            </a:r>
            <a:br>
              <a:rPr lang="en-US" sz="4000">
                <a:solidFill>
                  <a:schemeClr val="tx2"/>
                </a:solidFill>
              </a:rPr>
            </a:br>
            <a:br>
              <a:rPr lang="en-US" sz="4000">
                <a:solidFill>
                  <a:schemeClr val="tx2"/>
                </a:solidFill>
              </a:rPr>
            </a:br>
            <a:endParaRPr lang="en-US" sz="4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3591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0A379-4975-80DB-8A99-0A8C6BBC9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Data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ADCC9-9A6A-D1F9-2528-5D4ED8E98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744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raw datasets: maybe large, unstructured, and may contain errors, inconsistencies, and missing values</a:t>
            </a:r>
          </a:p>
          <a:p>
            <a:r>
              <a:rPr lang="en-US" dirty="0"/>
              <a:t>preprocess the raw data with data cleaning, data wrangling and data aggregation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data cleaning: provide solutions for missing values, duplicate values, inconsistent formatting, outliers, errors and inaccuracy and incompleteness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data wrangling: transform the raw data into a more structured format for analysis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data aggregation: categorize and summarize data using groups with specified criteria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D4AA88-5BCC-84A9-7F2A-E7FED0281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115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9976A-1A75-8B03-6B77-2C961B1A8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9B748-E472-2B94-0D27-9262A7828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3ABEA-95CF-2C55-77F2-3CA9B5663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744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review the raw dataset, identify missing values, errors and inconsistencies, and then correct them so that they are ready for further processing</a:t>
            </a:r>
          </a:p>
          <a:p>
            <a:r>
              <a:rPr lang="en-US" dirty="0"/>
              <a:t>tasks that can be done with data cleaning: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Identifying and handling missing values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Converting data types or formats into consistent types or formats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Removing duplicate or irrelevant values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Detecting outliers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F89594-1F02-A9F3-E19C-EDED92400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553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A2653-BC14-36B9-29E6-1885A6432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E1FE7-4A43-026A-6BD6-01845D6C5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1E50B-4C05-0BCB-D0DD-FA2F567F5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744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missing data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identify and handle missing data: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1B64A7-610E-F8FB-90C7-C5A0D0BC7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083FF01-3B0C-60B7-FD56-6AFA191815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8257303"/>
              </p:ext>
            </p:extLst>
          </p:nvPr>
        </p:nvGraphicFramePr>
        <p:xfrm>
          <a:off x="1168809" y="2206943"/>
          <a:ext cx="6962467" cy="95904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86595">
                  <a:extLst>
                    <a:ext uri="{9D8B030D-6E8A-4147-A177-3AD203B41FA5}">
                      <a16:colId xmlns:a16="http://schemas.microsoft.com/office/drawing/2014/main" val="201824407"/>
                    </a:ext>
                  </a:extLst>
                </a:gridCol>
                <a:gridCol w="4475872">
                  <a:extLst>
                    <a:ext uri="{9D8B030D-6E8A-4147-A177-3AD203B41FA5}">
                      <a16:colId xmlns:a16="http://schemas.microsoft.com/office/drawing/2014/main" val="2011705079"/>
                    </a:ext>
                  </a:extLst>
                </a:gridCol>
              </a:tblGrid>
              <a:tr h="31968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Data Types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Missing Data Representation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73869562"/>
                  </a:ext>
                </a:extLst>
              </a:tr>
              <a:tr h="31968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numerical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NaN (Not a Number)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42412866"/>
                  </a:ext>
                </a:extLst>
              </a:tr>
              <a:tr h="31968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non-numerical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None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3083266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A67602B-7B75-0A37-DF35-C9DA5C7980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3779087"/>
              </p:ext>
            </p:extLst>
          </p:nvPr>
        </p:nvGraphicFramePr>
        <p:xfrm>
          <a:off x="1168809" y="3692015"/>
          <a:ext cx="9260294" cy="17830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11885">
                  <a:extLst>
                    <a:ext uri="{9D8B030D-6E8A-4147-A177-3AD203B41FA5}">
                      <a16:colId xmlns:a16="http://schemas.microsoft.com/office/drawing/2014/main" val="3698403268"/>
                    </a:ext>
                  </a:extLst>
                </a:gridCol>
                <a:gridCol w="7748409">
                  <a:extLst>
                    <a:ext uri="{9D8B030D-6E8A-4147-A177-3AD203B41FA5}">
                      <a16:colId xmlns:a16="http://schemas.microsoft.com/office/drawing/2014/main" val="1969394362"/>
                    </a:ext>
                  </a:extLst>
                </a:gridCol>
              </a:tblGrid>
              <a:tr h="29717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Functions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Descriptions related with data cleaning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96139387"/>
                  </a:ext>
                </a:extLst>
              </a:tr>
              <a:tr h="29717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df.info( 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provides the number of non-null values in each column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74294468"/>
                  </a:ext>
                </a:extLst>
              </a:tr>
              <a:tr h="29717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isnull( 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returns True if there is missing value(s) depending on the argument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55966468"/>
                  </a:ext>
                </a:extLst>
              </a:tr>
              <a:tr h="29717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notnull( 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returns True if there isn’t missing value(s) depending on the argument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31713745"/>
                  </a:ext>
                </a:extLst>
              </a:tr>
              <a:tr h="29717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dropna( 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returns only the non-null data and index values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87118671"/>
                  </a:ext>
                </a:extLst>
              </a:tr>
              <a:tr h="29717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fillna( 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fill the missing value(s) with specified value(s) such as mean value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641375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3380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4566E-C92E-68B8-3A1D-33B7CA03D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6CB65-1BE1-D0D5-E5F3-BC14D3D32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DE861-A834-314B-1FD0-9C50DC0D6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744" y="1690688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correct inconsistencies in formatting dates: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use </a:t>
            </a:r>
            <a:r>
              <a:rPr lang="en-US" dirty="0" err="1"/>
              <a:t>pd.to_datetime</a:t>
            </a:r>
            <a:r>
              <a:rPr lang="en-US" dirty="0"/>
              <a:t>() to convert strings to datetime format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call </a:t>
            </a:r>
            <a:r>
              <a:rPr lang="en-US" dirty="0" err="1"/>
              <a:t>dt.strftime</a:t>
            </a:r>
            <a:r>
              <a:rPr lang="en-US" dirty="0"/>
              <a:t>() (e.g., '%Y-%m-%d') to format date </a:t>
            </a:r>
          </a:p>
          <a:p>
            <a:r>
              <a:rPr lang="en-US" dirty="0"/>
              <a:t>identify inconsistencies (commas vs. decimals, leading/trailing spaces) in numbers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use string manipulation methods or regular expressions such as </a:t>
            </a:r>
            <a:r>
              <a:rPr lang="en-US" dirty="0" err="1"/>
              <a:t>str.replace</a:t>
            </a:r>
            <a:r>
              <a:rPr lang="en-US" dirty="0"/>
              <a:t>(‘,’, ‘’)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call </a:t>
            </a:r>
            <a:r>
              <a:rPr lang="en-US" dirty="0" err="1"/>
              <a:t>pd.to_numeric</a:t>
            </a:r>
            <a:r>
              <a:rPr lang="en-US" dirty="0"/>
              <a:t>() to convert strings to numeric data types </a:t>
            </a:r>
          </a:p>
          <a:p>
            <a:r>
              <a:rPr lang="en-US" dirty="0"/>
              <a:t>remove extra spaces in texts, call </a:t>
            </a:r>
            <a:r>
              <a:rPr lang="en-US" dirty="0" err="1"/>
              <a:t>str.strip</a:t>
            </a:r>
            <a:r>
              <a:rPr lang="en-US" dirty="0"/>
              <a:t>() </a:t>
            </a:r>
          </a:p>
          <a:p>
            <a:r>
              <a:rPr lang="en-US" dirty="0"/>
              <a:t>other text standardization, use string manipulation methods or regular expressions</a:t>
            </a:r>
          </a:p>
          <a:p>
            <a:r>
              <a:rPr lang="en-US" dirty="0"/>
              <a:t>outliers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detect outliers, call </a:t>
            </a:r>
            <a:r>
              <a:rPr lang="en-US" dirty="0" err="1"/>
              <a:t>Dataframe’s</a:t>
            </a:r>
            <a:r>
              <a:rPr lang="en-US" dirty="0"/>
              <a:t> describe() method and </a:t>
            </a:r>
            <a:r>
              <a:rPr lang="en-US" dirty="0" err="1"/>
              <a:t>quantitle</a:t>
            </a:r>
            <a:r>
              <a:rPr lang="en-US" dirty="0"/>
              <a:t>() method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remove outliers from the dataset, call </a:t>
            </a:r>
            <a:r>
              <a:rPr lang="en-US" dirty="0" err="1"/>
              <a:t>Numpy’s</a:t>
            </a:r>
            <a:r>
              <a:rPr lang="en-US" dirty="0"/>
              <a:t> clip() method to cap them at specified percentiles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5E0047-BBB1-4AA2-E4D2-5954BC4CE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06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F10ED-AECE-10BB-48CC-88F36A13F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3B884-72D2-4A32-C106-AEE33BE9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Wrangling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C9401-4FED-2721-C525-3D5076DEB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involves data transformation (adding new features, reshaping data, feature scaling), combining data from various sources, and encoding categorical data for analysis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transform categorical data into numerical: using techniques like indicator variables or one-hot encoding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One-hot encoding creates new binary variables (0 or 1) for each category, except for a chosen reference category. These new variables indicate whether a data point belongs to a specific category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One often used function for one-hot encoding is </a:t>
            </a:r>
            <a:r>
              <a:rPr lang="en-US" dirty="0" err="1"/>
              <a:t>get_dummies</a:t>
            </a:r>
            <a:r>
              <a:rPr lang="en-US" dirty="0"/>
              <a:t>().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94B07C-A60A-F75D-7AE4-76C207BB7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707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E2895-B96B-8D8B-2390-F695EA754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D3C58-029E-B411-4867-DBB9D286F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Wrangling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6EA4E-D1AE-B43B-E74C-C2A8EC4A6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involves data transformation (adding new features, reshaping data, feature scaling), combining data from various sources, and encoding categorical data for analysis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Chapter 4 introduced data reshaping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pivoting/melting tables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stacking/unstacking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data reshaping often involves working with hierarchical indexes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9B9F9C-2547-C4FD-04EB-019B37B58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563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C9ED9-E09B-F484-5C9C-A0B7BAB1D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359C4-5438-B622-D9E5-535C74F2F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Aggregation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40541-8516-95B2-FBF9-E5389EF73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744" y="1586728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summarize large datasets and identify trends</a:t>
            </a:r>
          </a:p>
          <a:p>
            <a:r>
              <a:rPr lang="en-US" dirty="0"/>
              <a:t>involves grouping data points with shared characteristics and applying functions like sum, mean, or count to calculate overall statistics</a:t>
            </a:r>
          </a:p>
          <a:p>
            <a:r>
              <a:rPr lang="en-US" dirty="0"/>
              <a:t>simplifies complex data distributions, making trends and patterns easier to identify through visualization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140328-4638-9F78-4180-DAC1DA877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288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01285-067B-C0E1-F85A-EF1B11DBF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9B853-5768-E130-F099-E59D67272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Aggregation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B8C9D0F-5431-8B18-57AA-676F809ABA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0991193"/>
              </p:ext>
            </p:extLst>
          </p:nvPr>
        </p:nvGraphicFramePr>
        <p:xfrm>
          <a:off x="1069541" y="1388937"/>
          <a:ext cx="9491367" cy="40974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58168">
                  <a:extLst>
                    <a:ext uri="{9D8B030D-6E8A-4147-A177-3AD203B41FA5}">
                      <a16:colId xmlns:a16="http://schemas.microsoft.com/office/drawing/2014/main" val="1628038879"/>
                    </a:ext>
                  </a:extLst>
                </a:gridCol>
                <a:gridCol w="6633199">
                  <a:extLst>
                    <a:ext uri="{9D8B030D-6E8A-4147-A177-3AD203B41FA5}">
                      <a16:colId xmlns:a16="http://schemas.microsoft.com/office/drawing/2014/main" val="3844512190"/>
                    </a:ext>
                  </a:extLst>
                </a:gridCol>
              </a:tblGrid>
              <a:tr h="2674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functions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2668" marR="4266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descriptions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2668" marR="42668" marT="0" marB="0"/>
                </a:tc>
                <a:extLst>
                  <a:ext uri="{0D108BD9-81ED-4DB2-BD59-A6C34878D82A}">
                    <a16:rowId xmlns:a16="http://schemas.microsoft.com/office/drawing/2014/main" val="1784268786"/>
                  </a:ext>
                </a:extLst>
              </a:tr>
              <a:tr h="267482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Descriptive summary functions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2668" marR="42668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586497"/>
                  </a:ext>
                </a:extLst>
              </a:tr>
              <a:tr h="83009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describe()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2668" marR="4266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provide overview of various descriptive statistics for numerical columns in DataFrame; covered in chapter 3(3.3)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2668" marR="42668" marT="0" marB="0"/>
                </a:tc>
                <a:extLst>
                  <a:ext uri="{0D108BD9-81ED-4DB2-BD59-A6C34878D82A}">
                    <a16:rowId xmlns:a16="http://schemas.microsoft.com/office/drawing/2014/main" val="3181835134"/>
                  </a:ext>
                </a:extLst>
              </a:tr>
              <a:tr h="548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value_counts()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2668" marR="4266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get counts for each category for categorical data; covered in chapter 3(3.5 last example)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2668" marR="42668" marT="0" marB="0"/>
                </a:tc>
                <a:extLst>
                  <a:ext uri="{0D108BD9-81ED-4DB2-BD59-A6C34878D82A}">
                    <a16:rowId xmlns:a16="http://schemas.microsoft.com/office/drawing/2014/main" val="2973645626"/>
                  </a:ext>
                </a:extLst>
              </a:tr>
              <a:tr h="218361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mean()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median()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std()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min()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max()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var()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2668" marR="4266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calculate the average (mean), the median (middle value), the standard deviation, the minimum value, the maximum value, the variance of a numerical column; covered in chapter 3 various sections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2668" marR="42668" marT="0" marB="0"/>
                </a:tc>
                <a:extLst>
                  <a:ext uri="{0D108BD9-81ED-4DB2-BD59-A6C34878D82A}">
                    <a16:rowId xmlns:a16="http://schemas.microsoft.com/office/drawing/2014/main" val="543712292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A836F0EF-165B-1B93-40EF-D162756DF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795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E16F0-8BD6-F3C6-C9F5-A101F6DA7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E63E2-570E-0D31-F4D1-A97C02188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Aggregation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E8DE9C8-BC98-34D1-8667-2FC3594400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7552244"/>
              </p:ext>
            </p:extLst>
          </p:nvPr>
        </p:nvGraphicFramePr>
        <p:xfrm>
          <a:off x="1102492" y="1690688"/>
          <a:ext cx="8305119" cy="26918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00948">
                  <a:extLst>
                    <a:ext uri="{9D8B030D-6E8A-4147-A177-3AD203B41FA5}">
                      <a16:colId xmlns:a16="http://schemas.microsoft.com/office/drawing/2014/main" val="1628038879"/>
                    </a:ext>
                  </a:extLst>
                </a:gridCol>
                <a:gridCol w="5804171">
                  <a:extLst>
                    <a:ext uri="{9D8B030D-6E8A-4147-A177-3AD203B41FA5}">
                      <a16:colId xmlns:a16="http://schemas.microsoft.com/office/drawing/2014/main" val="3844512190"/>
                    </a:ext>
                  </a:extLst>
                </a:gridCol>
              </a:tblGrid>
              <a:tr h="29398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functions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2668" marR="4266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descriptions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2668" marR="42668" marT="0" marB="0"/>
                </a:tc>
                <a:extLst>
                  <a:ext uri="{0D108BD9-81ED-4DB2-BD59-A6C34878D82A}">
                    <a16:rowId xmlns:a16="http://schemas.microsoft.com/office/drawing/2014/main" val="1784268786"/>
                  </a:ext>
                </a:extLst>
              </a:tr>
              <a:tr h="293988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Descriptive summary functions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2668" marR="42668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586497"/>
                  </a:ext>
                </a:extLst>
              </a:tr>
              <a:tr h="293988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 err="1">
                          <a:effectLst/>
                        </a:rPr>
                        <a:t>GroupBy</a:t>
                      </a:r>
                      <a:r>
                        <a:rPr lang="en-US" sz="1600" kern="100" dirty="0">
                          <a:effectLst/>
                        </a:rPr>
                        <a:t> operations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2668" marR="42668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552819"/>
                  </a:ext>
                </a:extLst>
              </a:tr>
              <a:tr h="60329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groupby()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2668" marR="4266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group data by categorical columns and then calculate summary statistics for each group; covered in chapter 4(4.1)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2668" marR="42668" marT="0" marB="0"/>
                </a:tc>
                <a:extLst>
                  <a:ext uri="{0D108BD9-81ED-4DB2-BD59-A6C34878D82A}">
                    <a16:rowId xmlns:a16="http://schemas.microsoft.com/office/drawing/2014/main" val="460543470"/>
                  </a:ext>
                </a:extLst>
              </a:tr>
              <a:tr h="60329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agg()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2668" marR="4266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apply a function or set of functions to each group, and return a new </a:t>
                      </a:r>
                      <a:r>
                        <a:rPr lang="en-US" sz="1600" kern="100" dirty="0" err="1">
                          <a:effectLst/>
                        </a:rPr>
                        <a:t>DataFrame</a:t>
                      </a:r>
                      <a:r>
                        <a:rPr lang="en-US" sz="1600" kern="100" dirty="0">
                          <a:effectLst/>
                        </a:rPr>
                        <a:t> 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2668" marR="42668" marT="0" marB="0"/>
                </a:tc>
                <a:extLst>
                  <a:ext uri="{0D108BD9-81ED-4DB2-BD59-A6C34878D82A}">
                    <a16:rowId xmlns:a16="http://schemas.microsoft.com/office/drawing/2014/main" val="2821319785"/>
                  </a:ext>
                </a:extLst>
              </a:tr>
              <a:tr h="60329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transform()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2668" marR="4266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apply a function to each group, and create a new column for each applied function on the original </a:t>
                      </a:r>
                      <a:r>
                        <a:rPr lang="en-US" sz="1600" kern="100" dirty="0" err="1">
                          <a:effectLst/>
                        </a:rPr>
                        <a:t>DataFrame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2668" marR="42668" marT="0" marB="0"/>
                </a:tc>
                <a:extLst>
                  <a:ext uri="{0D108BD9-81ED-4DB2-BD59-A6C34878D82A}">
                    <a16:rowId xmlns:a16="http://schemas.microsoft.com/office/drawing/2014/main" val="1553835753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2E4EF933-F246-C494-3CF1-F0ABDF1BD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387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DFC80-13AA-6603-B429-8FE2522B2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BE64D-1304-0075-9873-3AE4FE4A3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Aggregation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1A058D7-554C-09E2-7D78-7E5F3905BC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8757124"/>
              </p:ext>
            </p:extLst>
          </p:nvPr>
        </p:nvGraphicFramePr>
        <p:xfrm>
          <a:off x="954211" y="1504325"/>
          <a:ext cx="8815865" cy="35827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54751">
                  <a:extLst>
                    <a:ext uri="{9D8B030D-6E8A-4147-A177-3AD203B41FA5}">
                      <a16:colId xmlns:a16="http://schemas.microsoft.com/office/drawing/2014/main" val="1628038879"/>
                    </a:ext>
                  </a:extLst>
                </a:gridCol>
                <a:gridCol w="6161114">
                  <a:extLst>
                    <a:ext uri="{9D8B030D-6E8A-4147-A177-3AD203B41FA5}">
                      <a16:colId xmlns:a16="http://schemas.microsoft.com/office/drawing/2014/main" val="3844512190"/>
                    </a:ext>
                  </a:extLst>
                </a:gridCol>
              </a:tblGrid>
              <a:tr h="2126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functions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2668" marR="4266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descriptions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2668" marR="42668" marT="0" marB="0"/>
                </a:tc>
                <a:extLst>
                  <a:ext uri="{0D108BD9-81ED-4DB2-BD59-A6C34878D82A}">
                    <a16:rowId xmlns:a16="http://schemas.microsoft.com/office/drawing/2014/main" val="1784268786"/>
                  </a:ext>
                </a:extLst>
              </a:tr>
              <a:tr h="212600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Descriptive summary functions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2668" marR="42668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586497"/>
                  </a:ext>
                </a:extLst>
              </a:tr>
              <a:tr h="212600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Build hierarchies for multi-level analysis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2668" marR="42668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1360340"/>
                  </a:ext>
                </a:extLst>
              </a:tr>
              <a:tr h="110352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df.set_index()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df.reset_index()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multiIndex.from_tuples()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2668" marR="4266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provide hierarchical Indexing (MultiIndex); covered in chapter 4(4.2)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2668" marR="42668" marT="0" marB="0"/>
                </a:tc>
                <a:extLst>
                  <a:ext uri="{0D108BD9-81ED-4DB2-BD59-A6C34878D82A}">
                    <a16:rowId xmlns:a16="http://schemas.microsoft.com/office/drawing/2014/main" val="2084461473"/>
                  </a:ext>
                </a:extLst>
              </a:tr>
              <a:tr h="58269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pivot_table()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crosstab()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2668" marR="4266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offer pivot tables; covered in chapter 4(4.3)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2668" marR="42668" marT="0" marB="0"/>
                </a:tc>
                <a:extLst>
                  <a:ext uri="{0D108BD9-81ED-4DB2-BD59-A6C34878D82A}">
                    <a16:rowId xmlns:a16="http://schemas.microsoft.com/office/drawing/2014/main" val="2237659296"/>
                  </a:ext>
                </a:extLst>
              </a:tr>
              <a:tr h="96608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stack()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unstack()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melt()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2668" marR="4266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reshape data; covered in chapter 4(4.3)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2668" marR="42668" marT="0" marB="0"/>
                </a:tc>
                <a:extLst>
                  <a:ext uri="{0D108BD9-81ED-4DB2-BD59-A6C34878D82A}">
                    <a16:rowId xmlns:a16="http://schemas.microsoft.com/office/drawing/2014/main" val="2789777437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BAD9B5A7-819C-39A8-F67E-3EAA8F3E2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331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846</TotalTime>
  <Words>849</Words>
  <Application>Microsoft Office PowerPoint</Application>
  <PresentationFormat>Widescreen</PresentationFormat>
  <Paragraphs>110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Courier New</vt:lpstr>
      <vt:lpstr>Wingdings</vt:lpstr>
      <vt:lpstr>Office Theme</vt:lpstr>
      <vt:lpstr>Data Analytics Using Python Dr. Ziping Liu  </vt:lpstr>
      <vt:lpstr>PowerPoint Presentation</vt:lpstr>
      <vt:lpstr>Introduction to Data Preparation</vt:lpstr>
      <vt:lpstr>Data Cleaning</vt:lpstr>
      <vt:lpstr>Data Cleaning</vt:lpstr>
      <vt:lpstr>Data Cleaning</vt:lpstr>
      <vt:lpstr>Data Wrangling</vt:lpstr>
      <vt:lpstr>Data Wrangling</vt:lpstr>
      <vt:lpstr>Data Aggregation</vt:lpstr>
      <vt:lpstr>Data Aggregation</vt:lpstr>
      <vt:lpstr>Data Aggregation</vt:lpstr>
      <vt:lpstr>Data Aggregation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Ziping</dc:creator>
  <cp:lastModifiedBy>Liu, Ziping</cp:lastModifiedBy>
  <cp:revision>143</cp:revision>
  <dcterms:created xsi:type="dcterms:W3CDTF">2025-01-08T14:48:28Z</dcterms:created>
  <dcterms:modified xsi:type="dcterms:W3CDTF">2025-01-11T00:05:18Z</dcterms:modified>
</cp:coreProperties>
</file>