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258" r:id="rId4"/>
    <p:sldId id="260" r:id="rId5"/>
    <p:sldId id="262" r:id="rId6"/>
    <p:sldId id="293" r:id="rId7"/>
    <p:sldId id="294" r:id="rId8"/>
    <p:sldId id="295" r:id="rId9"/>
    <p:sldId id="296" r:id="rId10"/>
    <p:sldId id="297" r:id="rId11"/>
    <p:sldId id="298" r:id="rId12"/>
    <p:sldId id="263" r:id="rId13"/>
    <p:sldId id="299" r:id="rId14"/>
    <p:sldId id="30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9D3725-DABD-4973-C6E1-AAD7225AB2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6" r="21192" b="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08E6B8B5-F296-9D7F-4694-5C5BB9F18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Data Analytics Using Python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Dr. Ziping Liu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846A73B-A46E-64A8-4296-8FD78123E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5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27818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F0272-2353-452C-37EE-3B7323385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C2E4ECC-3842-3C80-CE31-FA291D774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B93AC2-A498-ADE2-8B63-B6466A4BA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86" r="21192" b="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A6B19CE-5252-461C-AEC3-D318475C9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EA4204-049B-EE15-2860-26A448981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000F3EF-D009-E3E0-6874-3A5ECBDC1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055DAA-8787-B75C-383F-9B36C8C8C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1C78C1-A58E-4859-09B7-387D2F5F8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5383E774-5EE1-D124-1718-452098D95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https://he.kendallhunt.com/product/data-analytics-using-python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B207AAE-8FBB-7F11-672D-7E92524F2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5 Python Programming Language Review</a:t>
            </a:r>
          </a:p>
        </p:txBody>
      </p:sp>
    </p:spTree>
    <p:extLst>
      <p:ext uri="{BB962C8B-B14F-4D97-AF65-F5344CB8AC3E}">
        <p14:creationId xmlns:p14="http://schemas.microsoft.com/office/powerpoint/2010/main" val="315044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891173"/>
            <a:ext cx="10515600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692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906162" y="1622855"/>
            <a:ext cx="10058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 representations include graphs and charts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can more clearly reveal patterns, trends, correlations, and anomalies that might be difficult to discern from raw data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types of visualizations include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line charts, histograms, box plots, scatter plots, and bar charts.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Python-based plotting libraries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matplotlib, seaborn, pandas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create visualizations that facilitate trend analysis, distribution examination, correlation exploration, and comparison</a:t>
            </a:r>
          </a:p>
        </p:txBody>
      </p:sp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A379-4975-80DB-8A99-0A8C6BB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in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DCC9-9A6A-D1F9-2528-5D4ED8E9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Pandas offers quick and simple data visualization for </a:t>
            </a:r>
            <a:r>
              <a:rPr lang="en-US" dirty="0" err="1"/>
              <a:t>DataFrames</a:t>
            </a:r>
            <a:r>
              <a:rPr lang="en-US" dirty="0"/>
              <a:t> and Series</a:t>
            </a:r>
          </a:p>
          <a:p>
            <a:r>
              <a:rPr lang="en-US" dirty="0"/>
              <a:t>methods to do various plotting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4AA88-5BCC-84A9-7F2A-E7FED028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46D5BA-F0FA-E1B1-7EE8-AD618CE7C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621063"/>
              </p:ext>
            </p:extLst>
          </p:nvPr>
        </p:nvGraphicFramePr>
        <p:xfrm>
          <a:off x="1152623" y="3263923"/>
          <a:ext cx="9350621" cy="26295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90641">
                  <a:extLst>
                    <a:ext uri="{9D8B030D-6E8A-4147-A177-3AD203B41FA5}">
                      <a16:colId xmlns:a16="http://schemas.microsoft.com/office/drawing/2014/main" val="24014279"/>
                    </a:ext>
                  </a:extLst>
                </a:gridCol>
                <a:gridCol w="6159980">
                  <a:extLst>
                    <a:ext uri="{9D8B030D-6E8A-4147-A177-3AD203B41FA5}">
                      <a16:colId xmlns:a16="http://schemas.microsoft.com/office/drawing/2014/main" val="2759257211"/>
                    </a:ext>
                  </a:extLst>
                </a:gridCol>
              </a:tblGrid>
              <a:tr h="241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Plotting types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Purposes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5135511"/>
                  </a:ext>
                </a:extLst>
              </a:tr>
              <a:tr h="241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Line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Trend for continuous data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6001966"/>
                  </a:ext>
                </a:extLst>
              </a:tr>
              <a:tr h="241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Bar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Comparison on different categories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0613803"/>
                  </a:ext>
                </a:extLst>
              </a:tr>
              <a:tr h="241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Histogram or box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Data distribution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9547827"/>
                  </a:ext>
                </a:extLst>
              </a:tr>
              <a:tr h="241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Scatter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Data correlations, patterns, or clusters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611097"/>
                  </a:ext>
                </a:extLst>
              </a:tr>
              <a:tr h="241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Area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Accumulation of each data category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0344551"/>
                  </a:ext>
                </a:extLst>
              </a:tr>
              <a:tr h="241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Barh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Horizontal bar plot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8980136"/>
                  </a:ext>
                </a:extLst>
              </a:tr>
              <a:tr h="241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Pie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Data proportion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6611609"/>
                  </a:ext>
                </a:extLst>
              </a:tr>
              <a:tr h="4964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KDE(Kernel Density Estimation)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Likelihood of encountering specific values in a range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5691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11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10ED-AECE-10BB-48CC-88F36A13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B884-72D2-4A32-C106-AEE33BE9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in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C9401-4FED-2721-C525-3D5076DEB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Pandas lacks the options to customize the plotting canvas and other aspects of the plot, such as line styles and colors. </a:t>
            </a:r>
          </a:p>
          <a:p>
            <a:r>
              <a:rPr lang="en-US" dirty="0"/>
              <a:t>Matplotlib offers more complex and informative plotting for data exploratory</a:t>
            </a:r>
          </a:p>
          <a:p>
            <a:r>
              <a:rPr lang="en-US" dirty="0"/>
              <a:t>Matplotlib is a Python package for 2D plotting that offers an object-oriented approach to create a plotting canvas and arrange various plot elements on it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4B07C-A60A-F75D-7AE4-76C207BB7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07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B66AD-3797-5EB8-09CB-4FFFCDA2D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2EB23-7F99-2101-87F1-6F04B94C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in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AEE4-57DC-3B9E-9A2B-96A6D270F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Installation and Testing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4BDB5-1117-6BE8-0A29-9494D948C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D64791-B68D-54DD-281C-13C78B1DC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53499"/>
              </p:ext>
            </p:extLst>
          </p:nvPr>
        </p:nvGraphicFramePr>
        <p:xfrm>
          <a:off x="1120314" y="1929313"/>
          <a:ext cx="7001131" cy="3358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87202">
                  <a:extLst>
                    <a:ext uri="{9D8B030D-6E8A-4147-A177-3AD203B41FA5}">
                      <a16:colId xmlns:a16="http://schemas.microsoft.com/office/drawing/2014/main" val="1888135730"/>
                    </a:ext>
                  </a:extLst>
                </a:gridCol>
                <a:gridCol w="3713929">
                  <a:extLst>
                    <a:ext uri="{9D8B030D-6E8A-4147-A177-3AD203B41FA5}">
                      <a16:colId xmlns:a16="http://schemas.microsoft.com/office/drawing/2014/main" val="892208315"/>
                    </a:ext>
                  </a:extLst>
                </a:gridCol>
              </a:tblGrid>
              <a:tr h="246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Using pip: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Using conda: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337975"/>
                  </a:ext>
                </a:extLst>
              </a:tr>
              <a:tr h="246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pip install matplotlib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conda install matplotlib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1629079"/>
                  </a:ext>
                </a:extLst>
              </a:tr>
              <a:tr h="6307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Verifying the installation: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pip show matplotlib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Verifying the installation: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conda</a:t>
                      </a:r>
                      <a:r>
                        <a:rPr lang="en-US" sz="1600" kern="100" dirty="0">
                          <a:effectLst/>
                        </a:rPr>
                        <a:t> list matplotlib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7808421"/>
                  </a:ext>
                </a:extLst>
              </a:tr>
              <a:tr h="2168221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Testing the Matplotlib installation using a simple script: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import </a:t>
                      </a:r>
                      <a:r>
                        <a:rPr lang="en-US" sz="1600" kern="100" dirty="0" err="1">
                          <a:effectLst/>
                        </a:rPr>
                        <a:t>matplotlib.pyplot</a:t>
                      </a:r>
                      <a:r>
                        <a:rPr lang="en-US" sz="1600" kern="100" dirty="0">
                          <a:effectLst/>
                        </a:rPr>
                        <a:t> as </a:t>
                      </a:r>
                      <a:r>
                        <a:rPr lang="en-US" sz="1600" kern="100" dirty="0" err="1">
                          <a:effectLst/>
                        </a:rPr>
                        <a:t>plt</a:t>
                      </a:r>
                      <a:endParaRPr lang="en-US" sz="16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x = [1, 2, 3]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y = [7, 8, 9]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plt.plot</a:t>
                      </a:r>
                      <a:r>
                        <a:rPr lang="en-US" sz="1600" kern="100" dirty="0">
                          <a:effectLst/>
                        </a:rPr>
                        <a:t>(x, y)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plt.show</a:t>
                      </a:r>
                      <a:r>
                        <a:rPr lang="en-US" sz="1600" kern="100" dirty="0">
                          <a:effectLst/>
                        </a:rPr>
                        <a:t>()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46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02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07F3C-D0F1-B263-72E9-2966553D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AF98-0AAB-8C8C-280E-8F947C498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in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FA7F2-A55B-1E80-5ACB-5E1C6037F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Getting Started with matplotlib</a:t>
            </a:r>
          </a:p>
          <a:p>
            <a:pPr lvl="1"/>
            <a:r>
              <a:rPr lang="en-US" dirty="0"/>
              <a:t>submodule, </a:t>
            </a:r>
            <a:r>
              <a:rPr lang="en-US" dirty="0" err="1"/>
              <a:t>pyplot</a:t>
            </a:r>
            <a:r>
              <a:rPr lang="en-US" dirty="0"/>
              <a:t> provides a collection of functions to create plots and customize their features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64EE6A-68DE-0D55-E0CA-01A81CF34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86B43392-F242-F653-03F4-4486A6B17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982" y="2751553"/>
            <a:ext cx="5715000" cy="230832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/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matplotlib.pyplot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 as </a:t>
            </a:r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plt</a:t>
            </a:r>
            <a:endParaRPr lang="en-US" sz="16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#calculate x, y coordinate values</a:t>
            </a:r>
          </a:p>
          <a:p>
            <a:pPr marL="0" marR="0"/>
            <a:r>
              <a:rPr lang="en-US" sz="1600" kern="100" dirty="0"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x = …</a:t>
            </a:r>
          </a:p>
          <a:p>
            <a:pPr marL="0" marR="0"/>
            <a:r>
              <a:rPr lang="en-US" sz="1600" kern="100" dirty="0"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= …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plt.plot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(x, y)  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plt.xlabel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('X-axis Label')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plt.ylabel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('Y-axis Label')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plt.title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(‘XXX Plot:')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/>
            <a:r>
              <a:rPr lang="en-US" sz="1600" kern="10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plt.show</a:t>
            </a:r>
            <a:r>
              <a:rPr lang="en-US" sz="1600" kern="10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Times New Roman" panose="02020603050405020304" pitchFamily="18" charset="0"/>
              </a:rPr>
              <a:t>()</a:t>
            </a:r>
            <a:endParaRPr lang="en-US" sz="16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543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C453D-5DB5-BCCB-DA5A-35183550B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AE348-FBC9-D571-C5DE-556B6041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in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C97DC-91AD-C6F2-47F3-542E24478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Getting Started with matplotlib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provide a configurable canvas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the figure() function returns a Figure object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add subplots to canvas using the </a:t>
            </a:r>
            <a:r>
              <a:rPr lang="en-US" dirty="0" err="1"/>
              <a:t>add_subplot</a:t>
            </a:r>
            <a:r>
              <a:rPr lang="en-US" dirty="0"/>
              <a:t>() function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various types of plots can be placed on subplots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1B69B2-932B-11E7-4871-577EE8747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53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7D931-89E9-8A62-3AE2-73D1060E9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28BE-8693-5E97-133D-E203E37A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in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45B15-780B-1969-F1F2-AF6FAA860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More on matplotlib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Each subplot offers to provide data display through various types of plotting, labels for x and y axis, title for the subplot, grid lines on the subplot, legend, annotation, </a:t>
            </a:r>
            <a:r>
              <a:rPr lang="en-US" dirty="0" err="1"/>
              <a:t>etc</a:t>
            </a: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</a:t>
            </a:r>
            <a:r>
              <a:rPr lang="en-US" dirty="0" err="1"/>
              <a:t>set_title</a:t>
            </a:r>
            <a:r>
              <a:rPr lang="en-US" dirty="0"/>
              <a:t>()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</a:t>
            </a:r>
            <a:r>
              <a:rPr lang="en-US" dirty="0" err="1"/>
              <a:t>set_xlabel</a:t>
            </a:r>
            <a:r>
              <a:rPr lang="en-US" dirty="0"/>
              <a:t>()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</a:t>
            </a:r>
            <a:r>
              <a:rPr lang="en-US" dirty="0" err="1"/>
              <a:t>set_ylabel</a:t>
            </a:r>
            <a:r>
              <a:rPr lang="en-US" dirty="0"/>
              <a:t>()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.legend()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.annotate()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01F1BB-23A8-DFB4-68AB-61050CAEB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24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7AAE2-5C5A-9DB2-3EAD-D8D2EF8B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0B319-6C69-3921-3E47-888F075D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in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41618-17D9-703A-44FE-70A161C42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91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Integrate plot( ) method from Pandas and plotting panel configuration from matplotlib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Pandas plot( 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provides an argument to specify plotting on a specific subplot created by matplotlib’s subplots( ) method or </a:t>
            </a:r>
            <a:r>
              <a:rPr lang="en-US" dirty="0" err="1"/>
              <a:t>add_subplot</a:t>
            </a:r>
            <a:r>
              <a:rPr lang="en-US" dirty="0"/>
              <a:t>( ) method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allows multiple plots shown on the same display panel in the case that </a:t>
            </a:r>
            <a:r>
              <a:rPr lang="en-US" dirty="0" err="1"/>
              <a:t>Pandas’s</a:t>
            </a:r>
            <a:r>
              <a:rPr lang="en-US" dirty="0"/>
              <a:t> plot( ) is chosen 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ECB0CF-4A92-14C3-8539-15856E603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05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04AD-BBCB-865C-9B55-19B142BAA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B89D0-F005-E69E-BC50-ADBFD124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in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B34EF-268E-8585-FA42-B651C9CD2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91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Integrate plot( ) method from Pandas and plotting panel configuration from matplotlib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C1C91-A70E-81B8-5CD7-A05DE432F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40CBE6-BE7F-A006-B1FE-06C8FBA30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748205"/>
              </p:ext>
            </p:extLst>
          </p:nvPr>
        </p:nvGraphicFramePr>
        <p:xfrm>
          <a:off x="1188482" y="2833371"/>
          <a:ext cx="9337880" cy="21625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16101">
                  <a:extLst>
                    <a:ext uri="{9D8B030D-6E8A-4147-A177-3AD203B41FA5}">
                      <a16:colId xmlns:a16="http://schemas.microsoft.com/office/drawing/2014/main" val="1614099997"/>
                    </a:ext>
                  </a:extLst>
                </a:gridCol>
                <a:gridCol w="4621779">
                  <a:extLst>
                    <a:ext uri="{9D8B030D-6E8A-4147-A177-3AD203B41FA5}">
                      <a16:colId xmlns:a16="http://schemas.microsoft.com/office/drawing/2014/main" val="4288951707"/>
                    </a:ext>
                  </a:extLst>
                </a:gridCol>
              </a:tblGrid>
              <a:tr h="2211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Pandas plot( ) method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matplotlib's plotting methods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0815008"/>
                  </a:ext>
                </a:extLst>
              </a:tr>
              <a:tr h="10315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belongs to DataFrame;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understands DataFrame structure and automatically extracts data for plotting based on column names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doesn’t understand DataFrame;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plotting needs x and y axis coordinate values from user input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7819969"/>
                  </a:ext>
                </a:extLst>
              </a:tr>
              <a:tr h="6864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offers a basic and quick approach for exploratory data analysis (EDA) via visualization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Offers more complex and customized features for plots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7765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349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5E08-25F9-D8B4-9368-84CA3256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4F05-E38B-9AFD-A5F0-F9BF88CF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in Seaborn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CA83-14C4-7633-7D08-567F7ACCB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Seaborn provides the high-level interface to simplify the statistical visualization analysis of Pandas </a:t>
            </a:r>
            <a:r>
              <a:rPr lang="en-US" dirty="0" err="1"/>
              <a:t>DataFrame</a:t>
            </a:r>
            <a:r>
              <a:rPr lang="en-US" dirty="0"/>
              <a:t>. </a:t>
            </a:r>
          </a:p>
          <a:p>
            <a:r>
              <a:rPr lang="en-US" dirty="0"/>
              <a:t>Common functions for plotting include violin plots, box plots, joint plots, pair plots, and other statistical visualizations.  </a:t>
            </a:r>
          </a:p>
          <a:p>
            <a:endParaRPr lang="en-US" dirty="0"/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724AD-B096-2673-2722-8E6DCC9A3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F522CF-3726-D363-5729-49A7D46C8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103995"/>
              </p:ext>
            </p:extLst>
          </p:nvPr>
        </p:nvGraphicFramePr>
        <p:xfrm>
          <a:off x="1103978" y="3350218"/>
          <a:ext cx="9218034" cy="22738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00969">
                  <a:extLst>
                    <a:ext uri="{9D8B030D-6E8A-4147-A177-3AD203B41FA5}">
                      <a16:colId xmlns:a16="http://schemas.microsoft.com/office/drawing/2014/main" val="3350713580"/>
                    </a:ext>
                  </a:extLst>
                </a:gridCol>
                <a:gridCol w="4517065">
                  <a:extLst>
                    <a:ext uri="{9D8B030D-6E8A-4147-A177-3AD203B41FA5}">
                      <a16:colId xmlns:a16="http://schemas.microsoft.com/office/drawing/2014/main" val="1384067722"/>
                    </a:ext>
                  </a:extLst>
                </a:gridCol>
              </a:tblGrid>
              <a:tr h="3438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seaborn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matplotlib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9139952"/>
                  </a:ext>
                </a:extLst>
              </a:tr>
              <a:tr h="3438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statistical data visualization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general-purpose plotting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8451018"/>
                  </a:ext>
                </a:extLst>
              </a:tr>
              <a:tr h="12422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less customizable;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good for basic data visualization with readability and aesthetics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highly flexible and customizable;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offers more complex features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5345666"/>
                  </a:ext>
                </a:extLst>
              </a:tr>
              <a:tr h="3438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coding is more concise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coding is more verbose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7240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072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308D-4D30-4441-A92A-7454373B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71E6-5BE7-33DB-C7D6-60D86202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in Seaborn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35A2C-4F16-AE0B-72C9-D5D86CCE8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Installation and Testing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D6EFE7-43A4-6C94-1B59-C5B361E1B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EF62F7-4924-0896-01F8-54324DEB5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419495"/>
              </p:ext>
            </p:extLst>
          </p:nvPr>
        </p:nvGraphicFramePr>
        <p:xfrm>
          <a:off x="1100649" y="1966671"/>
          <a:ext cx="8200667" cy="37420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50414">
                  <a:extLst>
                    <a:ext uri="{9D8B030D-6E8A-4147-A177-3AD203B41FA5}">
                      <a16:colId xmlns:a16="http://schemas.microsoft.com/office/drawing/2014/main" val="2508149077"/>
                    </a:ext>
                  </a:extLst>
                </a:gridCol>
                <a:gridCol w="4350253">
                  <a:extLst>
                    <a:ext uri="{9D8B030D-6E8A-4147-A177-3AD203B41FA5}">
                      <a16:colId xmlns:a16="http://schemas.microsoft.com/office/drawing/2014/main" val="2825432981"/>
                    </a:ext>
                  </a:extLst>
                </a:gridCol>
              </a:tblGrid>
              <a:tr h="2147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Using pip: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Using conda: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0647275"/>
                  </a:ext>
                </a:extLst>
              </a:tr>
              <a:tr h="2147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pip install seaborn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conda install seaborn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069177"/>
                  </a:ext>
                </a:extLst>
              </a:tr>
              <a:tr h="5497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Verifying the installation: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pip show seaborn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Verifying the installation: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conda</a:t>
                      </a:r>
                      <a:r>
                        <a:rPr lang="en-US" sz="1600" kern="100" dirty="0">
                          <a:effectLst/>
                        </a:rPr>
                        <a:t> list seaborn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5880999"/>
                  </a:ext>
                </a:extLst>
              </a:tr>
              <a:tr h="2560139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Testing the seaborn installation using a simple script: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import seaborn as </a:t>
                      </a:r>
                      <a:r>
                        <a:rPr lang="en-US" sz="1600" kern="100" dirty="0" err="1">
                          <a:effectLst/>
                        </a:rPr>
                        <a:t>sns</a:t>
                      </a:r>
                      <a:endParaRPr lang="en-US" sz="16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# Create iris </a:t>
                      </a:r>
                      <a:r>
                        <a:rPr lang="en-US" sz="1600" kern="100" dirty="0" err="1">
                          <a:effectLst/>
                        </a:rPr>
                        <a:t>dataframe</a:t>
                      </a:r>
                      <a:r>
                        <a:rPr lang="en-US" sz="1600" kern="100" dirty="0">
                          <a:effectLst/>
                        </a:rPr>
                        <a:t> directly from the Iris dataset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iris = </a:t>
                      </a:r>
                      <a:r>
                        <a:rPr lang="en-US" sz="1600" kern="100" dirty="0" err="1">
                          <a:effectLst/>
                        </a:rPr>
                        <a:t>sns.load_dataset</a:t>
                      </a:r>
                      <a:r>
                        <a:rPr lang="en-US" sz="1600" kern="100" dirty="0">
                          <a:effectLst/>
                        </a:rPr>
                        <a:t>("iris")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print(</a:t>
                      </a:r>
                      <a:r>
                        <a:rPr lang="en-US" sz="1600" kern="100" dirty="0" err="1">
                          <a:effectLst/>
                        </a:rPr>
                        <a:t>iris.head</a:t>
                      </a:r>
                      <a:r>
                        <a:rPr lang="en-US" sz="1600" kern="100" dirty="0">
                          <a:effectLst/>
                        </a:rPr>
                        <a:t>())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# plot </a:t>
                      </a:r>
                      <a:r>
                        <a:rPr lang="en-US" sz="1600" kern="100" dirty="0" err="1">
                          <a:effectLst/>
                        </a:rPr>
                        <a:t>sepal_length</a:t>
                      </a:r>
                      <a:r>
                        <a:rPr lang="en-US" sz="1600" kern="100" dirty="0">
                          <a:effectLst/>
                        </a:rPr>
                        <a:t> distribution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sns.displot</a:t>
                      </a:r>
                      <a:r>
                        <a:rPr lang="en-US" sz="1600" kern="100" dirty="0">
                          <a:effectLst/>
                        </a:rPr>
                        <a:t>(iris["</a:t>
                      </a:r>
                      <a:r>
                        <a:rPr lang="en-US" sz="1600" kern="100" dirty="0" err="1">
                          <a:effectLst/>
                        </a:rPr>
                        <a:t>sepal_length</a:t>
                      </a:r>
                      <a:r>
                        <a:rPr lang="en-US" sz="1600" kern="100" dirty="0">
                          <a:effectLst/>
                        </a:rPr>
                        <a:t>"])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650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75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D017-DA63-A4B4-6E43-0DFBB431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5BE6-B60C-2A63-D2FD-B6F9CEEF8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in Seaborn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F1696-BF10-345C-BA40-0FCBF3657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Working with seaborn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To plot with seaborn is similar as to plot in matplotlib, call the respective plot method, provide the data and/or features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</a:t>
            </a:r>
            <a:r>
              <a:rPr lang="en-US" dirty="0" err="1"/>
              <a:t>lineplot</a:t>
            </a:r>
            <a:r>
              <a:rPr lang="en-US" dirty="0"/>
              <a:t>(data, x, y, hue)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</a:t>
            </a:r>
            <a:r>
              <a:rPr lang="en-US" dirty="0" err="1"/>
              <a:t>barplot</a:t>
            </a:r>
            <a:r>
              <a:rPr lang="en-US" dirty="0"/>
              <a:t>(data, y, x, hue, orient)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.boxplot(data, x, y, orient)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</a:t>
            </a:r>
            <a:r>
              <a:rPr lang="en-US" dirty="0" err="1"/>
              <a:t>pairplot</a:t>
            </a:r>
            <a:r>
              <a:rPr lang="en-US" dirty="0"/>
              <a:t>(data)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</a:t>
            </a:r>
            <a:r>
              <a:rPr lang="en-US" dirty="0" err="1"/>
              <a:t>regplot</a:t>
            </a:r>
            <a:r>
              <a:rPr lang="en-US" dirty="0"/>
              <a:t>(x, y, data)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</a:t>
            </a:r>
            <a:r>
              <a:rPr lang="en-US" dirty="0" err="1"/>
              <a:t>catplot</a:t>
            </a:r>
            <a:r>
              <a:rPr lang="en-US" dirty="0"/>
              <a:t>(x, y, hue, col, data, kind, height, aspect)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</a:t>
            </a:r>
            <a:r>
              <a:rPr lang="en-US" dirty="0" err="1"/>
              <a:t>jointplot</a:t>
            </a:r>
            <a:r>
              <a:rPr lang="en-US" dirty="0"/>
              <a:t>(x, y, data, kind)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.</a:t>
            </a:r>
            <a:r>
              <a:rPr lang="en-US" dirty="0" err="1"/>
              <a:t>violinplot</a:t>
            </a:r>
            <a:r>
              <a:rPr lang="en-US" dirty="0"/>
              <a:t>(x, y, data, inner)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For the configurations of the plotting panel and plot settings, we can use matplotlib </a:t>
            </a:r>
          </a:p>
          <a:p>
            <a:endParaRPr lang="en-US" dirty="0"/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E273A0-525C-8DEB-AF92-145410E90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99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936</Words>
  <Application>Microsoft Office PowerPoint</Application>
  <PresentationFormat>Widescreen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Wingdings</vt:lpstr>
      <vt:lpstr>Office Theme</vt:lpstr>
      <vt:lpstr>Data Analytics Using Python Dr. Ziping Liu  </vt:lpstr>
      <vt:lpstr>https://he.kendallhunt.com/product/data-analytics-using-python  </vt:lpstr>
      <vt:lpstr>Data Visualization</vt:lpstr>
      <vt:lpstr>Plotting in Pandas</vt:lpstr>
      <vt:lpstr>Plotting in Matplotlib</vt:lpstr>
      <vt:lpstr>Plotting in Matplotlib</vt:lpstr>
      <vt:lpstr>Plotting in Matplotlib</vt:lpstr>
      <vt:lpstr>Plotting in Matplotlib</vt:lpstr>
      <vt:lpstr>Plotting in Matplotlib</vt:lpstr>
      <vt:lpstr>Plotting in Matplotlib</vt:lpstr>
      <vt:lpstr>Plotting in Matplotlib</vt:lpstr>
      <vt:lpstr>Plotting in Seaborn</vt:lpstr>
      <vt:lpstr>Plotting in Seaborn</vt:lpstr>
      <vt:lpstr>Plotting in Seaborn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120</cp:revision>
  <dcterms:created xsi:type="dcterms:W3CDTF">2025-01-08T14:48:28Z</dcterms:created>
  <dcterms:modified xsi:type="dcterms:W3CDTF">2025-01-10T23:04:36Z</dcterms:modified>
</cp:coreProperties>
</file>