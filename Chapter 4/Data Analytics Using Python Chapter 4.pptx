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1" r:id="rId3"/>
    <p:sldId id="260" r:id="rId4"/>
    <p:sldId id="302" r:id="rId5"/>
    <p:sldId id="303" r:id="rId6"/>
    <p:sldId id="304" r:id="rId7"/>
    <p:sldId id="30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e.kendallhunt.com/product/data-analytics-using-pyth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B456FD-6414-B06D-A336-9E989750B1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0" r="18507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35" name="Freeform: Shape 3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39D93838-78DA-FF5A-63F8-CB95F06B0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Data Analytics Using Python</a:t>
            </a:r>
            <a:br>
              <a:rPr lang="en-US" sz="4000" dirty="0">
                <a:solidFill>
                  <a:schemeClr val="tx2"/>
                </a:solidFill>
              </a:rPr>
            </a:br>
            <a:r>
              <a:rPr lang="en-US" sz="4000" dirty="0">
                <a:solidFill>
                  <a:schemeClr val="tx2"/>
                </a:solidFill>
              </a:rPr>
              <a:t>Dr. Ziping Liu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DCD3EDC-0105-7A4A-EB1E-5297F918E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4 More on Pandas</a:t>
            </a:r>
          </a:p>
        </p:txBody>
      </p:sp>
    </p:spTree>
    <p:extLst>
      <p:ext uri="{BB962C8B-B14F-4D97-AF65-F5344CB8AC3E}">
        <p14:creationId xmlns:p14="http://schemas.microsoft.com/office/powerpoint/2010/main" val="4278189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1342F4-F86C-15FF-7E3B-1759689F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D7B0C54-BF5E-B225-3E75-07A9FFBD8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9B241C-04E8-67B4-F7BE-C9A3DA062F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0" r="18507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52E4A94E-B39F-FE1D-0123-FAD3F7AA1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35" name="Freeform: Shape 34">
              <a:extLst>
                <a:ext uri="{FF2B5EF4-FFF2-40B4-BE49-F238E27FC236}">
                  <a16:creationId xmlns:a16="http://schemas.microsoft.com/office/drawing/2014/main" id="{2456F7E5-F2F4-9AA8-1703-66218EEFA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B8D330F-D0FD-BD9D-4DDD-289D8FC11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B515261-BE0F-147D-59B0-0813902A5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642676-71D0-D314-2027-8056ACE0C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087D2658-CDB7-FCAA-5F42-884CCE6FC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  <a:hlinkClick r:id="rId3"/>
              </a:rPr>
              <a:t>https://he.kendallhunt.com/product/data-analytics-using-python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F6FF387-CD33-0B4A-5C89-49FFA89CEC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4 More on Pandas</a:t>
            </a:r>
          </a:p>
        </p:txBody>
      </p:sp>
    </p:spTree>
    <p:extLst>
      <p:ext uri="{BB962C8B-B14F-4D97-AF65-F5344CB8AC3E}">
        <p14:creationId xmlns:p14="http://schemas.microsoft.com/office/powerpoint/2010/main" val="3883982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A379-4975-80DB-8A99-0A8C6BBC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 and aggregating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DCC9-9A6A-D1F9-2528-5D4ED8E9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Grouping: group values in one or more columns are distributed across different groups</a:t>
            </a:r>
          </a:p>
          <a:p>
            <a:pPr lvl="1"/>
            <a:r>
              <a:rPr lang="en-US" dirty="0" err="1"/>
              <a:t>groupby</a:t>
            </a:r>
            <a:r>
              <a:rPr lang="en-US" dirty="0"/>
              <a:t>(): to create subsets of data with one or more columns as group keys </a:t>
            </a:r>
          </a:p>
          <a:p>
            <a:pPr lvl="1"/>
            <a:r>
              <a:rPr lang="en-US" dirty="0"/>
              <a:t>need to perform existing or user-defined operations after using </a:t>
            </a:r>
            <a:r>
              <a:rPr lang="en-US" dirty="0" err="1"/>
              <a:t>groupby</a:t>
            </a:r>
            <a:r>
              <a:rPr lang="en-US" dirty="0"/>
              <a:t>() such as mean(), max(), sum(),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Aggregation operations, such as sum(), mean(), and others, can be performed on subsets of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4AA88-5BCC-84A9-7F2A-E7FED028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1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F107-70F4-2B4D-5055-1DEC83C5A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F1DAD-6331-4E0D-CFA7-D05CABEA0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and Joining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FDD56-6141-20D3-11F5-7BDDA724E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multiple </a:t>
            </a:r>
            <a:r>
              <a:rPr lang="en-US" dirty="0" err="1"/>
              <a:t>dataframes</a:t>
            </a:r>
            <a:r>
              <a:rPr lang="en-US" dirty="0"/>
              <a:t> have compatible row indexes or columns, they can be combined along either rows (axis=0) or columns (axis=1)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8A070-3469-5CE1-C67C-8B86B229D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CE4A5B-1580-7D10-61F1-EFE7760A3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824917"/>
              </p:ext>
            </p:extLst>
          </p:nvPr>
        </p:nvGraphicFramePr>
        <p:xfrm>
          <a:off x="1184370" y="3115844"/>
          <a:ext cx="9119835" cy="24930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5539">
                  <a:extLst>
                    <a:ext uri="{9D8B030D-6E8A-4147-A177-3AD203B41FA5}">
                      <a16:colId xmlns:a16="http://schemas.microsoft.com/office/drawing/2014/main" val="1253294917"/>
                    </a:ext>
                  </a:extLst>
                </a:gridCol>
                <a:gridCol w="7704296">
                  <a:extLst>
                    <a:ext uri="{9D8B030D-6E8A-4147-A177-3AD203B41FA5}">
                      <a16:colId xmlns:a16="http://schemas.microsoft.com/office/drawing/2014/main" val="198719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function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description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687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concat()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stack multiple DataFrames vertically or horizontally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pd.concat(sequence of DataFrames or Series, axis=0,join=’outer’,ignore_index=False,keys=None)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8203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merge()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combine multiple DataFrames based on matching columns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pd.merge(left, right, how=’inner’, on=None, left_index=False, right_index=False)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9903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join()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combine multiple </a:t>
                      </a:r>
                      <a:r>
                        <a:rPr lang="en-US" sz="1600" kern="100" dirty="0" err="1">
                          <a:effectLst/>
                        </a:rPr>
                        <a:t>DataFrames</a:t>
                      </a:r>
                      <a:r>
                        <a:rPr lang="en-US" sz="1600" kern="100" dirty="0">
                          <a:effectLst/>
                        </a:rPr>
                        <a:t> based on matching columns or indexes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df.join</a:t>
                      </a:r>
                      <a:r>
                        <a:rPr lang="en-US" sz="1600" kern="100" dirty="0">
                          <a:effectLst/>
                        </a:rPr>
                        <a:t>(</a:t>
                      </a:r>
                      <a:r>
                        <a:rPr lang="en-US" sz="1600" kern="100" dirty="0" err="1">
                          <a:effectLst/>
                        </a:rPr>
                        <a:t>other_df</a:t>
                      </a:r>
                      <a:r>
                        <a:rPr lang="en-US" sz="1600" kern="100" dirty="0">
                          <a:effectLst/>
                        </a:rPr>
                        <a:t>, on=None, how=’left’, </a:t>
                      </a:r>
                      <a:r>
                        <a:rPr lang="en-US" sz="1600" kern="100" dirty="0" err="1">
                          <a:effectLst/>
                        </a:rPr>
                        <a:t>lsuffix</a:t>
                      </a:r>
                      <a:r>
                        <a:rPr lang="en-US" sz="1600" kern="100" dirty="0">
                          <a:effectLst/>
                        </a:rPr>
                        <a:t>=’’, </a:t>
                      </a:r>
                      <a:r>
                        <a:rPr lang="en-US" sz="1600" kern="100" dirty="0" err="1">
                          <a:effectLst/>
                        </a:rPr>
                        <a:t>rsuffix</a:t>
                      </a:r>
                      <a:r>
                        <a:rPr lang="en-US" sz="1600" kern="100" dirty="0">
                          <a:effectLst/>
                        </a:rPr>
                        <a:t>=’’)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5377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65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43F0-46A2-C459-91AA-5EABC399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16D2E-4094-C1AE-F815-7693F3391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Reshaping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57291-DBE6-23B8-3313-E81EEC8A3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reshape a wide </a:t>
            </a:r>
            <a:r>
              <a:rPr lang="en-US" dirty="0" err="1"/>
              <a:t>DataFrame</a:t>
            </a:r>
            <a:r>
              <a:rPr lang="en-US" dirty="0"/>
              <a:t> to a long </a:t>
            </a:r>
            <a:r>
              <a:rPr lang="en-US" dirty="0" err="1"/>
              <a:t>DataFrame</a:t>
            </a:r>
            <a:r>
              <a:rPr lang="en-US" dirty="0"/>
              <a:t> or a long </a:t>
            </a:r>
            <a:r>
              <a:rPr lang="en-US" dirty="0" err="1"/>
              <a:t>DataFrame</a:t>
            </a:r>
            <a:r>
              <a:rPr lang="en-US" dirty="0"/>
              <a:t> to a wide </a:t>
            </a:r>
            <a:r>
              <a:rPr lang="en-US" dirty="0" err="1"/>
              <a:t>DataFrame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2C1ABC-F38C-FFA8-407E-2BEFD51BA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49936B-F43A-87C6-4B4B-28BAA13CA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156207"/>
              </p:ext>
            </p:extLst>
          </p:nvPr>
        </p:nvGraphicFramePr>
        <p:xfrm>
          <a:off x="1227239" y="2787336"/>
          <a:ext cx="9558748" cy="28786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5630">
                  <a:extLst>
                    <a:ext uri="{9D8B030D-6E8A-4147-A177-3AD203B41FA5}">
                      <a16:colId xmlns:a16="http://schemas.microsoft.com/office/drawing/2014/main" val="3174656687"/>
                    </a:ext>
                  </a:extLst>
                </a:gridCol>
                <a:gridCol w="7423118">
                  <a:extLst>
                    <a:ext uri="{9D8B030D-6E8A-4147-A177-3AD203B41FA5}">
                      <a16:colId xmlns:a16="http://schemas.microsoft.com/office/drawing/2014/main" val="3009425779"/>
                    </a:ext>
                  </a:extLst>
                </a:gridCol>
              </a:tblGrid>
              <a:tr h="2106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function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description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4283518"/>
                  </a:ext>
                </a:extLst>
              </a:tr>
              <a:tr h="7610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pivot_table()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Summarize and reshape data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df.pivot_table(values=None,index=None,columns=None,aggfunc=None)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5856227"/>
                  </a:ext>
                </a:extLst>
              </a:tr>
              <a:tr h="7610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melt()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Reshape a DataFrame from long format to wide format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pd.melt(df,id_vars=None,value_vars=None,var_name=None,value_name='value')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7630954"/>
                  </a:ext>
                </a:extLst>
              </a:tr>
              <a:tr h="10898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Stack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unstack()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allow </a:t>
                      </a:r>
                      <a:r>
                        <a:rPr lang="en-US" sz="1600" kern="100" dirty="0" err="1">
                          <a:effectLst/>
                        </a:rPr>
                        <a:t>DataFrames</a:t>
                      </a:r>
                      <a:r>
                        <a:rPr lang="en-US" sz="1600" kern="100" dirty="0">
                          <a:effectLst/>
                        </a:rPr>
                        <a:t> be reshaped with pivoting the levels of their indexes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df.stack</a:t>
                      </a:r>
                      <a:r>
                        <a:rPr lang="en-US" sz="1600" kern="100" dirty="0">
                          <a:effectLst/>
                        </a:rPr>
                        <a:t>(level=-1)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df.unstack</a:t>
                      </a:r>
                      <a:r>
                        <a:rPr lang="en-US" sz="1600" kern="100" dirty="0">
                          <a:effectLst/>
                        </a:rPr>
                        <a:t>(level=-1)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1486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43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39A66-1DAC-656A-8F0F-E9F6511B1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440F-9630-F60B-6DBD-E045280A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E6050-CB97-337B-9D87-6D52FDED2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series data: specialized date-time related objects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5A5C1C-90BD-7156-D741-7031BA0B8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0BC838-1072-0C99-43E7-091940D33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094548"/>
              </p:ext>
            </p:extLst>
          </p:nvPr>
        </p:nvGraphicFramePr>
        <p:xfrm>
          <a:off x="1167324" y="2384532"/>
          <a:ext cx="9707153" cy="33101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75721">
                  <a:extLst>
                    <a:ext uri="{9D8B030D-6E8A-4147-A177-3AD203B41FA5}">
                      <a16:colId xmlns:a16="http://schemas.microsoft.com/office/drawing/2014/main" val="876735595"/>
                    </a:ext>
                  </a:extLst>
                </a:gridCol>
                <a:gridCol w="7231432">
                  <a:extLst>
                    <a:ext uri="{9D8B030D-6E8A-4147-A177-3AD203B41FA5}">
                      <a16:colId xmlns:a16="http://schemas.microsoft.com/office/drawing/2014/main" val="597260558"/>
                    </a:ext>
                  </a:extLst>
                </a:gridCol>
              </a:tblGrid>
              <a:tr h="2416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function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description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6611304"/>
                  </a:ext>
                </a:extLst>
              </a:tr>
              <a:tr h="6188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DatetimeIndex()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Create index for time-based data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pd.DatetimeIndex(data,freq=None,tz=None)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9155648"/>
                  </a:ext>
                </a:extLst>
              </a:tr>
              <a:tr h="6188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datetime()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Create datetime object from datetime module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datetime.datetime(year,month,day,hour=0,minute=0,second=0)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7917523"/>
                  </a:ext>
                </a:extLst>
              </a:tr>
              <a:tr h="8730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date_range()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Create a DatetimeIndex object with the specified date range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pd.date_range(start=None,end=None,periods=None,freq='D',tz=None)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3562629"/>
                  </a:ext>
                </a:extLst>
              </a:tr>
              <a:tr h="8730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Grouper()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Create a Grouper object for </a:t>
                      </a:r>
                      <a:r>
                        <a:rPr lang="en-US" sz="1600" kern="100" dirty="0" err="1">
                          <a:effectLst/>
                        </a:rPr>
                        <a:t>groupby</a:t>
                      </a:r>
                      <a:r>
                        <a:rPr lang="en-US" sz="1600" kern="100" dirty="0">
                          <a:effectLst/>
                        </a:rPr>
                        <a:t>() method to do grouping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pd.Grouper</a:t>
                      </a:r>
                      <a:r>
                        <a:rPr lang="en-US" sz="1600" kern="100" dirty="0">
                          <a:effectLst/>
                        </a:rPr>
                        <a:t>(key=</a:t>
                      </a:r>
                      <a:r>
                        <a:rPr lang="en-US" sz="1600" kern="100" dirty="0" err="1">
                          <a:effectLst/>
                        </a:rPr>
                        <a:t>None,level</a:t>
                      </a:r>
                      <a:r>
                        <a:rPr lang="en-US" sz="1600" kern="100" dirty="0">
                          <a:effectLst/>
                        </a:rPr>
                        <a:t>=</a:t>
                      </a:r>
                      <a:r>
                        <a:rPr lang="en-US" sz="1600" kern="100" dirty="0" err="1">
                          <a:effectLst/>
                        </a:rPr>
                        <a:t>None,freq</a:t>
                      </a:r>
                      <a:r>
                        <a:rPr lang="en-US" sz="1600" kern="100" dirty="0">
                          <a:effectLst/>
                        </a:rPr>
                        <a:t>=</a:t>
                      </a:r>
                      <a:r>
                        <a:rPr lang="en-US" sz="1600" kern="100" dirty="0" err="1">
                          <a:effectLst/>
                        </a:rPr>
                        <a:t>None,axis</a:t>
                      </a:r>
                      <a:r>
                        <a:rPr lang="en-US" sz="1600" kern="100" dirty="0">
                          <a:effectLst/>
                        </a:rPr>
                        <a:t>=0,sort=False)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628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6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2D3FF-AC5F-2F75-87F3-D6520686E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B690-7BDC-39F1-7FA1-386F46F9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with File Input and Output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AC8C0-12A3-CE24-151E-F574A0F87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</a:t>
            </a:r>
            <a:r>
              <a:rPr lang="en-US" dirty="0" err="1"/>
              <a:t>DataFrames</a:t>
            </a:r>
            <a:r>
              <a:rPr lang="en-US" dirty="0"/>
              <a:t> from CSV files: </a:t>
            </a:r>
            <a:r>
              <a:rPr lang="en-US" dirty="0" err="1"/>
              <a:t>read_csv</a:t>
            </a:r>
            <a:r>
              <a:rPr lang="en-US" dirty="0"/>
              <a:t>() </a:t>
            </a:r>
          </a:p>
          <a:p>
            <a:r>
              <a:rPr lang="en-US" dirty="0"/>
              <a:t>writing data to a CSV file: </a:t>
            </a:r>
            <a:r>
              <a:rPr lang="en-US" dirty="0" err="1"/>
              <a:t>to_csv</a:t>
            </a:r>
            <a:r>
              <a:rPr lang="en-US" dirty="0"/>
              <a:t>()</a:t>
            </a:r>
          </a:p>
          <a:p>
            <a:r>
              <a:rPr lang="en-US" dirty="0"/>
              <a:t>reading from Excel files: </a:t>
            </a:r>
            <a:r>
              <a:rPr lang="en-US" dirty="0" err="1"/>
              <a:t>read_excel</a:t>
            </a:r>
            <a:r>
              <a:rPr lang="en-US" dirty="0"/>
              <a:t>()</a:t>
            </a:r>
          </a:p>
          <a:p>
            <a:r>
              <a:rPr lang="en-US" dirty="0"/>
              <a:t>writing to Excel files: </a:t>
            </a:r>
            <a:r>
              <a:rPr lang="en-US" dirty="0" err="1"/>
              <a:t>to_excel</a:t>
            </a:r>
            <a:r>
              <a:rPr lang="en-US" dirty="0"/>
              <a:t>() </a:t>
            </a:r>
          </a:p>
          <a:p>
            <a:r>
              <a:rPr lang="en-US" dirty="0"/>
              <a:t>read data from database file: </a:t>
            </a:r>
            <a:r>
              <a:rPr lang="en-US" dirty="0" err="1"/>
              <a:t>read_sql</a:t>
            </a:r>
            <a:r>
              <a:rPr lang="en-US" dirty="0"/>
              <a:t>()</a:t>
            </a:r>
          </a:p>
          <a:p>
            <a:r>
              <a:rPr lang="en-US" dirty="0"/>
              <a:t>write data to database file: </a:t>
            </a:r>
            <a:r>
              <a:rPr lang="en-US" dirty="0" err="1"/>
              <a:t>to_sql</a:t>
            </a:r>
            <a:r>
              <a:rPr lang="en-US" dirty="0"/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38A641-DABE-A8E5-E069-9A9C5313A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481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574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Data Analytics Using Python Dr. Ziping Liu  </vt:lpstr>
      <vt:lpstr>https://he.kendallhunt.com/product/data-analytics-using-python    </vt:lpstr>
      <vt:lpstr>Grouping and aggregating data</vt:lpstr>
      <vt:lpstr>Merging and Joining Dataframes</vt:lpstr>
      <vt:lpstr>Reshaping DataFrames</vt:lpstr>
      <vt:lpstr>Working with Time Series</vt:lpstr>
      <vt:lpstr>DataFrame with File Input and Output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125</cp:revision>
  <dcterms:created xsi:type="dcterms:W3CDTF">2025-01-08T14:48:28Z</dcterms:created>
  <dcterms:modified xsi:type="dcterms:W3CDTF">2025-01-10T16:44:00Z</dcterms:modified>
</cp:coreProperties>
</file>