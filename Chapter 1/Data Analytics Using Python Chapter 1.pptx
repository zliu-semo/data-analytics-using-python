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91" r:id="rId3"/>
    <p:sldId id="258" r:id="rId4"/>
    <p:sldId id="260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3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23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FDBE90D-6443-45D5-AB73-6A7D0CBCCF85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0D21F2D-1907-45F1-9B93-BB1762A94325}" type="pres">
      <dgm:prSet presAssocID="{2FDBE90D-6443-45D5-AB73-6A7D0CBCCF85}" presName="matrix" presStyleCnt="0">
        <dgm:presLayoutVars>
          <dgm:chMax val="1"/>
          <dgm:dir/>
          <dgm:resizeHandles val="exact"/>
        </dgm:presLayoutVars>
      </dgm:prSet>
      <dgm:spPr/>
    </dgm:pt>
  </dgm:ptLst>
  <dgm:cxnLst>
    <dgm:cxn modelId="{0ED6465E-DA6A-4410-A68E-A5C5BDC5C01F}" type="presOf" srcId="{2FDBE90D-6443-45D5-AB73-6A7D0CBCCF85}" destId="{E0D21F2D-1907-45F1-9B93-BB1762A94325}" srcOrd="0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599E3-8D9F-3F5B-0308-7F5329DEA5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A90651-91C2-BA19-35EC-A04BA9FD11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01DD5A-2112-6235-85DC-B1B299E85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BA9076-7565-CDA6-EDBA-EC2961545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EAC44E-B761-B97D-C746-ECAB6BB96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529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9E6AC-BA0C-3CB0-A332-C14B281CD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267869-5FC6-53F4-7BC6-5136E5507D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CB6CE0-9019-D821-C2F3-C78CF2C5C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96E9F-D2BE-3C4A-D26A-F7C5A5D11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A8CC43-53EB-84ED-63B3-9A3403CEE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431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8D887-4D96-118D-73A2-1C895A67B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1B085A-425F-FD3C-BC71-9A29495F90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74329D-6798-F07C-D487-6101B49A2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3F25C4-C66D-4341-42FF-9C7C602AD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18A81-8750-B962-F8C6-6DA1403A7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004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CD042-266E-A796-1A36-96B70B229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336A0C-4A74-A126-7A99-F06853058B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5CC16C-9EAC-FE9F-396B-0241F79620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39D6F5-EFBE-6874-ED24-0A51C2684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D1EDD0-9CCB-FAD1-C4F2-4E43F03FD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2613EA-8DBD-A257-A690-042711A7B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831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4ACE6-F826-5B66-2371-F2D502554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D56492-1758-D69A-3E6F-15261B003F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BD8565-447E-7044-9CE0-673F60DC2F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3E43F8-3C42-54CA-4E92-F6A3940F26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A97A32-71E6-549D-B127-599697995C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8A95A3-01EC-6EF0-5031-5E525E62D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1/10/2025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274BE6-33F4-D96C-2405-87AEFEDCC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FB891F-BE7B-C13D-681A-2C793B09D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0956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75743-E60C-78E3-4219-5712DC704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6DF502-5BB8-D822-01D7-20936C34E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1/10/2025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55FAD0-C9E9-80E2-6DFA-0BC166AE6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4DCEC0-8357-5413-2403-9992319E8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388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D9867B-72CF-0811-E65E-1F1A0A928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1/10/2025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848B39-123B-5C1E-0B64-6FC3E2859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A3C226-40C4-ED8E-9C41-87B4E082F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0281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2E48C-0492-969D-5358-C6C95D650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47FBA1-E0E8-57D0-829D-823FB90F41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A7BB11-40DB-E7BF-59DE-E5088FC55B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79E303-25F7-D260-0C1E-1C5D9A968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87058F-FFC4-BC2B-7574-A9DB1D7F5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A0D607-D6DB-9EBE-6590-0B6F3CFD7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458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CB2A1-BC34-EA9A-859D-059A7A66E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B26546-3C25-49A1-3B36-715D1745DB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7F8061-0760-C9C3-320B-EAD574AF2E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F327B0-28E5-1E67-61B0-C32CC09E5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B7E62B-ABB9-605C-5E4E-9BF3E4FF7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2D59CD-E644-8A47-6C41-35307D327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657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41B45-B749-84F1-7E0D-232A8B6C5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325F5B-9932-7B22-3C88-08AD57BC21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C74961-E805-FB33-5A16-E0CFA3716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59018F-11E0-CA53-A68B-C731CC509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D87CFC-CA41-1297-94D3-F89EC65DA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380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1B2452-1456-A52C-F8D5-3234E07ED5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D70949-F825-32B2-260B-674118F1E7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2E993F-73E9-E7AE-2ED3-3D288F24A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306DBD-D9C7-84D2-27D0-26FD25683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178735-00EC-3CA0-1B73-68A025E39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262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BA9FD8-0BA2-A466-EEFA-529DB2516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8B1EC5-F665-6631-6BF9-22FB9539D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F9369-7ED6-38A0-734A-DD110F926D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E8669A-962F-4ACD-AB1E-07597AA7AD56}" type="datetimeFigureOut">
              <a:rPr lang="en-US" smtClean="0"/>
              <a:t>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CB8940-D37A-E1F1-4E91-FF221089D6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686E2C-CD23-0AB2-1973-F43BEF1BEF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320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em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70A1295-61BC-4214-AA3E-D39667302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F9090E-B393-B65A-FB99-54955B954F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672" y="5116529"/>
            <a:ext cx="10592174" cy="1000655"/>
          </a:xfrm>
        </p:spPr>
        <p:txBody>
          <a:bodyPr anchor="t">
            <a:normAutofit fontScale="90000"/>
          </a:bodyPr>
          <a:lstStyle/>
          <a:p>
            <a:pPr algn="l"/>
            <a:r>
              <a:rPr lang="en-US" sz="4000" dirty="0">
                <a:solidFill>
                  <a:schemeClr val="tx2"/>
                </a:solidFill>
              </a:rPr>
              <a:t>Data Analytics Using Python</a:t>
            </a:r>
            <a:br>
              <a:rPr lang="en-US" sz="4000" dirty="0">
                <a:solidFill>
                  <a:schemeClr val="tx2"/>
                </a:solidFill>
              </a:rPr>
            </a:br>
            <a:r>
              <a:rPr lang="en-US" sz="4000" dirty="0">
                <a:solidFill>
                  <a:schemeClr val="tx2"/>
                </a:solidFill>
              </a:rPr>
              <a:t>Dr. Ziping Liu</a:t>
            </a:r>
            <a:br>
              <a:rPr lang="en-US" sz="4000" dirty="0">
                <a:solidFill>
                  <a:schemeClr val="tx2"/>
                </a:solidFill>
              </a:rPr>
            </a:br>
            <a:br>
              <a:rPr lang="en-US" sz="4000" dirty="0">
                <a:solidFill>
                  <a:schemeClr val="tx2"/>
                </a:solidFill>
              </a:rPr>
            </a:br>
            <a:endParaRPr lang="en-US" sz="4000" dirty="0">
              <a:solidFill>
                <a:schemeClr val="tx2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8AF3EB-4A00-F339-DB94-667C1265C9B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655" r="18623" b="1"/>
          <a:stretch/>
        </p:blipFill>
        <p:spPr>
          <a:xfrm>
            <a:off x="-1" y="10"/>
            <a:ext cx="12192001" cy="4201449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0B139475-2B26-4CA9-9413-DE741E49F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2941813"/>
            <a:ext cx="12188952" cy="1828800"/>
            <a:chOff x="-305" y="3144820"/>
            <a:chExt cx="9182100" cy="1551136"/>
          </a:xfrm>
        </p:grpSpPr>
        <p:sp useBgFill="1">
          <p:nvSpPr>
            <p:cNvPr id="13" name="Freeform: Shape 12">
              <a:extLst>
                <a:ext uri="{FF2B5EF4-FFF2-40B4-BE49-F238E27FC236}">
                  <a16:creationId xmlns:a16="http://schemas.microsoft.com/office/drawing/2014/main" id="{16C6BF63-6277-4C39-BE5D-3C341662C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EA3BAD9-C130-4A9C-9086-20D132A6C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587D38B-9E07-4A8B-B285-5FEBF6A60D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EF4DD4B-217B-4346-A2B8-432793639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D050330C-0FBB-F582-ADD0-61D00E5ADF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672" y="4580785"/>
            <a:ext cx="9416898" cy="484374"/>
          </a:xfrm>
        </p:spPr>
        <p:txBody>
          <a:bodyPr anchor="b">
            <a:normAutofit/>
          </a:bodyPr>
          <a:lstStyle/>
          <a:p>
            <a:pPr algn="l"/>
            <a:r>
              <a:rPr lang="en-US" sz="2000" dirty="0">
                <a:solidFill>
                  <a:schemeClr val="tx2"/>
                </a:solidFill>
              </a:rPr>
              <a:t>Chapter 1 Python Programming Language Review</a:t>
            </a:r>
          </a:p>
        </p:txBody>
      </p:sp>
    </p:spTree>
    <p:extLst>
      <p:ext uri="{BB962C8B-B14F-4D97-AF65-F5344CB8AC3E}">
        <p14:creationId xmlns:p14="http://schemas.microsoft.com/office/powerpoint/2010/main" val="42781890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896033-8AA5-2885-8A12-AA5F29FF6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FD6E889-BC24-B96F-CBEB-0FF9A0050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F6B718-1201-FCCB-494C-7FB84EDFD1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672" y="5116529"/>
            <a:ext cx="10592174" cy="1000655"/>
          </a:xfrm>
        </p:spPr>
        <p:txBody>
          <a:bodyPr anchor="t">
            <a:normAutofit fontScale="90000"/>
          </a:bodyPr>
          <a:lstStyle/>
          <a:p>
            <a:pPr algn="l"/>
            <a:r>
              <a:rPr lang="en-US" sz="3100" dirty="0">
                <a:solidFill>
                  <a:schemeClr val="tx2"/>
                </a:solidFill>
              </a:rPr>
              <a:t>https://he.kendallhunt.com/product/data-analytics-using-python</a:t>
            </a:r>
            <a:br>
              <a:rPr lang="en-US" sz="4000" dirty="0">
                <a:solidFill>
                  <a:schemeClr val="tx2"/>
                </a:solidFill>
              </a:rPr>
            </a:br>
            <a:br>
              <a:rPr lang="en-US" sz="4000" dirty="0">
                <a:solidFill>
                  <a:schemeClr val="tx2"/>
                </a:solidFill>
              </a:rPr>
            </a:br>
            <a:endParaRPr lang="en-US" sz="4000" dirty="0">
              <a:solidFill>
                <a:schemeClr val="tx2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CEFE79-0253-2A0F-CD3A-67C36ADD509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655" r="18623" b="1"/>
          <a:stretch/>
        </p:blipFill>
        <p:spPr>
          <a:xfrm>
            <a:off x="-1" y="10"/>
            <a:ext cx="12192001" cy="4201449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D57B2523-2541-5764-EC90-36C9143582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2941813"/>
            <a:ext cx="12188952" cy="1828800"/>
            <a:chOff x="-305" y="3144820"/>
            <a:chExt cx="9182100" cy="1551136"/>
          </a:xfrm>
        </p:grpSpPr>
        <p:sp useBgFill="1">
          <p:nvSpPr>
            <p:cNvPr id="13" name="Freeform: Shape 12">
              <a:extLst>
                <a:ext uri="{FF2B5EF4-FFF2-40B4-BE49-F238E27FC236}">
                  <a16:creationId xmlns:a16="http://schemas.microsoft.com/office/drawing/2014/main" id="{1626F7A4-AF97-5721-2FBC-DC51ABD187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76D616C4-3EB8-83C3-D5EA-EDD6D53261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3FBEF02-829B-F27F-5075-FE4FE4687D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DE05A24-3CB0-52C9-F1CC-88A683B9F5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CDE45157-24D2-0435-DA0B-8028D52FCC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672" y="4580785"/>
            <a:ext cx="9416898" cy="484374"/>
          </a:xfrm>
        </p:spPr>
        <p:txBody>
          <a:bodyPr anchor="b">
            <a:normAutofit/>
          </a:bodyPr>
          <a:lstStyle/>
          <a:p>
            <a:pPr algn="l"/>
            <a:r>
              <a:rPr lang="en-US" sz="2000" dirty="0">
                <a:solidFill>
                  <a:schemeClr val="tx2"/>
                </a:solidFill>
              </a:rPr>
              <a:t>Chapter 1 Python Programming Language Review</a:t>
            </a:r>
          </a:p>
        </p:txBody>
      </p:sp>
    </p:spTree>
    <p:extLst>
      <p:ext uri="{BB962C8B-B14F-4D97-AF65-F5344CB8AC3E}">
        <p14:creationId xmlns:p14="http://schemas.microsoft.com/office/powerpoint/2010/main" val="33783408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9BF0A-0571-3AE4-329B-7FDD247C4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Advantages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984F35-20A0-78B6-C0D7-3446E8B5E5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5891173"/>
            <a:ext cx="10515600" cy="571580"/>
          </a:xfrm>
          <a:prstGeom prst="rect">
            <a:avLst/>
          </a:prstGeom>
        </p:spPr>
      </p:pic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CA9A291D-AFBA-B921-9197-A2EF55DD29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6969205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73B51906-99F1-4B60-56D1-905E24A71BB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17100" y="1366201"/>
            <a:ext cx="6865491" cy="42164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558A932-A150-AAEB-AF28-D9156CC23D7C}"/>
              </a:ext>
            </a:extLst>
          </p:cNvPr>
          <p:cNvSpPr txBox="1"/>
          <p:nvPr/>
        </p:nvSpPr>
        <p:spPr>
          <a:xfrm>
            <a:off x="906162" y="1622855"/>
            <a:ext cx="511569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Popular programming language data science and artificial intelligence</a:t>
            </a:r>
          </a:p>
          <a:p>
            <a:pPr marL="285750" indent="-285750">
              <a:buFontTx/>
              <a:buChar char="-"/>
            </a:pPr>
            <a:r>
              <a:rPr lang="en-US" dirty="0"/>
              <a:t>offers the advantages of simplicity, a rich ecosystem of libraries, a large open-source community, and scalability</a:t>
            </a:r>
          </a:p>
          <a:p>
            <a:pPr marL="285750" indent="-285750">
              <a:buFontTx/>
              <a:buChar char="-"/>
            </a:pPr>
            <a:r>
              <a:rPr lang="en-US" dirty="0"/>
              <a:t>Unlike compiled languages such as C++,Java</a:t>
            </a:r>
          </a:p>
          <a:p>
            <a:pPr marL="285750" indent="-285750">
              <a:buFontTx/>
              <a:buChar char="-"/>
            </a:pPr>
            <a:r>
              <a:rPr lang="en-US" dirty="0"/>
              <a:t>is an interpreted language, doesn't need to be translated into machine code before running. code executed line by line by an interpreter at runtime </a:t>
            </a:r>
          </a:p>
          <a:p>
            <a:pPr marL="285750" indent="-285750">
              <a:buFontTx/>
              <a:buChar char="-"/>
            </a:pPr>
            <a:r>
              <a:rPr lang="en-US" dirty="0"/>
              <a:t>has characteristics of a scripting language, being easy to learn and code, suitable for automating tasks and building prototypes. </a:t>
            </a:r>
          </a:p>
        </p:txBody>
      </p:sp>
    </p:spTree>
    <p:extLst>
      <p:ext uri="{BB962C8B-B14F-4D97-AF65-F5344CB8AC3E}">
        <p14:creationId xmlns:p14="http://schemas.microsoft.com/office/powerpoint/2010/main" val="27173119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0A379-4975-80DB-8A99-0A8C6BBC9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Getting Started with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BADCC9-9A6A-D1F9-2528-5D4ED8E98C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Installation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/>
              <a:t>Install Python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/>
              <a:t>Install Anaconda</a:t>
            </a:r>
          </a:p>
          <a:p>
            <a:r>
              <a:rPr lang="en-US" dirty="0"/>
              <a:t>Integrated development environments (IDEs)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/>
              <a:t>PyCharm: A Python IDE for data science and web development.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/>
              <a:t>Visual Studio Code: A code editor developed by Microsoft for every major programming language.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/>
              <a:t>Spyder: A free and open-source scientific environment written in Python, for Python.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 err="1">
                <a:highlight>
                  <a:srgbClr val="FFFF00"/>
                </a:highlight>
              </a:rPr>
              <a:t>Jupyter</a:t>
            </a:r>
            <a:r>
              <a:rPr lang="en-US" sz="2000" dirty="0">
                <a:highlight>
                  <a:srgbClr val="FFFF00"/>
                </a:highlight>
              </a:rPr>
              <a:t> Notebook</a:t>
            </a:r>
            <a:r>
              <a:rPr lang="en-US" sz="2000" dirty="0"/>
              <a:t>: A web application for creating and sharing computational documents. </a:t>
            </a:r>
          </a:p>
          <a:p>
            <a:r>
              <a:rPr lang="en-US" dirty="0">
                <a:highlight>
                  <a:srgbClr val="FFFF00"/>
                </a:highlight>
              </a:rPr>
              <a:t>Google </a:t>
            </a:r>
            <a:r>
              <a:rPr lang="en-US" dirty="0" err="1">
                <a:highlight>
                  <a:srgbClr val="FFFF00"/>
                </a:highlight>
              </a:rPr>
              <a:t>Colab</a:t>
            </a:r>
            <a:r>
              <a:rPr lang="en-US" dirty="0"/>
              <a:t>: web-based, no need to install Python and </a:t>
            </a:r>
            <a:r>
              <a:rPr lang="en-US" dirty="0" err="1"/>
              <a:t>Jupyter</a:t>
            </a:r>
            <a:r>
              <a:rPr lang="en-US" dirty="0"/>
              <a:t> Notebook locally</a:t>
            </a:r>
          </a:p>
          <a:p>
            <a:pPr lvl="1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D4AA88-5BCC-84A9-7F2A-E7FED02815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44" y="6028411"/>
            <a:ext cx="10516511" cy="56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1152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F10ED-AECE-10BB-48CC-88F36A13F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3B884-72D2-4A32-C106-AEE33BE91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FC9401-4FED-2721-C525-3D5076DEB0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298" y="1438447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Variables and Data Types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Variables are used to store data.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Python variables are not explicitly typed.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Python data types are associated with the objects that the variables reference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94B07C-A60A-F75D-7AE4-76C207BB72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44" y="6028411"/>
            <a:ext cx="10516511" cy="5669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0557BA6-6BFC-94BF-530F-829D02F053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6166" y="3230028"/>
            <a:ext cx="5375769" cy="110711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93E234F-92B4-D7E8-9428-DD3802781D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6166" y="4472099"/>
            <a:ext cx="5742930" cy="1182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7071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75E08-25F9-D8B4-9368-84CA3256A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34F05-E38B-9AFD-A5F0-F9BF88CF5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D8CA83-14C4-7633-7D08-567F7ACCB4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298" y="1438447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Python numbers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include integers and floats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Integers: whole numbers without decimal points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Floats: numbers with decimal points</a:t>
            </a:r>
          </a:p>
          <a:p>
            <a:endParaRPr lang="en-US" dirty="0"/>
          </a:p>
          <a:p>
            <a:endParaRPr lang="en-US" dirty="0"/>
          </a:p>
          <a:p>
            <a:pPr marL="228600" lvl="1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400" kern="100" dirty="0"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en-US" sz="14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the running result is: </a:t>
            </a:r>
            <a:r>
              <a:rPr lang="en-US" sz="14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int_var</a:t>
            </a:r>
            <a:r>
              <a:rPr lang="en-US" sz="14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 = 10, </a:t>
            </a:r>
            <a:r>
              <a:rPr lang="en-US" sz="14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float_var</a:t>
            </a:r>
            <a:r>
              <a:rPr lang="en-US" sz="14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 = 10.00</a:t>
            </a:r>
          </a:p>
          <a:p>
            <a:pPr marL="228600" lvl="1" indent="0">
              <a:lnSpc>
                <a:spcPct val="115000"/>
              </a:lnSpc>
              <a:spcAft>
                <a:spcPts val="800"/>
              </a:spcAft>
              <a:buNone/>
            </a:pPr>
            <a:endParaRPr lang="en-US" sz="14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7724AD-B096-2673-2722-8E6DCC9A38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44" y="6028411"/>
            <a:ext cx="10516511" cy="566977"/>
          </a:xfrm>
          <a:prstGeom prst="rect">
            <a:avLst/>
          </a:prstGeom>
        </p:spPr>
      </p:pic>
      <p:sp>
        <p:nvSpPr>
          <p:cNvPr id="9" name="Text Box 2">
            <a:extLst>
              <a:ext uri="{FF2B5EF4-FFF2-40B4-BE49-F238E27FC236}">
                <a16:creationId xmlns:a16="http://schemas.microsoft.com/office/drawing/2014/main" id="{56BA1508-3900-CC88-561B-DC665B85DE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0845" y="3109999"/>
            <a:ext cx="8796981" cy="830997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  <a:headEnd/>
            <a:tailEnd/>
          </a:ln>
          <a:effectLst/>
        </p:spPr>
        <p:txBody>
          <a:bodyPr rot="0" vert="horz" wrap="square" lIns="91440" tIns="45720" rIns="91440" bIns="45720" anchor="t" anchorCtr="0">
            <a:spAutoFit/>
          </a:bodyPr>
          <a:lstStyle/>
          <a:p>
            <a:pPr marL="0" marR="0"/>
            <a:r>
              <a:rPr lang="en-US" sz="16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int_var</a:t>
            </a:r>
            <a:r>
              <a:rPr lang="en-US" sz="16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 = 10</a:t>
            </a:r>
            <a:endParaRPr lang="en-US" sz="16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6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float_var</a:t>
            </a:r>
            <a:r>
              <a:rPr lang="en-US" sz="16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 = 9.99999</a:t>
            </a:r>
            <a:endParaRPr lang="en-US" sz="16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6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print(</a:t>
            </a:r>
            <a:r>
              <a:rPr lang="en-US" sz="16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f"int_var</a:t>
            </a:r>
            <a:r>
              <a:rPr lang="en-US" sz="16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 = {</a:t>
            </a:r>
            <a:r>
              <a:rPr lang="en-US" sz="16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int_var</a:t>
            </a:r>
            <a:r>
              <a:rPr lang="en-US" sz="16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}, </a:t>
            </a:r>
            <a:r>
              <a:rPr lang="en-US" sz="16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float_var</a:t>
            </a:r>
            <a:r>
              <a:rPr lang="en-US" sz="16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 = {float_var:.2f}")</a:t>
            </a:r>
            <a:endParaRPr lang="en-US" sz="16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70724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44ABA-2536-452A-B8CF-6BB831094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9F56A-BFFE-8DC6-2BB1-ABF08C84C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E025DE-FAF2-C02C-5225-C4803A071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298" y="1438447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Python Strings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textual data enclosed in single, double, or triple quotes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triple quotes allowing for multi-line strings or docstrings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the running result is:</a:t>
            </a:r>
          </a:p>
          <a:p>
            <a:pPr marL="457200" lvl="1" indent="0">
              <a:buNone/>
            </a:pP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one_quote_var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hello, world</a:t>
            </a:r>
          </a:p>
          <a:p>
            <a:pPr marL="457200" lvl="1" indent="0">
              <a:buNone/>
            </a:pP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two_quote_var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hello, world</a:t>
            </a:r>
          </a:p>
          <a:p>
            <a:pPr marL="457200" lvl="1" indent="0">
              <a:buNone/>
            </a:pP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three_quote_var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hello</a:t>
            </a:r>
          </a:p>
          <a:p>
            <a:pPr marL="457200" lvl="1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world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5C7632-3935-B774-7628-5E615F27FC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44" y="6028411"/>
            <a:ext cx="10516511" cy="566977"/>
          </a:xfrm>
          <a:prstGeom prst="rect">
            <a:avLst/>
          </a:prstGeom>
        </p:spPr>
      </p:pic>
      <p:sp>
        <p:nvSpPr>
          <p:cNvPr id="5" name="Text Box 2">
            <a:extLst>
              <a:ext uri="{FF2B5EF4-FFF2-40B4-BE49-F238E27FC236}">
                <a16:creationId xmlns:a16="http://schemas.microsoft.com/office/drawing/2014/main" id="{5C5115B5-3826-81DC-1CBE-FE513C054C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7892" y="2596817"/>
            <a:ext cx="10010006" cy="156966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  <a:headEnd/>
            <a:tailEnd/>
          </a:ln>
          <a:effectLst/>
        </p:spPr>
        <p:txBody>
          <a:bodyPr rot="0" vert="horz" wrap="square" lIns="91440" tIns="45720" rIns="91440" bIns="45720" anchor="t" anchorCtr="0">
            <a:spAutoFit/>
          </a:bodyPr>
          <a:lstStyle/>
          <a:p>
            <a:pPr marL="0" marR="0"/>
            <a:r>
              <a:rPr lang="en-US" sz="16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one_quote_var</a:t>
            </a:r>
            <a:r>
              <a:rPr lang="en-US" sz="16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 = 'hello, world'</a:t>
            </a:r>
            <a:endParaRPr lang="en-US" sz="16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6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two_quote_var</a:t>
            </a:r>
            <a:r>
              <a:rPr lang="en-US" sz="16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 = "hello, world"</a:t>
            </a:r>
            <a:endParaRPr lang="en-US" sz="16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6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three_quote_var</a:t>
            </a:r>
            <a:r>
              <a:rPr lang="en-US" sz="16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 = '''hello</a:t>
            </a:r>
            <a:endParaRPr lang="en-US" sz="16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6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                  world'''</a:t>
            </a:r>
            <a:endParaRPr lang="en-US" sz="16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6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print(</a:t>
            </a:r>
            <a:r>
              <a:rPr lang="en-US" sz="16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f"one_quote_var</a:t>
            </a:r>
            <a:r>
              <a:rPr lang="en-US" sz="16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 = {</a:t>
            </a:r>
            <a:r>
              <a:rPr lang="en-US" sz="16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one_quote_var</a:t>
            </a:r>
            <a:r>
              <a:rPr lang="en-US" sz="16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}\</a:t>
            </a:r>
            <a:r>
              <a:rPr lang="en-US" sz="16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ntwo_quote_var</a:t>
            </a:r>
            <a:r>
              <a:rPr lang="en-US" sz="16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 = {</a:t>
            </a:r>
            <a:r>
              <a:rPr lang="en-US" sz="16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two_quote_var</a:t>
            </a:r>
            <a:r>
              <a:rPr lang="en-US" sz="16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}\</a:t>
            </a:r>
            <a:r>
              <a:rPr lang="en-US" sz="16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nthree_quote_var</a:t>
            </a:r>
            <a:r>
              <a:rPr lang="en-US" sz="16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 = {</a:t>
            </a:r>
            <a:r>
              <a:rPr lang="en-US" sz="16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three_quote_var</a:t>
            </a:r>
            <a:r>
              <a:rPr lang="en-US" sz="16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}")</a:t>
            </a:r>
            <a:endParaRPr lang="en-US" sz="16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26574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03884-8345-11B2-82A8-39148C6B1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59A21-0EEA-5EE9-EDF3-CFC93DF9A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791CE-36D4-4CA5-F5F1-A1F367688B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298" y="1438447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Python objects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include collections of elements, such as Lists, Tuples, Dictionaries and Sets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44D439-44C7-00AB-C8A3-800FA4B952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44" y="6028411"/>
            <a:ext cx="10516511" cy="56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6739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770B82-3FB6-6E5C-D6F3-DAA5DBE38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93158-962A-4E17-1C26-3741F39F4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FFCE9D-F574-5652-9FCE-3B949A00D4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298" y="1438447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Python Lists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ordered collections of elements and elements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can be any data types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can store heterogeneous collections of data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can be created with brackets, and elements are separated by commas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mutable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Exercise: use other approaches to create </a:t>
            </a:r>
            <a:r>
              <a:rPr lang="en-US" dirty="0" err="1"/>
              <a:t>var_list</a:t>
            </a:r>
            <a:r>
              <a:rPr lang="en-US" dirty="0"/>
              <a:t>, update one item in the list, remove one item from the list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4300D3-045D-0AE8-5337-D579D89AE8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44" y="6028411"/>
            <a:ext cx="10516511" cy="566977"/>
          </a:xfrm>
          <a:prstGeom prst="rect">
            <a:avLst/>
          </a:prstGeom>
        </p:spPr>
      </p:pic>
      <p:sp>
        <p:nvSpPr>
          <p:cNvPr id="6" name="Text Box 2">
            <a:extLst>
              <a:ext uri="{FF2B5EF4-FFF2-40B4-BE49-F238E27FC236}">
                <a16:creationId xmlns:a16="http://schemas.microsoft.com/office/drawing/2014/main" id="{3E6CF648-7B74-3D84-699E-222D04B97D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7322" y="3549734"/>
            <a:ext cx="6358581" cy="1169551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  <a:headEnd/>
            <a:tailEnd/>
          </a:ln>
          <a:effectLst/>
        </p:spPr>
        <p:txBody>
          <a:bodyPr rot="0" vert="horz" wrap="square" lIns="91440" tIns="45720" rIns="91440" bIns="45720" anchor="t" anchorCtr="0">
            <a:spAutoFit/>
          </a:bodyPr>
          <a:lstStyle/>
          <a:p>
            <a:pPr marL="0" marR="0"/>
            <a:r>
              <a:rPr lang="en-US" sz="14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var_list</a:t>
            </a:r>
            <a:r>
              <a:rPr lang="en-US" sz="14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 = [10, "hello", 9.99, True, [1, 2, 3], {"language": "Python"}]</a:t>
            </a:r>
            <a:endParaRPr lang="en-US" sz="14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4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print("before add a new item, </a:t>
            </a:r>
            <a:r>
              <a:rPr lang="en-US" sz="14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var_list</a:t>
            </a:r>
            <a:r>
              <a:rPr lang="en-US" sz="14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: ", </a:t>
            </a:r>
            <a:r>
              <a:rPr lang="en-US" sz="14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var_list</a:t>
            </a:r>
            <a:r>
              <a:rPr lang="en-US" sz="14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)</a:t>
            </a:r>
            <a:endParaRPr lang="en-US" sz="14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4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var_list.append</a:t>
            </a:r>
            <a:r>
              <a:rPr lang="en-US" sz="14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(['new', 'item'])</a:t>
            </a:r>
            <a:endParaRPr lang="en-US" sz="14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4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print("after add a new item, </a:t>
            </a:r>
            <a:r>
              <a:rPr lang="en-US" sz="14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var_list</a:t>
            </a:r>
            <a:r>
              <a:rPr lang="en-US" sz="14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: ", </a:t>
            </a:r>
            <a:r>
              <a:rPr lang="en-US" sz="14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var_list</a:t>
            </a:r>
            <a:r>
              <a:rPr lang="en-US" sz="14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)</a:t>
            </a:r>
            <a:endParaRPr lang="en-US" sz="14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01196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C24CF-759C-5FAD-430E-15FBA1AAD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1603F-B473-240C-A855-471BC67BD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520C20-4871-6CB8-186A-57AAA3077F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298" y="1438447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Python tuples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ordered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Immutable: cannot add new items to them or remove existing ones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can store heterogeneous collections of data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can be created with parentheses (), and elements are separated by commas</a:t>
            </a:r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  <a:p>
            <a:r>
              <a:rPr lang="en-US" dirty="0"/>
              <a:t>Exercise: use other approaches to create </a:t>
            </a:r>
            <a:r>
              <a:rPr lang="en-US" dirty="0" err="1"/>
              <a:t>var_tuple</a:t>
            </a:r>
            <a:r>
              <a:rPr lang="en-US" dirty="0"/>
              <a:t>, output one of the items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33B0F4-095C-3473-BCCB-6E0C9CB989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44" y="6028411"/>
            <a:ext cx="10516511" cy="566977"/>
          </a:xfrm>
          <a:prstGeom prst="rect">
            <a:avLst/>
          </a:prstGeom>
        </p:spPr>
      </p:pic>
      <p:sp>
        <p:nvSpPr>
          <p:cNvPr id="5" name="Text Box 2">
            <a:extLst>
              <a:ext uri="{FF2B5EF4-FFF2-40B4-BE49-F238E27FC236}">
                <a16:creationId xmlns:a16="http://schemas.microsoft.com/office/drawing/2014/main" id="{7EC018E3-09A7-1CA1-9907-FFD7C0D977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5778" y="3913797"/>
            <a:ext cx="9029184" cy="649409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  <a:headEnd/>
            <a:tailEnd/>
          </a:ln>
          <a:effectLst/>
        </p:spPr>
        <p:txBody>
          <a:bodyPr rot="0" vert="horz" wrap="square" lIns="91440" tIns="45720" rIns="91440" bIns="45720" anchor="t" anchorCtr="0">
            <a:spAutoFit/>
          </a:bodyPr>
          <a:lstStyle/>
          <a:p>
            <a:pPr marL="0" marR="0">
              <a:lnSpc>
                <a:spcPct val="115000"/>
              </a:lnSpc>
            </a:pPr>
            <a:r>
              <a:rPr lang="en-US" sz="16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var_tuple</a:t>
            </a:r>
            <a:r>
              <a:rPr lang="en-US" sz="16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 = (10, "hello", 9.99, True, [1, 2, 3], {"language": "Python"})</a:t>
            </a:r>
            <a:endParaRPr lang="en-US" sz="16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</a:pPr>
            <a:r>
              <a:rPr lang="en-US" sz="16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print("</a:t>
            </a:r>
            <a:r>
              <a:rPr lang="en-US" sz="16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var_tuple</a:t>
            </a:r>
            <a:r>
              <a:rPr lang="en-US" sz="16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: ", </a:t>
            </a:r>
            <a:r>
              <a:rPr lang="en-US" sz="16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var_tuple</a:t>
            </a:r>
            <a:r>
              <a:rPr lang="en-US" sz="16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)</a:t>
            </a:r>
            <a:endParaRPr lang="en-US" sz="16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66627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33556-E234-DE6E-A82B-BC743C686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0275E-9F78-F27E-FE69-E8DB5EE0F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454F40-CC27-5C5F-AACC-FE9C34FB70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298" y="1438447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Python Dictionaries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key-value pairs 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keys are unique identifiers, </a:t>
            </a:r>
            <a:r>
              <a:rPr lang="en-US" dirty="0" err="1"/>
              <a:t>mmutable</a:t>
            </a:r>
            <a:r>
              <a:rPr lang="en-US" dirty="0"/>
              <a:t> and </a:t>
            </a:r>
            <a:r>
              <a:rPr lang="en-US" dirty="0" err="1"/>
              <a:t>hashable</a:t>
            </a:r>
            <a:r>
              <a:rPr lang="en-US" dirty="0"/>
              <a:t> 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common data types for keys include strings, numbers, or tuples 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values can be any data type - numbers, strings, lists, dictionaries, or even custom objects 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values store the actual information associated with the key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do not preserve the order in which elements were added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mutable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can be created with curly braces {}, and elements are separated by commas. Colons : separate the keys from their values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Exercise: use other approaches to create </a:t>
            </a:r>
            <a:r>
              <a:rPr lang="en-US" dirty="0" err="1"/>
              <a:t>apple_stock</a:t>
            </a:r>
            <a:r>
              <a:rPr lang="en-US" dirty="0"/>
              <a:t>, remove one key-value pair 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F3830E-E5EF-1ADC-ECC2-9464BB86B7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44" y="6028411"/>
            <a:ext cx="10516511" cy="56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6733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413A4-EEE6-04B1-0B1A-951BC61DC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317F2-4F36-BF74-35E7-87217B799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2BB805-A224-0533-E97D-764C940442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298" y="1438447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Python Dictionaries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5275FC-1B9C-6DBA-A1AC-FCD32B8FEC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44" y="6028411"/>
            <a:ext cx="10516511" cy="566977"/>
          </a:xfrm>
          <a:prstGeom prst="rect">
            <a:avLst/>
          </a:prstGeom>
        </p:spPr>
      </p:pic>
      <p:sp>
        <p:nvSpPr>
          <p:cNvPr id="5" name="Text Box 2">
            <a:extLst>
              <a:ext uri="{FF2B5EF4-FFF2-40B4-BE49-F238E27FC236}">
                <a16:creationId xmlns:a16="http://schemas.microsoft.com/office/drawing/2014/main" id="{A55B6A67-0BA6-B7AB-455F-8785CEA56F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1492" y="1929314"/>
            <a:ext cx="10332308" cy="3816429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  <a:headEnd/>
            <a:tailEnd/>
          </a:ln>
          <a:effectLst/>
        </p:spPr>
        <p:txBody>
          <a:bodyPr rot="0" vert="horz" wrap="square" lIns="91440" tIns="45720" rIns="91440" bIns="45720" anchor="t" anchorCtr="0">
            <a:spAutoFit/>
          </a:bodyPr>
          <a:lstStyle/>
          <a:p>
            <a:pPr marL="0" marR="0"/>
            <a:r>
              <a:rPr lang="en-US" sz="11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# define a dictionary for apple stock</a:t>
            </a:r>
            <a:endParaRPr lang="en-US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1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apple_stock</a:t>
            </a:r>
            <a:r>
              <a:rPr lang="en-US" sz="11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 = {"symbol": "AAPL", "shares": 100, "price": 150.25, "</a:t>
            </a:r>
            <a:r>
              <a:rPr lang="en-US" sz="11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total_value</a:t>
            </a:r>
            <a:r>
              <a:rPr lang="en-US" sz="11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": 15025.00}</a:t>
            </a:r>
            <a:endParaRPr lang="en-US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1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# Accessing values by key</a:t>
            </a:r>
            <a:endParaRPr lang="en-US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1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ticker = </a:t>
            </a:r>
            <a:r>
              <a:rPr lang="en-US" sz="11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apple_stock</a:t>
            </a:r>
            <a:r>
              <a:rPr lang="en-US" sz="11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["symbol"]  </a:t>
            </a:r>
            <a:endParaRPr lang="en-US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1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# Modifying a value</a:t>
            </a:r>
            <a:endParaRPr lang="en-US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1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apple_stock</a:t>
            </a:r>
            <a:r>
              <a:rPr lang="en-US" sz="11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["shares"] = 150</a:t>
            </a:r>
            <a:endParaRPr lang="en-US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1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# Adding a new key-value pair</a:t>
            </a:r>
            <a:endParaRPr lang="en-US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1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apple_stock</a:t>
            </a:r>
            <a:r>
              <a:rPr lang="en-US" sz="11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["year"] = 2023</a:t>
            </a:r>
            <a:endParaRPr lang="en-US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1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# get all keys as a list</a:t>
            </a:r>
            <a:endParaRPr lang="en-US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1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print("all keys: ", list(</a:t>
            </a:r>
            <a:r>
              <a:rPr lang="en-US" sz="11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apple_stock.keys</a:t>
            </a:r>
            <a:r>
              <a:rPr lang="en-US" sz="11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()))</a:t>
            </a:r>
            <a:endParaRPr lang="en-US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1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# get all values as a list</a:t>
            </a:r>
            <a:endParaRPr lang="en-US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1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print("all values: ", list(</a:t>
            </a:r>
            <a:r>
              <a:rPr lang="en-US" sz="11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apple_stock.values</a:t>
            </a:r>
            <a:r>
              <a:rPr lang="en-US" sz="11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()))</a:t>
            </a:r>
            <a:endParaRPr lang="en-US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1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# get all key-value pairs as tuples of list</a:t>
            </a:r>
            <a:endParaRPr lang="en-US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1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print("apple stock: ", list(</a:t>
            </a:r>
            <a:r>
              <a:rPr lang="en-US" sz="11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apple_stock.items</a:t>
            </a:r>
            <a:r>
              <a:rPr lang="en-US" sz="11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()))</a:t>
            </a:r>
            <a:endParaRPr lang="en-US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1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# If the key 'going up' exists in the dictionary </a:t>
            </a:r>
            <a:r>
              <a:rPr lang="en-US" sz="11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appleStock</a:t>
            </a:r>
            <a:r>
              <a:rPr lang="en-US" sz="11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, the get() method will return the associated value.</a:t>
            </a:r>
            <a:endParaRPr lang="en-US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1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# However, if the key doesn't exist, the get() method will return the second argument, which is '</a:t>
            </a:r>
            <a:r>
              <a:rPr lang="en-US" sz="11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NaN</a:t>
            </a:r>
            <a:r>
              <a:rPr lang="en-US" sz="11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' (Not a Number) in this case.</a:t>
            </a:r>
            <a:endParaRPr lang="en-US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1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print(</a:t>
            </a:r>
            <a:r>
              <a:rPr lang="en-US" sz="11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apple_stock.get</a:t>
            </a:r>
            <a:r>
              <a:rPr lang="en-US" sz="11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('going up', '</a:t>
            </a:r>
            <a:r>
              <a:rPr lang="en-US" sz="11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NaN</a:t>
            </a:r>
            <a:r>
              <a:rPr lang="en-US" sz="11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'))</a:t>
            </a:r>
            <a:endParaRPr lang="en-US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1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# Unlike get(), </a:t>
            </a:r>
            <a:r>
              <a:rPr lang="en-US" sz="11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setdefault</a:t>
            </a:r>
            <a:r>
              <a:rPr lang="en-US" sz="11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() modifies the dictionary if the key doesn't exist.</a:t>
            </a:r>
            <a:endParaRPr lang="en-US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1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# the key 'going down' is missing, </a:t>
            </a:r>
            <a:r>
              <a:rPr lang="en-US" sz="11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setdefault</a:t>
            </a:r>
            <a:r>
              <a:rPr lang="en-US" sz="11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() will add it to the dictionary with the value '</a:t>
            </a:r>
            <a:r>
              <a:rPr lang="en-US" sz="11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NaN</a:t>
            </a:r>
            <a:r>
              <a:rPr lang="en-US" sz="11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'.</a:t>
            </a:r>
            <a:endParaRPr lang="en-US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1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apple_stock.setdefault</a:t>
            </a:r>
            <a:r>
              <a:rPr lang="en-US" sz="11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('going down', '</a:t>
            </a:r>
            <a:r>
              <a:rPr lang="en-US" sz="11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NaN</a:t>
            </a:r>
            <a:r>
              <a:rPr lang="en-US" sz="11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')</a:t>
            </a:r>
            <a:endParaRPr lang="en-US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1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print("apple stock: ", list(</a:t>
            </a:r>
            <a:r>
              <a:rPr lang="en-US" sz="11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apple_stock.items</a:t>
            </a:r>
            <a:r>
              <a:rPr lang="en-US" sz="11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()))</a:t>
            </a:r>
            <a:endParaRPr lang="en-US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05896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C300B3-EA4D-2077-B778-94F2CD89A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16F88-F0ED-65CE-AC1D-A3B48B7D9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01D047-634E-10D3-EC2F-99FDA71922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298" y="1438447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Python Sets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unordered collections of unique elements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Elements themselves immutable and </a:t>
            </a:r>
            <a:r>
              <a:rPr lang="en-US" dirty="0" err="1"/>
              <a:t>hashable</a:t>
            </a: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mutable, allow to add or remove elements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can be created with curly braces {}, and elements are separated by commas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Exercise: use other approaches to create </a:t>
            </a:r>
            <a:r>
              <a:rPr lang="en-US" dirty="0" err="1"/>
              <a:t>var_set</a:t>
            </a:r>
            <a:r>
              <a:rPr lang="en-US" dirty="0"/>
              <a:t>, update one item in the list, add a new item, remove one item from the set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9ACC4F-B9ED-288F-2DBC-5D4E6A2B88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44" y="6028411"/>
            <a:ext cx="10516511" cy="566977"/>
          </a:xfrm>
          <a:prstGeom prst="rect">
            <a:avLst/>
          </a:prstGeom>
        </p:spPr>
      </p:pic>
      <p:sp>
        <p:nvSpPr>
          <p:cNvPr id="5" name="Text Box 2">
            <a:extLst>
              <a:ext uri="{FF2B5EF4-FFF2-40B4-BE49-F238E27FC236}">
                <a16:creationId xmlns:a16="http://schemas.microsoft.com/office/drawing/2014/main" id="{40ACB8AC-1DB7-9399-FE2B-BEB70A8E6C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5561" y="3614118"/>
            <a:ext cx="7660158" cy="1065676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  <a:headEnd/>
            <a:tailEnd/>
          </a:ln>
          <a:effectLst/>
        </p:spPr>
        <p:txBody>
          <a:bodyPr rot="0" vert="horz" wrap="square" lIns="91440" tIns="45720" rIns="91440" bIns="45720" anchor="t" anchorCtr="0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16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var_</a:t>
            </a:r>
            <a:r>
              <a:rPr lang="en-US" sz="1600" kern="100" dirty="0" err="1"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set</a:t>
            </a:r>
            <a:r>
              <a:rPr lang="en-US" sz="16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 = </a:t>
            </a:r>
            <a:r>
              <a:rPr lang="en-US" sz="1600" kern="100" dirty="0"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nb-NO" sz="16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10, 10, "hello", 9.99, True, (1, 2, 3)</a:t>
            </a:r>
            <a:r>
              <a:rPr lang="en-US" sz="1600" kern="100" dirty="0"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}</a:t>
            </a:r>
            <a:endParaRPr lang="en-US" sz="16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16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Print("</a:t>
            </a:r>
            <a:r>
              <a:rPr lang="en-US" sz="16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var_set</a:t>
            </a:r>
            <a:r>
              <a:rPr lang="en-US" sz="16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: ", </a:t>
            </a:r>
            <a:r>
              <a:rPr lang="en-US" sz="16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var_set</a:t>
            </a:r>
            <a:r>
              <a:rPr lang="en-US" sz="16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</a:pPr>
            <a:endParaRPr lang="en-US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35215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06ADE5-3A87-08DC-2D95-0BC799037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5676B-64D4-0C5A-2C38-FF4C5AA36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6C459B-5B15-3B64-B4B2-24239A016A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298" y="1438447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Python Indentation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code blocks are defined by colon(:)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typically using 4 spaces or tabs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determines the scope of loops, conditionals, functions, classes, and other constructs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F29376-04E5-948F-2DFD-36434FEC20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44" y="6028411"/>
            <a:ext cx="10516511" cy="56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1266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62775-8684-E4BD-67FF-302FED475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07E09-62D7-A202-FDDE-C36834F26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84D383-E2C5-5FCB-0393-FD748D6CB6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298" y="1438447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Control Structures 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E6F809-4E37-0C33-FEB3-014A65A0CC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44" y="6028411"/>
            <a:ext cx="10516511" cy="5669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8B90351-AE97-1B38-B945-3F11773AB7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8887" y="2302901"/>
            <a:ext cx="5936666" cy="2252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5451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F9881-B249-C965-4E4B-A6F2097FF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1A43E-D9DF-DDE6-90BE-B83EB0DC0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E5B57D-3F27-BB0B-7286-FCE757B967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298" y="1438447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if statement: conditional execution, allowing code to run based on whether a specified condition is true or false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0C90F9-A1B9-7467-D585-8198F7F156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44" y="6028411"/>
            <a:ext cx="10516511" cy="5669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D692BB2-DAF1-3772-FDB4-96F2F2598A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72803" y="1647911"/>
            <a:ext cx="6854952" cy="346862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C3D2331-586E-34F7-E088-4A85AA54F5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7048" y="2076917"/>
            <a:ext cx="6854952" cy="2610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09688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D6A793-A681-145F-EB7A-A2FE74B0A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76F7C-6C05-34FB-BB6D-06EA3F755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5E4C24-7663-532F-1999-3A12EF3F18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298" y="1438447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If statement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D999FD-EC7C-7D7F-3681-B28F1E12F4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44" y="6028411"/>
            <a:ext cx="10516511" cy="566977"/>
          </a:xfrm>
          <a:prstGeom prst="rect">
            <a:avLst/>
          </a:prstGeom>
        </p:spPr>
      </p:pic>
      <p:sp>
        <p:nvSpPr>
          <p:cNvPr id="6" name="Text Box 2">
            <a:extLst>
              <a:ext uri="{FF2B5EF4-FFF2-40B4-BE49-F238E27FC236}">
                <a16:creationId xmlns:a16="http://schemas.microsoft.com/office/drawing/2014/main" id="{0D21CD17-51E3-3A13-0BD6-B19742FDA5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3254" y="1959817"/>
            <a:ext cx="10058400" cy="3600986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  <a:headEnd/>
            <a:tailEnd/>
          </a:ln>
          <a:effectLst/>
        </p:spPr>
        <p:txBody>
          <a:bodyPr rot="0" vert="horz" wrap="square" lIns="91440" tIns="45720" rIns="91440" bIns="45720" anchor="t" anchorCtr="0">
            <a:spAutoFit/>
          </a:bodyPr>
          <a:lstStyle/>
          <a:p>
            <a:pPr marL="0" marR="0"/>
            <a:r>
              <a:rPr lang="en-US" sz="12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investment = 1000</a:t>
            </a:r>
            <a:endParaRPr lang="en-US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2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current_price</a:t>
            </a:r>
            <a:r>
              <a:rPr lang="en-US" sz="12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 = 1155</a:t>
            </a:r>
            <a:endParaRPr lang="en-US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2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purchase_price</a:t>
            </a:r>
            <a:r>
              <a:rPr lang="en-US" sz="12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 = 1100</a:t>
            </a:r>
            <a:endParaRPr lang="en-US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2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en-US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2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if </a:t>
            </a:r>
            <a:r>
              <a:rPr lang="en-US" sz="12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purchase_price</a:t>
            </a:r>
            <a:r>
              <a:rPr lang="en-US" sz="12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 == 0:</a:t>
            </a:r>
            <a:endParaRPr lang="en-US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2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sz="12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roi</a:t>
            </a:r>
            <a:r>
              <a:rPr lang="en-US" sz="12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 = null</a:t>
            </a:r>
            <a:endParaRPr lang="en-US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2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else:</a:t>
            </a:r>
            <a:endParaRPr lang="en-US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2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sz="12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roi</a:t>
            </a:r>
            <a:r>
              <a:rPr lang="en-US" sz="12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 = (</a:t>
            </a:r>
            <a:r>
              <a:rPr lang="en-US" sz="12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current_price</a:t>
            </a:r>
            <a:r>
              <a:rPr lang="en-US" sz="12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 - </a:t>
            </a:r>
            <a:r>
              <a:rPr lang="en-US" sz="12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purchase_price</a:t>
            </a:r>
            <a:r>
              <a:rPr lang="en-US" sz="12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) / </a:t>
            </a:r>
            <a:r>
              <a:rPr lang="en-US" sz="12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purchase_price</a:t>
            </a:r>
            <a:r>
              <a:rPr lang="en-US" sz="12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 * 100</a:t>
            </a:r>
            <a:endParaRPr lang="en-US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2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en-US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2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earned = investment * </a:t>
            </a:r>
            <a:r>
              <a:rPr lang="en-US" sz="12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roi</a:t>
            </a:r>
            <a:r>
              <a:rPr lang="en-US" sz="12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 / 100</a:t>
            </a:r>
            <a:endParaRPr lang="en-US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2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en-US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2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if </a:t>
            </a:r>
            <a:r>
              <a:rPr lang="en-US" sz="12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roi</a:t>
            </a:r>
            <a:r>
              <a:rPr lang="en-US" sz="12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 &gt; 10:</a:t>
            </a:r>
            <a:endParaRPr lang="en-US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2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    print(</a:t>
            </a:r>
            <a:r>
              <a:rPr lang="en-US" sz="12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f"Your</a:t>
            </a:r>
            <a:r>
              <a:rPr lang="en-US" sz="12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 investment has a strong return of {roi:.2f}% and you earn {earned: .2f}!")</a:t>
            </a:r>
            <a:endParaRPr lang="en-US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2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elif</a:t>
            </a:r>
            <a:r>
              <a:rPr lang="en-US" sz="12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12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roi</a:t>
            </a:r>
            <a:r>
              <a:rPr lang="en-US" sz="12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 &gt; 0:</a:t>
            </a:r>
            <a:endParaRPr lang="en-US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2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    print(</a:t>
            </a:r>
            <a:r>
              <a:rPr lang="en-US" sz="12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f"Your</a:t>
            </a:r>
            <a:r>
              <a:rPr lang="en-US" sz="12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 investment has a positive return of {roi:.2f}% and you earn {earned: .2f}")</a:t>
            </a:r>
            <a:endParaRPr lang="en-US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2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elif</a:t>
            </a:r>
            <a:r>
              <a:rPr lang="en-US" sz="12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12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roi</a:t>
            </a:r>
            <a:r>
              <a:rPr lang="en-US" sz="12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 == 0:</a:t>
            </a:r>
            <a:endParaRPr lang="en-US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2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    print(</a:t>
            </a:r>
            <a:r>
              <a:rPr lang="en-US" sz="12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f"Your</a:t>
            </a:r>
            <a:r>
              <a:rPr lang="en-US" sz="12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 investment has broken even and you earn {earned: .2f}.")</a:t>
            </a:r>
            <a:endParaRPr lang="en-US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2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else:</a:t>
            </a:r>
            <a:endParaRPr lang="en-US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2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    print(</a:t>
            </a:r>
            <a:r>
              <a:rPr lang="en-US" sz="12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f"Your</a:t>
            </a:r>
            <a:r>
              <a:rPr lang="en-US" sz="12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 investment has a negative return of {abs(</a:t>
            </a:r>
            <a:r>
              <a:rPr lang="en-US" sz="12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roi</a:t>
            </a:r>
            <a:r>
              <a:rPr lang="en-US" sz="12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):.2f}% and you earn {earned: .2f}")</a:t>
            </a:r>
            <a:endParaRPr lang="en-US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20743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958AA-9C8B-403D-9852-10A8B42EB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5852A-F81C-3611-2BEC-F4647BEEE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58353-4D5F-A553-59DB-6692212A56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298" y="1438447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loop: repetitive tasks and/or collections of data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4A1BC9-8BAD-9995-FED2-752D7223A4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44" y="6028411"/>
            <a:ext cx="10516511" cy="5669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E0C39F8-8285-25C3-B627-1DA529FA7F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283" y="943070"/>
            <a:ext cx="7302350" cy="237513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9505201-AD54-D682-CED5-A99F92109A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3692" y="3322404"/>
            <a:ext cx="5083559" cy="2701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0654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E82D1-058A-7C28-F3AA-C4BDF1E6B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27024-2571-9D19-6578-A8C1C15ED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E63EAD-61A3-B01E-B6C6-A5DE992FC2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298" y="1438447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for statement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DD355F-9163-8420-948C-A144E95DC1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44" y="6028411"/>
            <a:ext cx="10516511" cy="566977"/>
          </a:xfrm>
          <a:prstGeom prst="rect">
            <a:avLst/>
          </a:prstGeom>
        </p:spPr>
      </p:pic>
      <p:sp>
        <p:nvSpPr>
          <p:cNvPr id="7" name="Text Box 2">
            <a:extLst>
              <a:ext uri="{FF2B5EF4-FFF2-40B4-BE49-F238E27FC236}">
                <a16:creationId xmlns:a16="http://schemas.microsoft.com/office/drawing/2014/main" id="{3FADF615-5406-BD81-CF75-8463505E03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0186" y="2071653"/>
            <a:ext cx="7824917" cy="2308324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  <a:headEnd/>
            <a:tailEnd/>
          </a:ln>
          <a:effectLst/>
        </p:spPr>
        <p:txBody>
          <a:bodyPr rot="0" vert="horz" wrap="square" lIns="91440" tIns="45720" rIns="91440" bIns="45720" anchor="t" anchorCtr="0">
            <a:spAutoFit/>
          </a:bodyPr>
          <a:lstStyle/>
          <a:p>
            <a:pPr marL="0" marR="0"/>
            <a:r>
              <a:rPr lang="en-US" sz="16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import random</a:t>
            </a:r>
            <a:endParaRPr lang="en-US" sz="16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6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stock_data</a:t>
            </a:r>
            <a:r>
              <a:rPr lang="en-US" sz="16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 = {</a:t>
            </a:r>
            <a:endParaRPr lang="en-US" sz="16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6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  "AAPL": round(150.23 + </a:t>
            </a:r>
            <a:r>
              <a:rPr lang="en-US" sz="16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random.random</a:t>
            </a:r>
            <a:r>
              <a:rPr lang="en-US" sz="16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() * 10, 2),  </a:t>
            </a:r>
            <a:endParaRPr lang="en-US" sz="16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6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  "TSLA": round(900.00 + </a:t>
            </a:r>
            <a:r>
              <a:rPr lang="en-US" sz="16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random.random</a:t>
            </a:r>
            <a:r>
              <a:rPr lang="en-US" sz="16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() * 50, 2),</a:t>
            </a:r>
            <a:endParaRPr lang="en-US" sz="16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6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  "GOOG": round(2800.00 - </a:t>
            </a:r>
            <a:r>
              <a:rPr lang="en-US" sz="16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random.random</a:t>
            </a:r>
            <a:r>
              <a:rPr lang="en-US" sz="16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() * 100, 2)</a:t>
            </a:r>
            <a:endParaRPr lang="en-US" sz="16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6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}</a:t>
            </a:r>
            <a:endParaRPr lang="en-US" sz="16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6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en-US" sz="16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6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for symbol, price in </a:t>
            </a:r>
            <a:r>
              <a:rPr lang="en-US" sz="16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stock_data.items</a:t>
            </a:r>
            <a:r>
              <a:rPr lang="en-US" sz="16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():</a:t>
            </a:r>
            <a:endParaRPr lang="en-US" sz="16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6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  print(</a:t>
            </a:r>
            <a:r>
              <a:rPr lang="en-US" sz="16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f"Stock</a:t>
            </a:r>
            <a:r>
              <a:rPr lang="en-US" sz="16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: {symbol}, Price: ${price}")</a:t>
            </a:r>
            <a:endParaRPr lang="en-US" sz="16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80775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EF011-E7B7-34D1-A0AB-B060737D4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5EA78-834F-2C55-B7C5-66E5CC02C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1D34E2-E859-3825-B2EC-90D6125B99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298" y="1438447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while statement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127C9C-ED3C-D76F-A8BC-BEF8EA02FB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44" y="6028411"/>
            <a:ext cx="10516511" cy="566977"/>
          </a:xfrm>
          <a:prstGeom prst="rect">
            <a:avLst/>
          </a:prstGeom>
        </p:spPr>
      </p:pic>
      <p:sp>
        <p:nvSpPr>
          <p:cNvPr id="5" name="Text Box 2">
            <a:extLst>
              <a:ext uri="{FF2B5EF4-FFF2-40B4-BE49-F238E27FC236}">
                <a16:creationId xmlns:a16="http://schemas.microsoft.com/office/drawing/2014/main" id="{5CC780B7-1BC9-AF94-3B50-D500CB56C1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5472" y="1951336"/>
            <a:ext cx="9727857" cy="3231654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  <a:headEnd/>
            <a:tailEnd/>
          </a:ln>
          <a:effectLst/>
        </p:spPr>
        <p:txBody>
          <a:bodyPr rot="0" vert="horz" wrap="square" lIns="91440" tIns="45720" rIns="91440" bIns="45720" anchor="t" anchorCtr="0">
            <a:spAutoFit/>
          </a:bodyPr>
          <a:lstStyle/>
          <a:p>
            <a:pPr marL="0" marR="0"/>
            <a:r>
              <a:rPr lang="en-US" sz="12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aapl_price</a:t>
            </a:r>
            <a:r>
              <a:rPr lang="en-US" sz="12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 = 159.23</a:t>
            </a:r>
            <a:endParaRPr lang="en-US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2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guess = 180</a:t>
            </a:r>
            <a:endParaRPr lang="en-US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2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guess_times</a:t>
            </a:r>
            <a:r>
              <a:rPr lang="en-US" sz="12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 = 1 # A counter is initialized to keep track of the number of guesses</a:t>
            </a:r>
            <a:endParaRPr lang="en-US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2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en-US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2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while guess != </a:t>
            </a:r>
            <a:r>
              <a:rPr lang="en-US" sz="12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aapl_price</a:t>
            </a:r>
            <a:r>
              <a:rPr lang="en-US" sz="12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:</a:t>
            </a:r>
            <a:endParaRPr lang="en-US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2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    guess = float(input("Guess apple's stock price: "))   # Prompts the user to guess the stock price and converts the input to a float</a:t>
            </a:r>
            <a:endParaRPr lang="en-US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2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    if abs(guess - </a:t>
            </a:r>
            <a:r>
              <a:rPr lang="en-US" sz="12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aapl_price</a:t>
            </a:r>
            <a:r>
              <a:rPr lang="en-US" sz="12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) &lt;= 10 and </a:t>
            </a:r>
            <a:r>
              <a:rPr lang="en-US" sz="12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guess_times</a:t>
            </a:r>
            <a:r>
              <a:rPr lang="en-US" sz="12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 &lt; 3: # abs(): find absolute value of an expression</a:t>
            </a:r>
            <a:endParaRPr lang="en-US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2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        print("Congratulations, you guessed the price!")</a:t>
            </a:r>
            <a:endParaRPr lang="en-US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2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        break                                             # exits the loop</a:t>
            </a:r>
            <a:endParaRPr lang="en-US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2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sz="12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elif</a:t>
            </a:r>
            <a:r>
              <a:rPr lang="en-US" sz="12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 abs(guess - </a:t>
            </a:r>
            <a:r>
              <a:rPr lang="en-US" sz="12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aapl_price</a:t>
            </a:r>
            <a:r>
              <a:rPr lang="en-US" sz="12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) &gt; 10 and </a:t>
            </a:r>
            <a:r>
              <a:rPr lang="en-US" sz="12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guess_times</a:t>
            </a:r>
            <a:r>
              <a:rPr lang="en-US" sz="12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 &lt; 3:</a:t>
            </a:r>
            <a:endParaRPr lang="en-US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2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        print("Try again!")</a:t>
            </a:r>
            <a:endParaRPr lang="en-US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2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    else:</a:t>
            </a:r>
            <a:endParaRPr lang="en-US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2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        print("Run out of guessing times!")</a:t>
            </a:r>
            <a:endParaRPr lang="en-US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2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        break                                             # exits the loop</a:t>
            </a:r>
            <a:endParaRPr lang="en-US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2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sz="12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guess_times</a:t>
            </a:r>
            <a:r>
              <a:rPr lang="en-US" sz="12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 +=1                                       # increments the guess counter after each guess</a:t>
            </a:r>
            <a:endParaRPr lang="en-US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1032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343C5-E820-AC4F-7558-977C5D0C6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53013-BB9C-31D6-CEEE-034D84561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61EC0-FA11-E646-2AEF-60CA3830B0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298" y="1438447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Functions: reusable blocks of code designed to perform specific tasks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751753-33A9-9160-6C71-1DA306F9A6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44" y="6028411"/>
            <a:ext cx="10516511" cy="5669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609E4F1-2E79-3901-96A1-43A56FAE3D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63794" y="1027906"/>
            <a:ext cx="10665558" cy="2933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0487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3A77A-4287-7E07-0EC2-F27D8C5ED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C5C5C-1DC4-A2ED-7D23-326BD4D25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A4527C-CA9B-C704-148E-6B8E30257F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298" y="1438447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function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42CADA-2CE2-738A-A7FB-46809F1360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44" y="6028411"/>
            <a:ext cx="10516511" cy="566977"/>
          </a:xfrm>
          <a:prstGeom prst="rect">
            <a:avLst/>
          </a:prstGeom>
        </p:spPr>
      </p:pic>
      <p:sp>
        <p:nvSpPr>
          <p:cNvPr id="6" name="Text Box 2">
            <a:extLst>
              <a:ext uri="{FF2B5EF4-FFF2-40B4-BE49-F238E27FC236}">
                <a16:creationId xmlns:a16="http://schemas.microsoft.com/office/drawing/2014/main" id="{ADEBECB3-D1AB-5802-E392-4CACD38AFB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4102" y="2035973"/>
            <a:ext cx="10515600" cy="3647152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  <a:headEnd/>
            <a:tailEnd/>
          </a:ln>
          <a:effectLst/>
        </p:spPr>
        <p:txBody>
          <a:bodyPr rot="0" vert="horz" wrap="square" lIns="91440" tIns="45720" rIns="91440" bIns="45720" anchor="t" anchorCtr="0">
            <a:spAutoFit/>
          </a:bodyPr>
          <a:lstStyle/>
          <a:p>
            <a:pPr marL="0" marR="0"/>
            <a:r>
              <a:rPr lang="en-US" sz="11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import </a:t>
            </a:r>
            <a:r>
              <a:rPr lang="en-US" sz="11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yfinance</a:t>
            </a:r>
            <a:r>
              <a:rPr lang="en-US" sz="11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 as </a:t>
            </a:r>
            <a:r>
              <a:rPr lang="en-US" sz="11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yf</a:t>
            </a:r>
            <a:r>
              <a:rPr lang="en-US" sz="11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  # import </a:t>
            </a:r>
            <a:r>
              <a:rPr lang="en-US" sz="11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yfinance</a:t>
            </a:r>
            <a:r>
              <a:rPr lang="en-US" sz="11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 library for stock data</a:t>
            </a:r>
            <a:endParaRPr lang="en-US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1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en-US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1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def </a:t>
            </a:r>
            <a:r>
              <a:rPr lang="en-US" sz="11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get_stock_data</a:t>
            </a:r>
            <a:r>
              <a:rPr lang="en-US" sz="11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(symbol): # define function header</a:t>
            </a:r>
            <a:endParaRPr lang="en-US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100" kern="100" dirty="0"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sz="11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try:</a:t>
            </a:r>
            <a:endParaRPr lang="en-US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1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en-US" sz="11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stock_data</a:t>
            </a:r>
            <a:r>
              <a:rPr lang="en-US" sz="11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 = </a:t>
            </a:r>
            <a:r>
              <a:rPr lang="en-US" sz="11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yf.download</a:t>
            </a:r>
            <a:r>
              <a:rPr lang="en-US" sz="11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(symbol, period="1wk", interval="1d")  # download 1-week daily data from Yahoo Finance</a:t>
            </a:r>
            <a:endParaRPr lang="en-US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1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    except:</a:t>
            </a:r>
            <a:endParaRPr lang="en-US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1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        print(</a:t>
            </a:r>
            <a:r>
              <a:rPr lang="en-US" sz="11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f"Error</a:t>
            </a:r>
            <a:r>
              <a:rPr lang="en-US" sz="11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: Could not retrieve data for symbol {symbol}.")</a:t>
            </a:r>
            <a:endParaRPr lang="en-US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1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        return None</a:t>
            </a:r>
            <a:endParaRPr lang="en-US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1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    </a:t>
            </a:r>
            <a:endParaRPr lang="en-US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1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sz="11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current_price</a:t>
            </a:r>
            <a:r>
              <a:rPr lang="en-US" sz="11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 = </a:t>
            </a:r>
            <a:r>
              <a:rPr lang="en-US" sz="11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stock_data</a:t>
            </a:r>
            <a:r>
              <a:rPr lang="en-US" sz="11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["Close"].</a:t>
            </a:r>
            <a:r>
              <a:rPr lang="en-US" sz="11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iloc</a:t>
            </a:r>
            <a:r>
              <a:rPr lang="en-US" sz="11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[-1]   # get latest closing price</a:t>
            </a:r>
            <a:endParaRPr lang="en-US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1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sz="11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current_volume</a:t>
            </a:r>
            <a:r>
              <a:rPr lang="en-US" sz="11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 = </a:t>
            </a:r>
            <a:r>
              <a:rPr lang="en-US" sz="11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stock_data</a:t>
            </a:r>
            <a:r>
              <a:rPr lang="en-US" sz="11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["Volume"].</a:t>
            </a:r>
            <a:r>
              <a:rPr lang="en-US" sz="11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iloc</a:t>
            </a:r>
            <a:r>
              <a:rPr lang="en-US" sz="11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[-1] # get latest volume</a:t>
            </a:r>
            <a:endParaRPr lang="en-US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1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    return {"Stock ticker": symbol, "Current Price": </a:t>
            </a:r>
            <a:r>
              <a:rPr lang="en-US" sz="11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current_price</a:t>
            </a:r>
            <a:r>
              <a:rPr lang="en-US" sz="11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, "Current Volume": </a:t>
            </a:r>
            <a:r>
              <a:rPr lang="en-US" sz="11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current_volume</a:t>
            </a:r>
            <a:r>
              <a:rPr lang="en-US" sz="11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}  # return a dictionary</a:t>
            </a:r>
            <a:endParaRPr lang="en-US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1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en-US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1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# passing google, apple and tesla's stock tickers</a:t>
            </a:r>
            <a:endParaRPr lang="en-US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1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stock_symbol</a:t>
            </a:r>
            <a:r>
              <a:rPr lang="en-US" sz="11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 = ["GOOG", "AAPL", "TSLA"]</a:t>
            </a:r>
            <a:endParaRPr lang="en-US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1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for ticker in </a:t>
            </a:r>
            <a:r>
              <a:rPr lang="en-US" sz="11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stock_symbol</a:t>
            </a:r>
            <a:r>
              <a:rPr lang="en-US" sz="11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:</a:t>
            </a:r>
            <a:endParaRPr lang="en-US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1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    data = </a:t>
            </a:r>
            <a:r>
              <a:rPr lang="en-US" sz="11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get_stock_data</a:t>
            </a:r>
            <a:r>
              <a:rPr lang="en-US" sz="11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(ticker)  # data is a dictionary returned from the </a:t>
            </a:r>
            <a:r>
              <a:rPr lang="en-US" sz="11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get_stock_data</a:t>
            </a:r>
            <a:r>
              <a:rPr lang="en-US" sz="11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() function</a:t>
            </a:r>
            <a:endParaRPr lang="en-US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1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    if data:</a:t>
            </a:r>
            <a:endParaRPr lang="en-US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1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        for key, value in </a:t>
            </a:r>
            <a:r>
              <a:rPr lang="en-US" sz="11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data.items</a:t>
            </a:r>
            <a:r>
              <a:rPr lang="en-US" sz="11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():</a:t>
            </a:r>
            <a:endParaRPr lang="en-US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1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            print(f"{key}: {value}")</a:t>
            </a:r>
            <a:endParaRPr lang="en-US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57954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5AB25-C6CE-40A6-435E-C7416C9D3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7DAC7-33F7-4FC9-2068-FE6405BDF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on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5550AB-2BB9-CFB4-8880-D5EDE076C0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298" y="1438447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try-except block: prevent potential program crashes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AEA1D9-30A3-A25B-01B5-EF2C96F876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44" y="6028411"/>
            <a:ext cx="10516511" cy="5669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039CA11-A758-6622-BBD9-4388258E76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4147" y="771205"/>
            <a:ext cx="10264883" cy="4424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9848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1B6B5-E669-7B13-4102-EC7C80997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7611F-F1A7-549A-E14F-717C55B1E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on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ED4101-9693-7A92-8C9A-6F187AA73A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298" y="1438447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Indexing and Slicing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access elements within sequences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indexing: extract a single element using its position 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index starting from 0 (zero-based indexing) 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use square brackets[] with the index within them to access an element 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allows negative indexing to access elements from the end of the sequence: -1 refers to the last element, -2 to the second-last, and so on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Slicing: extract a sub-sequence 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use square brackets [] with a start index, an end index, and an optional step (separated by colons): [</a:t>
            </a:r>
            <a:r>
              <a:rPr lang="en-US" dirty="0" err="1"/>
              <a:t>start:end:step</a:t>
            </a:r>
            <a:r>
              <a:rPr lang="en-US" dirty="0"/>
              <a:t>] 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The end index in slicing is exclusive 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can omit the start or end index in slicing to use the default values. If the step is omitted, the default step is 1</a:t>
            </a:r>
          </a:p>
          <a:p>
            <a:pPr>
              <a:buFont typeface="Courier New" panose="02070309020205020404" pitchFamily="49" charset="0"/>
              <a:buChar char="o"/>
            </a:pPr>
            <a:endParaRPr lang="en-US" dirty="0"/>
          </a:p>
          <a:p>
            <a:pPr marL="228600" lvl="1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400" kern="100" dirty="0"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en-US" sz="14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endParaRPr lang="en-US" sz="1400" kern="100" dirty="0">
              <a:effectLst/>
              <a:latin typeface="Courier New" panose="02070309020205020404" pitchFamily="49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228600" lvl="1" indent="0">
              <a:lnSpc>
                <a:spcPct val="115000"/>
              </a:lnSpc>
              <a:spcAft>
                <a:spcPts val="800"/>
              </a:spcAft>
              <a:buNone/>
            </a:pPr>
            <a:endParaRPr lang="en-US" sz="14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D34B73-09A3-0ED5-81FF-9A43C07B5F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44" y="6028411"/>
            <a:ext cx="10516511" cy="56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44007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990CA-68D0-D9A3-0215-F3C184E30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FD45C-C9A2-BDFA-4EA1-B327E9B57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on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35C032-CC1F-6BCD-1045-94CE8681EC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298" y="1438447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indexing and slicing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C9F498-68D9-1A2F-A0B3-358F432E00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44" y="6028411"/>
            <a:ext cx="10516511" cy="566977"/>
          </a:xfrm>
          <a:prstGeom prst="rect">
            <a:avLst/>
          </a:prstGeom>
        </p:spPr>
      </p:pic>
      <p:sp>
        <p:nvSpPr>
          <p:cNvPr id="5" name="Text Box 2">
            <a:extLst>
              <a:ext uri="{FF2B5EF4-FFF2-40B4-BE49-F238E27FC236}">
                <a16:creationId xmlns:a16="http://schemas.microsoft.com/office/drawing/2014/main" id="{75174D36-1729-F96A-64FE-5ABCF68160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5632" y="1952625"/>
            <a:ext cx="9901882" cy="353943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  <a:headEnd/>
            <a:tailEnd/>
          </a:ln>
          <a:effectLst/>
        </p:spPr>
        <p:txBody>
          <a:bodyPr rot="0" vert="horz" wrap="square" lIns="91440" tIns="45720" rIns="91440" bIns="45720" anchor="t" anchorCtr="0">
            <a:spAutoFit/>
          </a:bodyPr>
          <a:lstStyle/>
          <a:p>
            <a:pPr marL="0" marR="0"/>
            <a:r>
              <a:rPr lang="en-US" sz="14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var_list</a:t>
            </a:r>
            <a:r>
              <a:rPr lang="en-US" sz="14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 = [10, "hello", 9.99, True, [1, 2, 3], {"language": "Python"}]</a:t>
            </a:r>
            <a:endParaRPr lang="en-US" sz="14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4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# access first item</a:t>
            </a:r>
            <a:endParaRPr lang="en-US" sz="14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4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print("first item: ", </a:t>
            </a:r>
            <a:r>
              <a:rPr lang="en-US" sz="14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var_list</a:t>
            </a:r>
            <a:r>
              <a:rPr lang="en-US" sz="14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[0])</a:t>
            </a:r>
            <a:endParaRPr lang="en-US" sz="14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4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# access last item</a:t>
            </a:r>
            <a:endParaRPr lang="en-US" sz="14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4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print("last item: ", </a:t>
            </a:r>
            <a:r>
              <a:rPr lang="en-US" sz="14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var_list</a:t>
            </a:r>
            <a:r>
              <a:rPr lang="en-US" sz="14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[-1])</a:t>
            </a:r>
            <a:endParaRPr lang="en-US" sz="14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4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# access the second to the fourth items</a:t>
            </a:r>
            <a:endParaRPr lang="en-US" sz="14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4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print("the second to the fourth items: ", </a:t>
            </a:r>
            <a:r>
              <a:rPr lang="en-US" sz="14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var_list</a:t>
            </a:r>
            <a:r>
              <a:rPr lang="en-US" sz="14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[1: 4])</a:t>
            </a:r>
            <a:endParaRPr lang="en-US" sz="14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4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# use slice assignment to append a list at back or at front, or remove part of a list</a:t>
            </a:r>
            <a:endParaRPr lang="en-US" sz="14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4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var_list</a:t>
            </a:r>
            <a:r>
              <a:rPr lang="en-US" sz="14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sz="14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len</a:t>
            </a:r>
            <a:r>
              <a:rPr lang="en-US" sz="14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sz="14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var_list</a:t>
            </a:r>
            <a:r>
              <a:rPr lang="en-US" sz="14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):]=['X', 'Y', 'Z']</a:t>
            </a:r>
            <a:endParaRPr lang="en-US" sz="14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4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print("use slice to append at back: ", </a:t>
            </a:r>
            <a:r>
              <a:rPr lang="en-US" sz="14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var_list</a:t>
            </a:r>
            <a:r>
              <a:rPr lang="en-US" sz="14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)</a:t>
            </a:r>
            <a:endParaRPr lang="en-US" sz="14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4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var_list</a:t>
            </a:r>
            <a:r>
              <a:rPr lang="en-US" sz="14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[:0] = ['A', 'B', 'C']</a:t>
            </a:r>
            <a:endParaRPr lang="en-US" sz="14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4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print("use slice to append at front: ", </a:t>
            </a:r>
            <a:r>
              <a:rPr lang="en-US" sz="14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var_list</a:t>
            </a:r>
            <a:r>
              <a:rPr lang="en-US" sz="14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)</a:t>
            </a:r>
            <a:endParaRPr lang="en-US" sz="14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4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var_list</a:t>
            </a:r>
            <a:r>
              <a:rPr lang="en-US" sz="14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[9:-1]=[]</a:t>
            </a:r>
            <a:endParaRPr lang="en-US" sz="14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4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print("use slice to remove: ", </a:t>
            </a:r>
            <a:r>
              <a:rPr lang="en-US" sz="14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var_list</a:t>
            </a:r>
            <a:r>
              <a:rPr lang="en-US" sz="14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)</a:t>
            </a:r>
            <a:endParaRPr lang="en-US" sz="14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4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# use negative step for reversing</a:t>
            </a:r>
            <a:endParaRPr lang="en-US" sz="14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4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print("after reversing: ", </a:t>
            </a:r>
            <a:r>
              <a:rPr lang="en-US" sz="14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var_list</a:t>
            </a:r>
            <a:r>
              <a:rPr lang="en-US" sz="14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[::-1])</a:t>
            </a:r>
            <a:endParaRPr lang="en-US" sz="14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91489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94142-072D-E3F6-CAD3-5A16D4ABD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36BB4-60CE-7EB3-8F0F-4AB17E938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on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F8DB35-D7D7-B992-A5F7-C0FA0E155D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298" y="1438447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zip( ) built-in function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creates an iterator that aggregates elements from multiple sequences, and pair them together </a:t>
            </a:r>
          </a:p>
          <a:p>
            <a:pPr>
              <a:buFont typeface="Courier New" panose="02070309020205020404" pitchFamily="49" charset="0"/>
              <a:buChar char="o"/>
            </a:pPr>
            <a:endParaRPr lang="en-US" dirty="0"/>
          </a:p>
          <a:p>
            <a:pPr marL="228600" lvl="1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400" kern="100" dirty="0"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en-US" sz="14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endParaRPr lang="en-US" sz="1400" kern="100" dirty="0">
              <a:effectLst/>
              <a:latin typeface="Courier New" panose="02070309020205020404" pitchFamily="49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228600" lvl="1" indent="0">
              <a:lnSpc>
                <a:spcPct val="115000"/>
              </a:lnSpc>
              <a:spcAft>
                <a:spcPts val="800"/>
              </a:spcAft>
              <a:buNone/>
            </a:pPr>
            <a:endParaRPr lang="en-US" sz="14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D5FC24-58BC-016E-C367-73E602991F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44" y="6028411"/>
            <a:ext cx="10516511" cy="566977"/>
          </a:xfrm>
          <a:prstGeom prst="rect">
            <a:avLst/>
          </a:prstGeom>
        </p:spPr>
      </p:pic>
      <p:sp>
        <p:nvSpPr>
          <p:cNvPr id="5" name="Text Box 2">
            <a:extLst>
              <a:ext uri="{FF2B5EF4-FFF2-40B4-BE49-F238E27FC236}">
                <a16:creationId xmlns:a16="http://schemas.microsoft.com/office/drawing/2014/main" id="{249D22E5-9106-9D3D-E9F5-F20DF0D52E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5559" y="2710679"/>
            <a:ext cx="9703144" cy="1806773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  <a:headEnd/>
            <a:tailEnd/>
          </a:ln>
          <a:effectLst/>
        </p:spPr>
        <p:txBody>
          <a:bodyPr rot="0" vert="horz" wrap="square" lIns="91440" tIns="45720" rIns="91440" bIns="45720" anchor="t" anchorCtr="0">
            <a:spAutoFit/>
          </a:bodyPr>
          <a:lstStyle/>
          <a:p>
            <a:pPr marL="0" marR="0"/>
            <a:r>
              <a:rPr lang="en-US" sz="16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tickers = ["GOOG", "TSLA"]</a:t>
            </a:r>
            <a:endParaRPr lang="en-US" sz="16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6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prices = [172, 175]</a:t>
            </a:r>
            <a:endParaRPr lang="en-US" sz="16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6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en-US" sz="16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6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# Combine tickers and prices into a list of tuples</a:t>
            </a:r>
            <a:endParaRPr lang="en-US" sz="16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6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stocks = list(zip(tickers, prices))  # zip returns an iterator, convert to list</a:t>
            </a:r>
            <a:endParaRPr lang="en-US" sz="16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6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print(stocks)</a:t>
            </a:r>
            <a:endParaRPr lang="en-US" sz="16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23867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424AB0-4F85-95A7-025D-88C7F36FD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B0C1E-8B93-1C4D-9057-A7F61B9A8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on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4CC743-7631-8B58-F621-C424270A4E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298" y="1438447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* and ** as function arguments/parameters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* unpacking arguments from </a:t>
            </a:r>
            <a:r>
              <a:rPr lang="en-US" dirty="0" err="1"/>
              <a:t>iterables</a:t>
            </a:r>
            <a:r>
              <a:rPr lang="en-US" dirty="0"/>
              <a:t> (like lists, tuples) into individual arguments for the function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dirty="0"/>
          </a:p>
          <a:p>
            <a:pPr>
              <a:buFont typeface="Courier New" panose="02070309020205020404" pitchFamily="49" charset="0"/>
              <a:buChar char="o"/>
            </a:pPr>
            <a:endParaRPr lang="en-US" dirty="0"/>
          </a:p>
          <a:p>
            <a:pPr marL="228600" lvl="1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400" kern="100" dirty="0"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en-US" sz="14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endParaRPr lang="en-US" sz="1400" kern="100" dirty="0">
              <a:effectLst/>
              <a:latin typeface="Courier New" panose="02070309020205020404" pitchFamily="49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228600" lvl="1" indent="0">
              <a:lnSpc>
                <a:spcPct val="115000"/>
              </a:lnSpc>
              <a:spcAft>
                <a:spcPts val="800"/>
              </a:spcAft>
              <a:buNone/>
            </a:pPr>
            <a:endParaRPr lang="en-US" sz="14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EE98C1-F48A-F5DC-991C-4CA7291FE8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44" y="6028411"/>
            <a:ext cx="10516511" cy="566977"/>
          </a:xfrm>
          <a:prstGeom prst="rect">
            <a:avLst/>
          </a:prstGeom>
        </p:spPr>
      </p:pic>
      <p:sp>
        <p:nvSpPr>
          <p:cNvPr id="6" name="Text Box 2">
            <a:extLst>
              <a:ext uri="{FF2B5EF4-FFF2-40B4-BE49-F238E27FC236}">
                <a16:creationId xmlns:a16="http://schemas.microsoft.com/office/drawing/2014/main" id="{B7D1C87A-A535-F343-7BA4-997F9AA6E6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0846" y="2705725"/>
            <a:ext cx="9266538" cy="1815882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  <a:headEnd/>
            <a:tailEnd/>
          </a:ln>
          <a:effectLst/>
        </p:spPr>
        <p:txBody>
          <a:bodyPr rot="0" vert="horz" wrap="square" lIns="91440" tIns="45720" rIns="91440" bIns="45720" anchor="t" anchorCtr="0">
            <a:spAutoFit/>
          </a:bodyPr>
          <a:lstStyle/>
          <a:p>
            <a:pPr marL="0" marR="0"/>
            <a:r>
              <a:rPr lang="en-US" sz="16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# Unpacking Arguments when used for arguments</a:t>
            </a:r>
            <a:endParaRPr lang="en-US" sz="16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6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def </a:t>
            </a:r>
            <a:r>
              <a:rPr lang="en-US" sz="16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do_unpack</a:t>
            </a:r>
            <a:r>
              <a:rPr lang="en-US" sz="16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(ticker, price):</a:t>
            </a:r>
            <a:endParaRPr lang="en-US" sz="16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6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    print(</a:t>
            </a:r>
            <a:r>
              <a:rPr lang="en-US" sz="16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f"Storck</a:t>
            </a:r>
            <a:r>
              <a:rPr lang="en-US" sz="16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 Ticker: {ticker}, Price: {price}")</a:t>
            </a:r>
            <a:endParaRPr lang="en-US" sz="16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6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en-US" sz="16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6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# Call </a:t>
            </a:r>
            <a:r>
              <a:rPr lang="en-US" sz="16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do_unpack</a:t>
            </a:r>
            <a:r>
              <a:rPr lang="en-US" sz="16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 with each ticker-price tuple</a:t>
            </a:r>
            <a:endParaRPr lang="en-US" sz="16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6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for stock in stocks:</a:t>
            </a:r>
            <a:endParaRPr lang="en-US" sz="16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6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sz="16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do_unpack</a:t>
            </a:r>
            <a:r>
              <a:rPr lang="en-US" sz="16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(*stock)  # Unpack the tuple into ticker and price arguments</a:t>
            </a:r>
            <a:endParaRPr lang="en-US" sz="16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01450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5BC3D-438C-DEAB-7049-371FFDB55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F02CE-DF14-44F3-A645-EE0EAA8A3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on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D9209-B2F8-B9C8-CD6C-7F950350BD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298" y="1438447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* and ** as function arguments/parameters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* catching variable number of arguments: capture any number of arguments passed to the function as a tuple</a:t>
            </a:r>
          </a:p>
          <a:p>
            <a:pPr>
              <a:buFont typeface="Courier New" panose="02070309020205020404" pitchFamily="49" charset="0"/>
              <a:buChar char="o"/>
            </a:pPr>
            <a:endParaRPr lang="en-US" dirty="0"/>
          </a:p>
          <a:p>
            <a:pPr marL="228600" lvl="1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400" kern="100" dirty="0"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en-US" sz="14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endParaRPr lang="en-US" sz="1400" kern="100" dirty="0">
              <a:effectLst/>
              <a:latin typeface="Courier New" panose="02070309020205020404" pitchFamily="49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228600" lvl="1" indent="0">
              <a:lnSpc>
                <a:spcPct val="115000"/>
              </a:lnSpc>
              <a:spcAft>
                <a:spcPts val="800"/>
              </a:spcAft>
              <a:buNone/>
            </a:pPr>
            <a:endParaRPr lang="en-US" sz="14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7B0667-8B94-A96A-531F-0D75ACDA82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44" y="6028411"/>
            <a:ext cx="10516511" cy="566977"/>
          </a:xfrm>
          <a:prstGeom prst="rect">
            <a:avLst/>
          </a:prstGeom>
        </p:spPr>
      </p:pic>
      <p:sp>
        <p:nvSpPr>
          <p:cNvPr id="5" name="Text Box 2">
            <a:extLst>
              <a:ext uri="{FF2B5EF4-FFF2-40B4-BE49-F238E27FC236}">
                <a16:creationId xmlns:a16="http://schemas.microsoft.com/office/drawing/2014/main" id="{1853B130-1ED3-9422-3881-9FE9E4315D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0272" y="2764011"/>
            <a:ext cx="8780505" cy="2308324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  <a:headEnd/>
            <a:tailEnd/>
          </a:ln>
          <a:effectLst/>
        </p:spPr>
        <p:txBody>
          <a:bodyPr rot="0" vert="horz" wrap="square" lIns="91440" tIns="45720" rIns="91440" bIns="45720" anchor="t" anchorCtr="0">
            <a:spAutoFit/>
          </a:bodyPr>
          <a:lstStyle/>
          <a:p>
            <a:pPr marL="0" marR="0"/>
            <a:r>
              <a:rPr lang="en-US" sz="16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# Catching variable number of arguments when used for parameters</a:t>
            </a:r>
            <a:endParaRPr lang="en-US" sz="16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6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def </a:t>
            </a:r>
            <a:r>
              <a:rPr lang="en-US" sz="16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sum_all</a:t>
            </a:r>
            <a:r>
              <a:rPr lang="en-US" sz="16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(*numbers):</a:t>
            </a:r>
            <a:endParaRPr lang="en-US" sz="16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6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    total = 0</a:t>
            </a:r>
            <a:endParaRPr lang="en-US" sz="16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6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    for num in numbers:</a:t>
            </a:r>
            <a:endParaRPr lang="en-US" sz="16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6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        total += num</a:t>
            </a:r>
            <a:endParaRPr lang="en-US" sz="16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6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    return total</a:t>
            </a:r>
            <a:endParaRPr lang="en-US" sz="16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6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en-US" sz="16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6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result = </a:t>
            </a:r>
            <a:r>
              <a:rPr lang="en-US" sz="16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sum_all</a:t>
            </a:r>
            <a:r>
              <a:rPr lang="en-US" sz="16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(1, 2, 3, 4, 5)</a:t>
            </a:r>
            <a:endParaRPr lang="en-US" sz="16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6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print(result)</a:t>
            </a:r>
            <a:endParaRPr lang="en-US" sz="16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92092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C581AC-066D-0C15-34A0-FC8BB78ED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F3DF9-FC1F-BCEF-F2F7-41D163E6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on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9DECED-424D-44AB-78F1-EBD09CEAC0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298" y="1438447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** syntax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can be used both in function parameters to accept keyword arguments and in keyword argument unpacking to pass arguments</a:t>
            </a:r>
          </a:p>
          <a:p>
            <a:pPr marL="228600" lvl="1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400" kern="100" dirty="0"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en-US" sz="14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endParaRPr lang="en-US" sz="1400" kern="100" dirty="0">
              <a:effectLst/>
              <a:latin typeface="Courier New" panose="02070309020205020404" pitchFamily="49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228600" lvl="1" indent="0">
              <a:lnSpc>
                <a:spcPct val="115000"/>
              </a:lnSpc>
              <a:spcAft>
                <a:spcPts val="800"/>
              </a:spcAft>
              <a:buNone/>
            </a:pPr>
            <a:endParaRPr lang="en-US" sz="14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1D5135-CF9E-0446-6AC0-84F3FEF46E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44" y="6028411"/>
            <a:ext cx="10516511" cy="566977"/>
          </a:xfrm>
          <a:prstGeom prst="rect">
            <a:avLst/>
          </a:prstGeom>
        </p:spPr>
      </p:pic>
      <p:sp>
        <p:nvSpPr>
          <p:cNvPr id="6" name="Text Box 2">
            <a:extLst>
              <a:ext uri="{FF2B5EF4-FFF2-40B4-BE49-F238E27FC236}">
                <a16:creationId xmlns:a16="http://schemas.microsoft.com/office/drawing/2014/main" id="{B7FFC094-AAC6-EBFD-36D7-15756A0F7A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8510" y="2636925"/>
            <a:ext cx="9406581" cy="2800767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  <a:headEnd/>
            <a:tailEnd/>
          </a:ln>
          <a:effectLst/>
        </p:spPr>
        <p:txBody>
          <a:bodyPr rot="0" vert="horz" wrap="square" lIns="91440" tIns="45720" rIns="91440" bIns="45720" anchor="t" anchorCtr="0">
            <a:spAutoFit/>
          </a:bodyPr>
          <a:lstStyle/>
          <a:p>
            <a:pPr marL="0" marR="0"/>
            <a:r>
              <a:rPr lang="en-US" sz="16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def </a:t>
            </a:r>
            <a:r>
              <a:rPr lang="en-US" sz="16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unpack_dictionary</a:t>
            </a:r>
            <a:r>
              <a:rPr lang="en-US" sz="16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(**</a:t>
            </a:r>
            <a:r>
              <a:rPr lang="en-US" sz="16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kwargs</a:t>
            </a:r>
            <a:r>
              <a:rPr lang="en-US" sz="16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):</a:t>
            </a:r>
            <a:endParaRPr lang="en-US" sz="16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6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    for key, value in </a:t>
            </a:r>
            <a:r>
              <a:rPr lang="en-US" sz="16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kwargs.items</a:t>
            </a:r>
            <a:r>
              <a:rPr lang="en-US" sz="16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():</a:t>
            </a:r>
            <a:endParaRPr lang="en-US" sz="16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6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        print(f"{key}: {value}")</a:t>
            </a:r>
            <a:endParaRPr lang="en-US" sz="16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6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en-US" sz="16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6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# Creating a dictionary</a:t>
            </a:r>
            <a:endParaRPr lang="en-US" sz="16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6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stock_dict</a:t>
            </a:r>
            <a:r>
              <a:rPr lang="en-US" sz="16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 = </a:t>
            </a:r>
            <a:r>
              <a:rPr lang="en-US" sz="16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dict</a:t>
            </a:r>
            <a:r>
              <a:rPr lang="en-US" sz="16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(zip(tickers, prices))</a:t>
            </a:r>
            <a:endParaRPr lang="en-US" sz="16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6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en-US" sz="16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6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# Passing the dictionary to the function using **</a:t>
            </a:r>
            <a:endParaRPr lang="en-US" sz="16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6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# **</a:t>
            </a:r>
            <a:r>
              <a:rPr lang="en-US" sz="16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stock_dict</a:t>
            </a:r>
            <a:r>
              <a:rPr lang="en-US" sz="16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 unpacks the key-value pairs of the dictionary, and each pair becomes a separate keyword argument to the function</a:t>
            </a:r>
            <a:endParaRPr lang="en-US" sz="16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6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unpack_dictionary</a:t>
            </a:r>
            <a:r>
              <a:rPr lang="en-US" sz="16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(**</a:t>
            </a:r>
            <a:r>
              <a:rPr lang="en-US" sz="16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stock_dict</a:t>
            </a:r>
            <a:r>
              <a:rPr lang="en-US" sz="16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)</a:t>
            </a:r>
            <a:endParaRPr lang="en-US" sz="16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04103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33615-A13A-A0F7-DAA8-A0FCC6578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1EED2-3CD2-8A01-EB50-E227AFDC4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on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A989F4-744A-1B9C-4D47-6A41CBCADF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298" y="1438447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Python Comprehensions  and Generator Expression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comprehension: build a sequence data structure, such as a list, set, or dictionary, using existing sequences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for tuple comprehension: use the tuple() constructor in combination with a generator expression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generator: 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a special type of iterator that supports iteration over a sequence of elements 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doesn’t store the entire sequence in memory but generates one element at a time on demand 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memory-efficient and capable of handling even infinite sequences </a:t>
            </a:r>
          </a:p>
          <a:p>
            <a:pPr marL="457200" lvl="1" indent="0">
              <a:buNone/>
            </a:pPr>
            <a:r>
              <a:rPr lang="en-US" sz="1400" kern="100" dirty="0"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en-US" sz="14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endParaRPr lang="en-US" sz="1400" kern="100" dirty="0">
              <a:effectLst/>
              <a:latin typeface="Courier New" panose="02070309020205020404" pitchFamily="49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228600" lvl="1" indent="0">
              <a:lnSpc>
                <a:spcPct val="115000"/>
              </a:lnSpc>
              <a:spcAft>
                <a:spcPts val="800"/>
              </a:spcAft>
              <a:buNone/>
            </a:pPr>
            <a:endParaRPr lang="en-US" sz="14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5B9320-A0FF-8435-3DBD-F219CF7299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44" y="6028411"/>
            <a:ext cx="10516511" cy="56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821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EBCE2-86A8-31FE-B86A-39EE09BF7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280B2-7922-6A69-5D80-EA624CB92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on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5ADE71-0C30-A047-BC05-E869ECCCEE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298" y="1438447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Python Comprehensions  and Generator Expression</a:t>
            </a:r>
          </a:p>
          <a:p>
            <a:pPr marL="457200" lvl="1" indent="0">
              <a:buNone/>
            </a:pPr>
            <a:r>
              <a:rPr lang="en-US" sz="1400" kern="100" dirty="0"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en-US" sz="14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endParaRPr lang="en-US" sz="1400" kern="100" dirty="0">
              <a:effectLst/>
              <a:latin typeface="Courier New" panose="02070309020205020404" pitchFamily="49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228600" lvl="1" indent="0">
              <a:lnSpc>
                <a:spcPct val="115000"/>
              </a:lnSpc>
              <a:spcAft>
                <a:spcPts val="800"/>
              </a:spcAft>
              <a:buNone/>
            </a:pPr>
            <a:endParaRPr lang="en-US" sz="14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BE559C-E035-E111-6409-CAE8B92E3C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44" y="6028411"/>
            <a:ext cx="10516511" cy="5669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0D5CF59-574E-7B5C-462E-4F0F48FAB3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41624"/>
            <a:ext cx="9610099" cy="3926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94235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B605E-A178-E599-CEAE-7244E1453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3AD1D-0EEE-EC94-48FF-1D3AC5BB0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on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0AF68D-0F67-1BC9-DDC7-11D1A7A32D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298" y="1438447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Python Comprehensions  and Generator Expression</a:t>
            </a:r>
          </a:p>
          <a:p>
            <a:pPr marL="457200" lvl="1" indent="0">
              <a:buNone/>
            </a:pPr>
            <a:r>
              <a:rPr lang="en-US" sz="1400" kern="100" dirty="0"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en-US" sz="14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endParaRPr lang="en-US" sz="1400" kern="100" dirty="0">
              <a:effectLst/>
              <a:latin typeface="Courier New" panose="02070309020205020404" pitchFamily="49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228600" lvl="1" indent="0">
              <a:lnSpc>
                <a:spcPct val="115000"/>
              </a:lnSpc>
              <a:spcAft>
                <a:spcPts val="800"/>
              </a:spcAft>
              <a:buNone/>
            </a:pPr>
            <a:endParaRPr lang="en-US" sz="14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5ADE80-7307-D354-9BA3-D11FF465DC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44" y="6028411"/>
            <a:ext cx="10516511" cy="566977"/>
          </a:xfrm>
          <a:prstGeom prst="rect">
            <a:avLst/>
          </a:prstGeom>
        </p:spPr>
      </p:pic>
      <p:sp>
        <p:nvSpPr>
          <p:cNvPr id="5" name="Text Box 2">
            <a:extLst>
              <a:ext uri="{FF2B5EF4-FFF2-40B4-BE49-F238E27FC236}">
                <a16:creationId xmlns:a16="http://schemas.microsoft.com/office/drawing/2014/main" id="{5B9215AB-B1E3-C2EE-B5AF-FAEF6F64D6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8584" y="1951335"/>
            <a:ext cx="10159314" cy="3816429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  <a:headEnd/>
            <a:tailEnd/>
          </a:ln>
          <a:effectLst/>
        </p:spPr>
        <p:txBody>
          <a:bodyPr rot="0" vert="horz" wrap="square" lIns="91440" tIns="45720" rIns="91440" bIns="45720" anchor="t" anchorCtr="0">
            <a:spAutoFit/>
          </a:bodyPr>
          <a:lstStyle/>
          <a:p>
            <a:pPr marL="0" marR="0"/>
            <a:r>
              <a:rPr lang="en-US" sz="11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var_list</a:t>
            </a:r>
            <a:r>
              <a:rPr lang="en-US" sz="11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 = ['A', 'B', 'C', 10, 'hello', 'hello', 'hello', 9.99, True, [1, 2, 3], {'language': 'Python'}, 'X', 'Y', 'Z']</a:t>
            </a:r>
            <a:endParaRPr lang="en-US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1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# build a list comprehension from an existing list's string elements</a:t>
            </a:r>
            <a:endParaRPr lang="en-US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1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comp_list</a:t>
            </a:r>
            <a:r>
              <a:rPr lang="en-US" sz="11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 = [var for var in </a:t>
            </a:r>
            <a:r>
              <a:rPr lang="en-US" sz="11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var_list</a:t>
            </a:r>
            <a:r>
              <a:rPr lang="en-US" sz="11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 if </a:t>
            </a:r>
            <a:r>
              <a:rPr lang="en-US" sz="11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isinstance</a:t>
            </a:r>
            <a:r>
              <a:rPr lang="en-US" sz="11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(var, str)]</a:t>
            </a:r>
            <a:endParaRPr lang="en-US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1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print(</a:t>
            </a:r>
            <a:r>
              <a:rPr lang="en-US" sz="11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comp_list</a:t>
            </a:r>
            <a:r>
              <a:rPr lang="en-US" sz="11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)</a:t>
            </a:r>
            <a:endParaRPr lang="en-US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1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# build a set comprehension from an existing list's string elements</a:t>
            </a:r>
            <a:endParaRPr lang="en-US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1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comp_set</a:t>
            </a:r>
            <a:r>
              <a:rPr lang="en-US" sz="11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 = {var for var in </a:t>
            </a:r>
            <a:r>
              <a:rPr lang="en-US" sz="11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var_list</a:t>
            </a:r>
            <a:r>
              <a:rPr lang="en-US" sz="11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 if </a:t>
            </a:r>
            <a:r>
              <a:rPr lang="en-US" sz="11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isinstance</a:t>
            </a:r>
            <a:r>
              <a:rPr lang="en-US" sz="11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(var, str)}</a:t>
            </a:r>
            <a:endParaRPr lang="en-US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1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print(</a:t>
            </a:r>
            <a:r>
              <a:rPr lang="en-US" sz="11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comp_set</a:t>
            </a:r>
            <a:r>
              <a:rPr lang="en-US" sz="11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)</a:t>
            </a:r>
            <a:endParaRPr lang="en-US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1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# build a dictionary comprehension from two existing lists</a:t>
            </a:r>
            <a:endParaRPr lang="en-US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1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stock_symbol</a:t>
            </a:r>
            <a:r>
              <a:rPr lang="en-US" sz="11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 = ["GOOG", "AAPL", "TSLA"]</a:t>
            </a:r>
            <a:endParaRPr lang="en-US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1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stock_price</a:t>
            </a:r>
            <a:r>
              <a:rPr lang="en-US" sz="11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 = [172, 190, 175]</a:t>
            </a:r>
            <a:endParaRPr lang="en-US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1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stocks_share</a:t>
            </a:r>
            <a:r>
              <a:rPr lang="en-US" sz="11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 = {</a:t>
            </a:r>
            <a:r>
              <a:rPr lang="en-US" sz="11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symbol:price</a:t>
            </a:r>
            <a:r>
              <a:rPr lang="en-US" sz="11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 for symbol, price in zip(</a:t>
            </a:r>
            <a:r>
              <a:rPr lang="en-US" sz="11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stock_symbol</a:t>
            </a:r>
            <a:r>
              <a:rPr lang="en-US" sz="11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sz="11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stock_price</a:t>
            </a:r>
            <a:r>
              <a:rPr lang="en-US" sz="11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)}</a:t>
            </a:r>
            <a:endParaRPr lang="en-US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1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print(</a:t>
            </a:r>
            <a:r>
              <a:rPr lang="en-US" sz="11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stocks_share</a:t>
            </a:r>
            <a:r>
              <a:rPr lang="en-US" sz="11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)</a:t>
            </a:r>
            <a:endParaRPr lang="en-US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1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# build a generator comprehension from an existing list's string elements</a:t>
            </a:r>
            <a:endParaRPr lang="en-US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1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comp_generator</a:t>
            </a:r>
            <a:r>
              <a:rPr lang="en-US" sz="11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 = (var for var in </a:t>
            </a:r>
            <a:r>
              <a:rPr lang="en-US" sz="11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var_list</a:t>
            </a:r>
            <a:r>
              <a:rPr lang="en-US" sz="11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 if </a:t>
            </a:r>
            <a:r>
              <a:rPr lang="en-US" sz="11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isinstance</a:t>
            </a:r>
            <a:r>
              <a:rPr lang="en-US" sz="11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(var, str))</a:t>
            </a:r>
            <a:endParaRPr lang="en-US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1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print(</a:t>
            </a:r>
            <a:r>
              <a:rPr lang="en-US" sz="11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comp_generator</a:t>
            </a:r>
            <a:r>
              <a:rPr lang="en-US" sz="11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)</a:t>
            </a:r>
            <a:endParaRPr lang="en-US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1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for var in </a:t>
            </a:r>
            <a:r>
              <a:rPr lang="en-US" sz="11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comp_generator</a:t>
            </a:r>
            <a:r>
              <a:rPr lang="en-US" sz="11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:</a:t>
            </a:r>
            <a:endParaRPr lang="en-US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1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    print(var, end = ' ')</a:t>
            </a:r>
            <a:endParaRPr lang="en-US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1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print()</a:t>
            </a:r>
            <a:endParaRPr lang="en-US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1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# build a tuple using generator comprehension</a:t>
            </a:r>
            <a:endParaRPr lang="en-US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1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comp_to_tuple</a:t>
            </a:r>
            <a:r>
              <a:rPr lang="en-US" sz="11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 = tuple(var for var in </a:t>
            </a:r>
            <a:r>
              <a:rPr lang="en-US" sz="11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var_list</a:t>
            </a:r>
            <a:r>
              <a:rPr lang="en-US" sz="11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 if </a:t>
            </a:r>
            <a:r>
              <a:rPr lang="en-US" sz="11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isinstance</a:t>
            </a:r>
            <a:r>
              <a:rPr lang="en-US" sz="11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(var, str))</a:t>
            </a:r>
            <a:endParaRPr lang="en-US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1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print(</a:t>
            </a:r>
            <a:r>
              <a:rPr lang="en-US" sz="11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comp_to_tuple</a:t>
            </a:r>
            <a:r>
              <a:rPr lang="en-US" sz="11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)</a:t>
            </a:r>
            <a:endParaRPr lang="en-US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203616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0B350-177F-D77D-AD06-638191D46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1D5ED-CEEF-F221-60F9-0100D4F7F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on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111AB3-590E-D51A-2A98-EEE5852EE4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298" y="1438447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Lambda Expressions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functions: have a header containing the function name and a list of parameters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lambda expressions are simple, anonymous functions that can be defined and used inline</a:t>
            </a:r>
          </a:p>
          <a:p>
            <a:pPr marL="457200" lvl="1" indent="0">
              <a:buNone/>
            </a:pPr>
            <a:r>
              <a:rPr lang="en-US" sz="1400" kern="100" dirty="0"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en-US" sz="14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endParaRPr lang="en-US" sz="1400" kern="100" dirty="0">
              <a:effectLst/>
              <a:latin typeface="Courier New" panose="02070309020205020404" pitchFamily="49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228600" lvl="1" indent="0">
              <a:lnSpc>
                <a:spcPct val="115000"/>
              </a:lnSpc>
              <a:spcAft>
                <a:spcPts val="800"/>
              </a:spcAft>
              <a:buNone/>
            </a:pPr>
            <a:endParaRPr lang="en-US" sz="14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FD00DB-3FAC-FD80-61BA-A08C3FE99D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44" y="6028411"/>
            <a:ext cx="10516511" cy="5669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380527A-83FC-D5AD-B32F-D6D7ADDB0C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102" y="2249546"/>
            <a:ext cx="10750115" cy="2358907"/>
          </a:xfrm>
          <a:prstGeom prst="rect">
            <a:avLst/>
          </a:prstGeom>
        </p:spPr>
      </p:pic>
      <p:sp>
        <p:nvSpPr>
          <p:cNvPr id="6" name="Text Box 2">
            <a:extLst>
              <a:ext uri="{FF2B5EF4-FFF2-40B4-BE49-F238E27FC236}">
                <a16:creationId xmlns:a16="http://schemas.microsoft.com/office/drawing/2014/main" id="{CC7F8B65-231C-D95F-128C-B919F439E2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3615" y="4466346"/>
            <a:ext cx="9384957" cy="1323439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  <a:headEnd/>
            <a:tailEnd/>
          </a:ln>
          <a:effectLst/>
        </p:spPr>
        <p:txBody>
          <a:bodyPr rot="0" vert="horz" wrap="square" lIns="91440" tIns="45720" rIns="91440" bIns="45720" anchor="t" anchorCtr="0">
            <a:spAutoFit/>
          </a:bodyPr>
          <a:lstStyle/>
          <a:p>
            <a:pPr marL="0" marR="0"/>
            <a:r>
              <a:rPr lang="en-US" sz="16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# two lambda expressions are used to do calculations between feet and meter conversion</a:t>
            </a:r>
            <a:endParaRPr lang="en-US" sz="16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6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width = {'Feet to Meter': lambda feet: 0.305 * feet,    </a:t>
            </a:r>
            <a:endParaRPr lang="en-US" sz="16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6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         'Meter to Feet': lambda meet: 3.281 * meter}</a:t>
            </a:r>
            <a:endParaRPr lang="en-US" sz="16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6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print(width['Feet to Meter'](3.9))</a:t>
            </a:r>
            <a:endParaRPr lang="en-US" sz="16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4095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726</TotalTime>
  <Words>3060</Words>
  <Application>Microsoft Office PowerPoint</Application>
  <PresentationFormat>Widescreen</PresentationFormat>
  <Paragraphs>344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9" baseType="lpstr">
      <vt:lpstr>Aptos</vt:lpstr>
      <vt:lpstr>Aptos Display</vt:lpstr>
      <vt:lpstr>Arial</vt:lpstr>
      <vt:lpstr>Courier New</vt:lpstr>
      <vt:lpstr>Wingdings</vt:lpstr>
      <vt:lpstr>Office Theme</vt:lpstr>
      <vt:lpstr>Data Analytics Using Python Dr. Ziping Liu  </vt:lpstr>
      <vt:lpstr>https://he.kendallhunt.com/product/data-analytics-using-python  </vt:lpstr>
      <vt:lpstr>Python Advantages</vt:lpstr>
      <vt:lpstr>Getting Started with Python</vt:lpstr>
      <vt:lpstr>Python Basics</vt:lpstr>
      <vt:lpstr>Python Basics</vt:lpstr>
      <vt:lpstr>Python Basics</vt:lpstr>
      <vt:lpstr>Python Basics</vt:lpstr>
      <vt:lpstr>Python Basics</vt:lpstr>
      <vt:lpstr>Python Basics</vt:lpstr>
      <vt:lpstr>Python Basics</vt:lpstr>
      <vt:lpstr>Python Basics</vt:lpstr>
      <vt:lpstr>Python Basics</vt:lpstr>
      <vt:lpstr>Python Basics</vt:lpstr>
      <vt:lpstr>Python Basics</vt:lpstr>
      <vt:lpstr>Python Basics</vt:lpstr>
      <vt:lpstr>Python Basics</vt:lpstr>
      <vt:lpstr>Python Basics</vt:lpstr>
      <vt:lpstr>Python Basics</vt:lpstr>
      <vt:lpstr>Python Basics</vt:lpstr>
      <vt:lpstr>Python Basics</vt:lpstr>
      <vt:lpstr>Python Basics</vt:lpstr>
      <vt:lpstr>More on Python</vt:lpstr>
      <vt:lpstr>More on Python</vt:lpstr>
      <vt:lpstr>More on Python</vt:lpstr>
      <vt:lpstr>More on Python</vt:lpstr>
      <vt:lpstr>More on Python</vt:lpstr>
      <vt:lpstr>More on Python</vt:lpstr>
      <vt:lpstr>More on Python</vt:lpstr>
      <vt:lpstr>More on Python</vt:lpstr>
      <vt:lpstr>More on Python</vt:lpstr>
      <vt:lpstr>More on Python</vt:lpstr>
      <vt:lpstr>More on Python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Liu, Ziping</dc:creator>
  <cp:lastModifiedBy>Liu, Ziping</cp:lastModifiedBy>
  <cp:revision>75</cp:revision>
  <dcterms:created xsi:type="dcterms:W3CDTF">2025-01-08T14:48:28Z</dcterms:created>
  <dcterms:modified xsi:type="dcterms:W3CDTF">2025-01-10T16:22:43Z</dcterms:modified>
</cp:coreProperties>
</file>