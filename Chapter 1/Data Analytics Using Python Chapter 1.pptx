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3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FDBE90D-6443-45D5-AB73-6A7D0CBCCF85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0D21F2D-1907-45F1-9B93-BB1762A94325}" type="pres">
      <dgm:prSet presAssocID="{2FDBE90D-6443-45D5-AB73-6A7D0CBCCF85}" presName="matrix" presStyleCnt="0">
        <dgm:presLayoutVars>
          <dgm:chMax val="1"/>
          <dgm:dir/>
          <dgm:resizeHandles val="exact"/>
        </dgm:presLayoutVars>
      </dgm:prSet>
      <dgm:spPr/>
    </dgm:pt>
  </dgm:ptLst>
  <dgm:cxnLst>
    <dgm:cxn modelId="{0ED6465E-DA6A-4410-A68E-A5C5BDC5C01F}" type="presOf" srcId="{2FDBE90D-6443-45D5-AB73-6A7D0CBCCF85}" destId="{E0D21F2D-1907-45F1-9B93-BB1762A94325}" srcOrd="0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599E3-8D9F-3F5B-0308-7F5329DEA5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90651-91C2-BA19-35EC-A04BA9FD11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01DD5A-2112-6235-85DC-B1B299E85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A9076-7565-CDA6-EDBA-EC2961545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EAC44E-B761-B97D-C746-ECAB6BB96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529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9E6AC-BA0C-3CB0-A332-C14B281CD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67869-5FC6-53F4-7BC6-5136E5507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B6CE0-9019-D821-C2F3-C78CF2C5C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96E9F-D2BE-3C4A-D26A-F7C5A5D11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8CC43-53EB-84ED-63B3-9A3403CEE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431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8D887-4D96-118D-73A2-1C895A67B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B085A-425F-FD3C-BC71-9A29495F9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4329D-6798-F07C-D487-6101B49A2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F25C4-C66D-4341-42FF-9C7C602AD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18A81-8750-B962-F8C6-6DA1403A7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004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CD042-266E-A796-1A36-96B70B22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36A0C-4A74-A126-7A99-F06853058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5CC16C-9EAC-FE9F-396B-0241F79620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9D6F5-EFBE-6874-ED24-0A51C2684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1EDD0-9CCB-FAD1-C4F2-4E43F03FD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2613EA-8DBD-A257-A690-042711A7B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831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ACE6-F826-5B66-2371-F2D502554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D56492-1758-D69A-3E6F-15261B003F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BD8565-447E-7044-9CE0-673F60DC2F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3E43F8-3C42-54CA-4E92-F6A3940F26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A97A32-71E6-549D-B127-599697995C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8A95A3-01EC-6EF0-5031-5E525E62D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74BE6-33F4-D96C-2405-87AEFEDCC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FB891F-BE7B-C13D-681A-2C793B09D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095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75743-E60C-78E3-4219-5712DC704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6DF502-5BB8-D822-01D7-20936C34E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5FAD0-C9E9-80E2-6DFA-0BC166AE6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4DCEC0-8357-5413-2403-9992319E8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388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D9867B-72CF-0811-E65E-1F1A0A928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48B39-123B-5C1E-0B64-6FC3E2859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3C226-40C4-ED8E-9C41-87B4E082F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028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2E48C-0492-969D-5358-C6C95D650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7FBA1-E0E8-57D0-829D-823FB90F4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A7BB11-40DB-E7BF-59DE-E5088FC55B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9E303-25F7-D260-0C1E-1C5D9A968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87058F-FFC4-BC2B-7574-A9DB1D7F5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A0D607-D6DB-9EBE-6590-0B6F3CFD7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458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CB2A1-BC34-EA9A-859D-059A7A66E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B26546-3C25-49A1-3B36-715D1745DB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7F8061-0760-C9C3-320B-EAD574AF2E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F327B0-28E5-1E67-61B0-C32CC09E5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B7E62B-ABB9-605C-5E4E-9BF3E4FF7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D59CD-E644-8A47-6C41-35307D327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657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41B45-B749-84F1-7E0D-232A8B6C5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25F5B-9932-7B22-3C88-08AD57BC21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C74961-E805-FB33-5A16-E0CFA3716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9018F-11E0-CA53-A68B-C731CC509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87CFC-CA41-1297-94D3-F89EC65DA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380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1B2452-1456-A52C-F8D5-3234E07ED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D70949-F825-32B2-260B-674118F1E7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E993F-73E9-E7AE-2ED3-3D288F24A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06DBD-D9C7-84D2-27D0-26FD2568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78735-00EC-3CA0-1B73-68A025E39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262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BA9FD8-0BA2-A466-EEFA-529DB2516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8B1EC5-F665-6631-6BF9-22FB9539D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F9369-7ED6-38A0-734A-DD110F926D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E8669A-962F-4ACD-AB1E-07597AA7AD56}" type="datetimeFigureOut">
              <a:rPr lang="en-US" smtClean="0"/>
              <a:t>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B8940-D37A-E1F1-4E91-FF221089D6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86E2C-CD23-0AB2-1973-F43BEF1BEF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C5ECDF-75F7-4588-A97A-7139A51418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2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F9090E-B393-B65A-FB99-54955B954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2" y="5116529"/>
            <a:ext cx="10592174" cy="1000655"/>
          </a:xfrm>
        </p:spPr>
        <p:txBody>
          <a:bodyPr anchor="t">
            <a:normAutofit fontScale="90000"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Data Analytics Using Python</a:t>
            </a:r>
            <a:br>
              <a:rPr lang="en-US" sz="4000" dirty="0">
                <a:solidFill>
                  <a:schemeClr val="tx2"/>
                </a:solidFill>
              </a:rPr>
            </a:br>
            <a:r>
              <a:rPr lang="en-US" sz="4000" dirty="0">
                <a:solidFill>
                  <a:schemeClr val="tx2"/>
                </a:solidFill>
              </a:rPr>
              <a:t>Dr. Ziping Liu</a:t>
            </a:r>
            <a:br>
              <a:rPr lang="en-US" sz="4000" dirty="0">
                <a:solidFill>
                  <a:schemeClr val="tx2"/>
                </a:solidFill>
              </a:rPr>
            </a:br>
            <a:br>
              <a:rPr lang="en-US" sz="4000" dirty="0">
                <a:solidFill>
                  <a:schemeClr val="tx2"/>
                </a:solidFill>
              </a:rPr>
            </a:br>
            <a:endParaRPr lang="en-US" sz="400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8AF3EB-4A00-F339-DB94-667C1265C9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55" r="18623" b="1"/>
          <a:stretch/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3" name="Freeform: Shape 12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D050330C-0FBB-F582-ADD0-61D00E5ADF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672" y="4580785"/>
            <a:ext cx="9416898" cy="484374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Chapter 1 Python Programming Language Review</a:t>
            </a:r>
          </a:p>
        </p:txBody>
      </p:sp>
    </p:spTree>
    <p:extLst>
      <p:ext uri="{BB962C8B-B14F-4D97-AF65-F5344CB8AC3E}">
        <p14:creationId xmlns:p14="http://schemas.microsoft.com/office/powerpoint/2010/main" val="4278189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9BF0A-0571-3AE4-329B-7FDD247C4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Advantages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84F35-20A0-78B6-C0D7-3446E8B5E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891173"/>
            <a:ext cx="10515600" cy="571580"/>
          </a:xfrm>
          <a:prstGeom prst="rect">
            <a:avLst/>
          </a:prstGeom>
        </p:spPr>
      </p:pic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CA9A291D-AFBA-B921-9197-A2EF55DD29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96920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73B51906-99F1-4B60-56D1-905E24A71B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7100" y="1366201"/>
            <a:ext cx="6865491" cy="4216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558A932-A150-AAEB-AF28-D9156CC23D7C}"/>
              </a:ext>
            </a:extLst>
          </p:cNvPr>
          <p:cNvSpPr txBox="1"/>
          <p:nvPr/>
        </p:nvSpPr>
        <p:spPr>
          <a:xfrm>
            <a:off x="906162" y="1622855"/>
            <a:ext cx="511569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Popular programming language data science and artificial intelligence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offers the advantages of simplicity, a rich ecosystem of libraries, a large open-source community, and scalability</a:t>
            </a:r>
          </a:p>
          <a:p>
            <a:pPr marL="285750" indent="-285750">
              <a:buFontTx/>
              <a:buChar char="-"/>
            </a:pPr>
            <a:r>
              <a:rPr lang="en-US" dirty="0"/>
              <a:t>Unlike compiled languages such as C++,Java</a:t>
            </a:r>
          </a:p>
          <a:p>
            <a:pPr marL="285750" indent="-285750">
              <a:buFontTx/>
              <a:buChar char="-"/>
            </a:pPr>
            <a:r>
              <a:rPr lang="en-US" dirty="0"/>
              <a:t>is an interpreted language, doesn't need to be translated into machine code before running. code executed line by line by an interpreter at runtime </a:t>
            </a:r>
          </a:p>
          <a:p>
            <a:pPr marL="285750" indent="-285750">
              <a:buFontTx/>
              <a:buChar char="-"/>
            </a:pPr>
            <a:r>
              <a:rPr lang="en-US" dirty="0"/>
              <a:t>has characteristics of a scripting language, being easy to learn and code, suitable for automating tasks and building prototypes. </a:t>
            </a:r>
          </a:p>
        </p:txBody>
      </p:sp>
    </p:spTree>
    <p:extLst>
      <p:ext uri="{BB962C8B-B14F-4D97-AF65-F5344CB8AC3E}">
        <p14:creationId xmlns:p14="http://schemas.microsoft.com/office/powerpoint/2010/main" val="2717311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0A379-4975-80DB-8A99-0A8C6BBC9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 with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ADCC9-9A6A-D1F9-2528-5D4ED8E98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Installation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/>
              <a:t>Install Python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/>
              <a:t>Install Anaconda</a:t>
            </a:r>
          </a:p>
          <a:p>
            <a:r>
              <a:rPr lang="en-US" dirty="0"/>
              <a:t>Integrated development environments (IDEs)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/>
              <a:t>PyCharm: A Python IDE for data science and web development.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/>
              <a:t>Visual Studio Code: A code editor developed by Microsoft for every major programming language.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/>
              <a:t>Spyder: A free and open-source scientific environment written in Python, for Python.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dirty="0" err="1">
                <a:highlight>
                  <a:srgbClr val="FFFF00"/>
                </a:highlight>
              </a:rPr>
              <a:t>Jupyter</a:t>
            </a:r>
            <a:r>
              <a:rPr lang="en-US" sz="2000" dirty="0">
                <a:highlight>
                  <a:srgbClr val="FFFF00"/>
                </a:highlight>
              </a:rPr>
              <a:t> Notebook</a:t>
            </a:r>
            <a:r>
              <a:rPr lang="en-US" sz="2000" dirty="0"/>
              <a:t>: A web application for creating and sharing computational documents. </a:t>
            </a:r>
          </a:p>
          <a:p>
            <a:r>
              <a:rPr lang="en-US" dirty="0">
                <a:highlight>
                  <a:srgbClr val="FFFF00"/>
                </a:highlight>
              </a:rPr>
              <a:t>Google </a:t>
            </a:r>
            <a:r>
              <a:rPr lang="en-US" dirty="0" err="1">
                <a:highlight>
                  <a:srgbClr val="FFFF00"/>
                </a:highlight>
              </a:rPr>
              <a:t>Colab</a:t>
            </a:r>
            <a:r>
              <a:rPr lang="en-US" dirty="0"/>
              <a:t>: web-based, no need to install Python and </a:t>
            </a:r>
            <a:r>
              <a:rPr lang="en-US" dirty="0" err="1"/>
              <a:t>Jupyter</a:t>
            </a:r>
            <a:r>
              <a:rPr lang="en-US" dirty="0"/>
              <a:t> Notebook locally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4AA88-5BCC-84A9-7F2A-E7FED0281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115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F10ED-AECE-10BB-48CC-88F36A13F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B884-72D2-4A32-C106-AEE33BE91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C9401-4FED-2721-C525-3D5076DEB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Variables and Data Types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Variables are used to store data.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Python variables are not explicitly typed.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Python data types are associated with the objects that the variables reference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94B07C-A60A-F75D-7AE4-76C207BB7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557BA6-6BFC-94BF-530F-829D02F05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166" y="3230028"/>
            <a:ext cx="5375769" cy="11071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3E234F-92B4-D7E8-9428-DD3802781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166" y="4472099"/>
            <a:ext cx="5742930" cy="118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70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75E08-25F9-D8B4-9368-84CA3256A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34F05-E38B-9AFD-A5F0-F9BF88CF5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8CA83-14C4-7633-7D08-567F7ACCB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numbers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include integers and floats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Integers: whole numbers without decimal points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Floats: numbers with decimal points</a:t>
            </a:r>
          </a:p>
          <a:p>
            <a:endParaRPr lang="en-US" dirty="0"/>
          </a:p>
          <a:p>
            <a:endParaRPr lang="en-US" dirty="0"/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the running result is: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int_var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10,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float_var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10.00</a:t>
            </a: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7724AD-B096-2673-2722-8E6DCC9A3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56BA1508-3900-CC88-561B-DC665B85DE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0845" y="3109999"/>
            <a:ext cx="8796981" cy="83099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int_var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10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float_var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9.99999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f"int_var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int_var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},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float_var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{float_var:.2f}")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7072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4ABA-2536-452A-B8CF-6BB831094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9F56A-BFFE-8DC6-2BB1-ABF08C84C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025DE-FAF2-C02C-5225-C4803A071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Python Strings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textual data enclosed in single, double, or triple quotes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triple quotes allowing for multi-line strings or docstrings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the running result is:</a:t>
            </a:r>
          </a:p>
          <a:p>
            <a:pPr marL="457200" lvl="1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one_quote_var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hello, world</a:t>
            </a:r>
          </a:p>
          <a:p>
            <a:pPr marL="457200" lvl="1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two_quote_var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hello, world</a:t>
            </a:r>
          </a:p>
          <a:p>
            <a:pPr marL="457200" lvl="1" indent="0">
              <a:buNone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three_quote_var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hello</a:t>
            </a:r>
          </a:p>
          <a:p>
            <a:pPr marL="457200" lvl="1" indent="0">
              <a:buNone/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world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5C7632-3935-B774-7628-5E615F27F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5C5115B5-3826-81DC-1CBE-FE513C054C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7892" y="2596817"/>
            <a:ext cx="10010006" cy="156966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one_quote_var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'hello, world'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two_quote_var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"hello, world"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three_quote_var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'''hello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          world'''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f"one_quote_var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one_quote_var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}\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ntwo_quote_var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two_quote_var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}\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nthree_quote_var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three_quote_var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}")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2657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03884-8345-11B2-82A8-39148C6B1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59A21-0EEA-5EE9-EDF3-CFC93DF9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791CE-36D4-4CA5-F5F1-A1F367688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objects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include collections of elements, such as Lists, Tuples, Dictionaries and Sets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44D439-44C7-00AB-C8A3-800FA4B952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73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70B82-3FB6-6E5C-D6F3-DAA5DBE38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93158-962A-4E17-1C26-3741F39F4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FCE9D-F574-5652-9FCE-3B949A00D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Python Lists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ordered collections of elements and elements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be any data types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store heterogeneous collections of data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be created with brackets, and elements are separated by commas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mutable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Exercise: use other approaches to create </a:t>
            </a:r>
            <a:r>
              <a:rPr lang="en-US" dirty="0" err="1"/>
              <a:t>var_list</a:t>
            </a:r>
            <a:r>
              <a:rPr lang="en-US" dirty="0"/>
              <a:t>, update one item in the list, remove one item from the list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300D3-045D-0AE8-5337-D579D89AE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3E6CF648-7B74-3D84-699E-222D04B97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7322" y="3549734"/>
            <a:ext cx="6358581" cy="116955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[10, "hello", 9.99, True, [1, 2, 3], {"language": "Python"}]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print("before add a new item,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var_list.append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(['new', 'item'])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print("after add a new item,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119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C24CF-759C-5FAD-430E-15FBA1AAD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1603F-B473-240C-A855-471BC67BD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20C20-4871-6CB8-186A-57AAA3077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tuples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ordered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Immutable: cannot add new items to them or remove existing ones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store heterogeneous collections of data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be created with parentheses (), and elements are separated by commas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Exercise: use other approaches to create </a:t>
            </a:r>
            <a:r>
              <a:rPr lang="en-US" dirty="0" err="1"/>
              <a:t>var_tuple</a:t>
            </a:r>
            <a:r>
              <a:rPr lang="en-US" dirty="0"/>
              <a:t>, output one of the items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33B0F4-095C-3473-BCCB-6E0C9CB98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7EC018E3-09A7-1CA1-9907-FFD7C0D977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5778" y="3913797"/>
            <a:ext cx="9029184" cy="64940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>
              <a:lnSpc>
                <a:spcPct val="115000"/>
              </a:lnSpc>
            </a:pP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var_tuple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(10, "hello", 9.99, True, [1, 2, 3], {"language": "Python"})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</a:pP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var_tuple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 ",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var_tuple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662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33556-E234-DE6E-A82B-BC743C686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0275E-9F78-F27E-FE69-E8DB5EE0F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54F40-CC27-5C5F-AACC-FE9C34FB7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Python Dictionaries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key-value pairs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keys are unique identifiers, </a:t>
            </a:r>
            <a:r>
              <a:rPr lang="en-US" dirty="0" err="1"/>
              <a:t>mmutable</a:t>
            </a:r>
            <a:r>
              <a:rPr lang="en-US" dirty="0"/>
              <a:t> and </a:t>
            </a:r>
            <a:r>
              <a:rPr lang="en-US" dirty="0" err="1"/>
              <a:t>hashable</a:t>
            </a:r>
            <a:r>
              <a:rPr lang="en-US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common data types for keys include strings, numbers, or tuples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values can be any data type - numbers, strings, lists, dictionaries, or even custom objects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values store the actual information associated with the key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do not preserve the order in which elements were added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mutable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be created with curly braces {}, and elements are separated by commas. Colons : separate the keys from their values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Exercise: use other approaches to create </a:t>
            </a:r>
            <a:r>
              <a:rPr lang="en-US" dirty="0" err="1"/>
              <a:t>apple_stock</a:t>
            </a:r>
            <a:r>
              <a:rPr lang="en-US" dirty="0"/>
              <a:t>, remove one key-value pair 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F3830E-E5EF-1ADC-ECC2-9464BB86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67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413A4-EEE6-04B1-0B1A-951BC61DC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17F2-4F36-BF74-35E7-87217B799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BB805-A224-0533-E97D-764C94044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Dictionaries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5275FC-1B9C-6DBA-A1AC-FCD32B8FE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A55B6A67-0BA6-B7AB-455F-8785CEA56F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1492" y="1929314"/>
            <a:ext cx="10332308" cy="381642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define a dictionary for apple stock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{"symbol": "AAPL", "shares": 100, "price": 150.25, "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total_value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": 15025.00}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Accessing values by key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ticker =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["symbol"]  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Modifying a value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["shares"] = 150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Adding a new key-value pair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["year"] = 2023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get all keys as a list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print("all keys: ", list(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apple_stock.keys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()))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get all values as a list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print("all values: ", list(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apple_stock.values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()))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get all key-value pairs as tuples of list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print("apple stock: ", list(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apple_stock.items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()))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If the key 'going up' exists in the dictionary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appleStock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, the get() method will return the associated value.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However, if the key doesn't exist, the get() method will return the second argument, which is '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NaN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' (Not a Number) in this case.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apple_stock.get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('going up', '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NaN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'))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Unlike get(),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setdefault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 modifies the dictionary if the key doesn't exist.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the key 'going down' is missing,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setdefault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 will add it to the dictionary with the value '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NaN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'.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apple_stock.setdefault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('going down', '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NaN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')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print("apple stock: ", list(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apple_stock.items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()))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589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300B3-EA4D-2077-B778-94F2CD89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16F88-F0ED-65CE-AC1D-A3B48B7D9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1D047-634E-10D3-EC2F-99FDA7192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Python Sets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unordered collections of unique elements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Elements themselves immutable and </a:t>
            </a:r>
            <a:r>
              <a:rPr lang="en-US" dirty="0" err="1"/>
              <a:t>hashable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mutable, allow to add or remove elements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be created with curly braces {}, and elements are separated by commas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Exercise: use other approaches to create </a:t>
            </a:r>
            <a:r>
              <a:rPr lang="en-US" dirty="0" err="1"/>
              <a:t>var_set</a:t>
            </a:r>
            <a:r>
              <a:rPr lang="en-US" dirty="0"/>
              <a:t>, update one item in the list, add a new item, remove one item from the 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ACC4F-B9ED-288F-2DBC-5D4E6A2B8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40ACB8AC-1DB7-9399-FE2B-BEB70A8E6C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5561" y="3614118"/>
            <a:ext cx="7660158" cy="106567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</a:t>
            </a:r>
            <a:r>
              <a:rPr lang="en-US" sz="1600" kern="100" dirty="0" err="1"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set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sz="1600" kern="100" dirty="0"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{</a:t>
            </a:r>
            <a:r>
              <a:rPr lang="nb-NO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10, 10, "hello", 9.99, True, (1, 2, 3)</a:t>
            </a:r>
            <a:r>
              <a:rPr lang="en-US" sz="1600" kern="100" dirty="0"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}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var_set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 ",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var_set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pPr marL="0" marR="0">
              <a:lnSpc>
                <a:spcPct val="115000"/>
              </a:lnSpc>
              <a:spcAft>
                <a:spcPts val="800"/>
              </a:spcAft>
            </a:pP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5215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6ADE5-3A87-08DC-2D95-0BC799037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5676B-64D4-0C5A-2C38-FF4C5AA36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C459B-5B15-3B64-B4B2-24239A016A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Indentation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code blocks are defined by colon(:)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typically using 4 spaces or tabs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determines the scope of loops, conditionals, functions, classes, and other constructs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F29376-04E5-948F-2DFD-36434FEC2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126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62775-8684-E4BD-67FF-302FED47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7E09-62D7-A202-FDDE-C36834F26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4D383-E2C5-5FCB-0393-FD748D6CB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Control Structures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E6F809-4E37-0C33-FEB3-014A65A0C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B90351-AE97-1B38-B945-3F11773AB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887" y="2302901"/>
            <a:ext cx="5936666" cy="225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545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F9881-B249-C965-4E4B-A6F2097F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1A43E-D9DF-DDE6-90BE-B83EB0DC0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5B57D-3F27-BB0B-7286-FCE757B9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if statement: conditional execution, allowing code to run based on whether a specified condition is true or false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0C90F9-A1B9-7467-D585-8198F7F15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692BB2-DAF1-3772-FDB4-96F2F2598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72803" y="1647911"/>
            <a:ext cx="6854952" cy="34686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3D2331-586E-34F7-E088-4A85AA54F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7048" y="2076917"/>
            <a:ext cx="6854952" cy="261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968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6A793-A681-145F-EB7A-A2FE74B0A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76F7C-6C05-34FB-BB6D-06EA3F755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E4C24-7663-532F-1999-3A12EF3F18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If statement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D999FD-EC7C-7D7F-3681-B28F1E12F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0D21CD17-51E3-3A13-0BD6-B19742FDA5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3254" y="1959817"/>
            <a:ext cx="10058400" cy="360098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investment = 1000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current_price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1155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purchase_price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1100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if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purchase_price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== 0: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roi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null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else: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roi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(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current_price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-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purchase_price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 /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purchase_price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* 100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earned = investment *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roi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/ 100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if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roi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&gt; 10: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print(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f"Your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investment has a strong return of {roi:.2f}% and you earn {earned: .2f}!")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elif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roi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&gt; 0: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print(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f"Your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investment has a positive return of {roi:.2f}% and you earn {earned: .2f}")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elif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roi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== 0: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print(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f"Your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investment has broken even and you earn {earned: .2f}.")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else: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print(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f"Your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investment has a negative return of {abs(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roi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):.2f}% and you earn {earned: .2f}")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074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958AA-9C8B-403D-9852-10A8B42EB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852A-F81C-3611-2BEC-F4647BEEE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58353-4D5F-A553-59DB-6692212A5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loop: repetitive tasks and/or collections of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4A1BC9-8BAD-9995-FED2-752D7223A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0C39F8-8285-25C3-B627-1DA529FA7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83" y="943070"/>
            <a:ext cx="7302350" cy="23751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505201-AD54-D682-CED5-A99F92109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3692" y="3322404"/>
            <a:ext cx="5083559" cy="2701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654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82D1-058A-7C28-F3AA-C4BDF1E6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7024-2571-9D19-6578-A8C1C15ED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63EAD-61A3-B01E-B6C6-A5DE992FC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for statement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DD355F-9163-8420-948C-A144E95DC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7" name="Text Box 2">
            <a:extLst>
              <a:ext uri="{FF2B5EF4-FFF2-40B4-BE49-F238E27FC236}">
                <a16:creationId xmlns:a16="http://schemas.microsoft.com/office/drawing/2014/main" id="{3FADF615-5406-BD81-CF75-8463505E0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0186" y="2071653"/>
            <a:ext cx="7824917" cy="2308324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import random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stock_data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"AAPL": round(150.23 +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random.random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 * 10, 2),  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"TSLA": round(900.00 +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random.random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 * 50, 2),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"GOOG": round(2800.00 -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random.random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 * 100, 2)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}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for symbol, price in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stock_data.items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():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print(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f"Stock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 {symbol}, Price: ${price}")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8077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F011-E7B7-34D1-A0AB-B060737D4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5EA78-834F-2C55-B7C5-66E5CC02C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34E2-E859-3825-B2EC-90D6125B9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while statement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127C9C-ED3C-D76F-A8BC-BEF8EA02F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5CC780B7-1BC9-AF94-3B50-D500CB56C1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5472" y="1951336"/>
            <a:ext cx="9727857" cy="3231654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aapl_price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159.23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guess = 180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guess_times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1 # A counter is initialized to keep track of the number of guesses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while guess !=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aapl_price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guess = float(input("Guess apple's stock price: "))   # Prompts the user to guess the stock price and converts the input to a float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if abs(guess -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aapl_price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 &lt;= 10 and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guess_times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&lt; 3: # abs(): find absolute value of an expression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print("Congratulations, you guessed the price!")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break                                             # exits the loop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elif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abs(guess -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aapl_price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 &gt; 10 and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guess_times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&lt; 3: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print("Try again!")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else: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print("Run out of guessing times!")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break                                             # exits the loop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guess_times</a:t>
            </a:r>
            <a:r>
              <a:rPr lang="en-US" sz="12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+=1                                       # increments the guess counter after each guess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032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343C5-E820-AC4F-7558-977C5D0C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53013-BB9C-31D6-CEEE-034D8456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61EC0-FA11-E646-2AEF-60CA3830B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Functions: reusable blocks of code designed to perform specific tasks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751753-33A9-9160-6C71-1DA306F9A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09E4F1-2E79-3901-96A1-43A56FAE3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794" y="1027906"/>
            <a:ext cx="10665558" cy="2933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487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3A77A-4287-7E07-0EC2-F27D8C5E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5C5C-1DC4-A2ED-7D23-326BD4D2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4527C-CA9B-C704-148E-6B8E30257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function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42CADA-2CE2-738A-A7FB-46809F136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ADEBECB3-D1AB-5802-E392-4CACD38AFB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4102" y="2035973"/>
            <a:ext cx="10515600" cy="364715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import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yfinance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as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yf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# import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yfinance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library for stock data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def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get_stock_data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(symbol): # define function header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try: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stock_data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yf.download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(symbol, period="1wk", interval="1d")  # download 1-week daily data from Yahoo Finance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except: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print(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f"Error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 Could not retrieve data for symbol {symbol}.")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return None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current_price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stock_data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["Close"].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iloc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[-1]   # get latest closing price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current_volume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stock_data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["Volume"].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iloc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[-1] # get latest volume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return {"Stock ticker": symbol, "Current Price":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current_price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, "Current Volume":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current_volume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}  # return a dictionary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passing google, apple and tesla's stock tickers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stock_symbol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["GOOG", "AAPL", "TSLA"]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for ticker in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stock_symbol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data =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get_stock_data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(ticker)  # data is a dictionary returned from the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get_stock_data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 function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if data: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for key, value in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data.items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    print(f"{key}: {value}")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795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5AB25-C6CE-40A6-435E-C7416C9D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7DAC7-33F7-4FC9-2068-FE6405BD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550AB-2BB9-CFB4-8880-D5EDE076C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try-except block: prevent potential program crashes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AEA1D9-30A3-A25B-01B5-EF2C96F87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039CA11-A758-6622-BBD9-4388258E7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47" y="771205"/>
            <a:ext cx="10264883" cy="4424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848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1B6B5-E669-7B13-4102-EC7C80997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7611F-F1A7-549A-E14F-717C55B1E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D4101-9693-7A92-8C9A-6F187AA73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Indexing and Slicing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access elements within sequences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indexing: extract a single element using its position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index starting from 0 (zero-based indexing)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use square brackets[] with the index within them to access an element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allows negative indexing to access elements from the end of the sequence: -1 refers to the last element, -2 to the second-last, and so 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Slicing: extract a sub-sequence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use square brackets [] with a start index, an end index, and an optional step (separated by colons): [</a:t>
            </a:r>
            <a:r>
              <a:rPr lang="en-US" dirty="0" err="1"/>
              <a:t>start:end:step</a:t>
            </a:r>
            <a:r>
              <a:rPr lang="en-US" dirty="0"/>
              <a:t>]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The end index in slicing is exclusive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can omit the start or end index in slicing to use the default values. If the step is omitted, the default step is 1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dirty="0"/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D34B73-09A3-0ED5-81FF-9A43C07B5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400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990CA-68D0-D9A3-0215-F3C184E30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FD45C-C9A2-BDFA-4EA1-B327E9B5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5C032-CC1F-6BCD-1045-94CE8681E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indexing and slicing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9F498-68D9-1A2F-A0B3-358F432E0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75174D36-1729-F96A-64FE-5ABCF68160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5632" y="1952625"/>
            <a:ext cx="9901882" cy="353943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[10, "hello", 9.99, True, [1, 2, 3], {"language": "Python"}]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access first item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print("first item: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[0])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access last item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print("last item: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[-1])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access the second to the fourth items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print("the second to the fourth items: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[1: 4])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use slice assignment to append a list at back or at front, or remove part of a list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len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):]=['X', 'Y', 'Z']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print("use slice to append at back: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[:0] = ['A', 'B', 'C']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print("use slice to append at front: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[9:-1]=[]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print("use slice to remove: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use negative step for reversing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print("after reversing: ", </a:t>
            </a:r>
            <a:r>
              <a:rPr lang="en-US" sz="14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4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[::-1])</a:t>
            </a: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148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94142-072D-E3F6-CAD3-5A16D4AB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36BB4-60CE-7EB3-8F0F-4AB17E938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8DB35-D7D7-B992-A5F7-C0FA0E155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zip( ) built-in function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creates an iterator that aggregates elements from multiple sequences, and pair them together 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dirty="0"/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D5FC24-58BC-016E-C367-73E602991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249D22E5-9106-9D3D-E9F5-F20DF0D52E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5559" y="2710679"/>
            <a:ext cx="9703144" cy="1806773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tickers = ["GOOG", "TSLA"]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prices = [172, 175]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Combine tickers and prices into a list of tuples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stocks = list(zip(tickers, prices))  # zip returns an iterator, convert to list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print(stocks)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3867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24AB0-4F85-95A7-025D-88C7F36FD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B0C1E-8B93-1C4D-9057-A7F61B9A8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CC743-7631-8B58-F621-C424270A4E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* and ** as function arguments/parameters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* unpacking arguments from </a:t>
            </a:r>
            <a:r>
              <a:rPr lang="en-US" dirty="0" err="1"/>
              <a:t>iterables</a:t>
            </a:r>
            <a:r>
              <a:rPr lang="en-US" dirty="0"/>
              <a:t> (like lists, tuples) into individual arguments for the function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Courier New" panose="02070309020205020404" pitchFamily="49" charset="0"/>
              <a:buChar char="o"/>
            </a:pPr>
            <a:endParaRPr lang="en-US" dirty="0"/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EE98C1-F48A-F5DC-991C-4CA7291FE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B7D1C87A-A535-F343-7BA4-997F9AA6E6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0846" y="2705725"/>
            <a:ext cx="9266538" cy="181588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Unpacking Arguments when used for arguments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def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do_unpack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(ticker, price):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print(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f"Storck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Ticker: {ticker}, Price: {price}")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Call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do_unpack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with each ticker-price tuple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for stock in stocks: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do_unpack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(*stock)  # Unpack the tuple into ticker and price arguments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0145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5BC3D-438C-DEAB-7049-371FFDB55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F02CE-DF14-44F3-A645-EE0EAA8A3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D9209-B2F8-B9C8-CD6C-7F950350B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* and ** as function arguments/parameters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* catching variable number of arguments: capture any number of arguments passed to the function as a tuple</a:t>
            </a:r>
          </a:p>
          <a:p>
            <a:pPr>
              <a:buFont typeface="Courier New" panose="02070309020205020404" pitchFamily="49" charset="0"/>
              <a:buChar char="o"/>
            </a:pPr>
            <a:endParaRPr lang="en-US" dirty="0"/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7B0667-8B94-A96A-531F-0D75ACDA8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1853B130-1ED3-9422-3881-9FE9E4315D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0272" y="2764011"/>
            <a:ext cx="8780505" cy="2308324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Catching variable number of arguments when used for parameters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def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sum_all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(*numbers):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total = 0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for num in numbers: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total += num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return total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result =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sum_all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(1, 2, 3, 4, 5)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print(result)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2092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581AC-066D-0C15-34A0-FC8BB78ED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F3DF9-FC1F-BCEF-F2F7-41D163E6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DECED-424D-44AB-78F1-EBD09CEAC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** syntax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can be used both in function parameters to accept keyword arguments and in keyword argument unpacking to pass arguments</a:t>
            </a: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1D5135-CF9E-0446-6AC0-84F3FEF46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B7FFC094-AAC6-EBFD-36D7-15756A0F7A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8510" y="2636925"/>
            <a:ext cx="9406581" cy="280076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def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unpack_dictionary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(**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kwargs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):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for key, value in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kwargs.items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():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print(f"{key}: {value}")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Creating a dictionary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stock_dict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dict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(zip(tickers, prices))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 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Passing the dictionary to the function using **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**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stock_dict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unpacks the key-value pairs of the dictionary, and each pair becomes a separate keyword argument to the function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unpack_dictionary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(**</a:t>
            </a:r>
            <a:r>
              <a:rPr lang="en-US" sz="16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stock_dict</a:t>
            </a:r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4103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3615-A13A-A0F7-DAA8-A0FCC6578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1EED2-3CD2-8A01-EB50-E227AFDC4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989F4-744A-1B9C-4D47-6A41CBCAD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Comprehensions  and Generator Expression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comprehension: build a sequence data structure, such as a list, set, or dictionary, using existing sequences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for tuple comprehension: use the tuple() constructor in combination with a generator expression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generator: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a special type of iterator that supports iteration over a sequence of elements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doesn’t store the entire sequence in memory but generates one element at a time on demand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/>
              <a:t>memory-efficient and capable of handling even infinite sequences </a:t>
            </a:r>
          </a:p>
          <a:p>
            <a:pPr marL="457200" lvl="1" indent="0"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5B9320-A0FF-8435-3DBD-F219CF729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821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EBCE2-86A8-31FE-B86A-39EE09BF7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280B2-7922-6A69-5D80-EA624CB92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ADE71-0C30-A047-BC05-E869ECCCE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Comprehensions  and Generator Expression</a:t>
            </a:r>
          </a:p>
          <a:p>
            <a:pPr marL="457200" lvl="1" indent="0"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BE559C-E035-E111-6409-CAE8B92E3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D5CF59-574E-7B5C-462E-4F0F48FAB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1624"/>
            <a:ext cx="9610099" cy="392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9423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B605E-A178-E599-CEAE-7244E145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AD1D-0EEE-EC94-48FF-1D3AC5BB0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0AF68D-0F67-1BC9-DDC7-11D1A7A32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Python Comprehensions  and Generator Expression</a:t>
            </a:r>
          </a:p>
          <a:p>
            <a:pPr marL="457200" lvl="1" indent="0"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5ADE80-7307-D354-9BA3-D11FF465D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5B9215AB-B1E3-C2EE-B5AF-FAEF6F64D6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8584" y="1951335"/>
            <a:ext cx="10159314" cy="381642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['A', 'B', 'C', 10, 'hello', 'hello', 'hello', 9.99, True, [1, 2, 3], {'language': 'Python'}, 'X', 'Y', 'Z']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build a list comprehension from an existing list's string elements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comp_list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[var for var in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if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isinstance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(var, str)]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comp_list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build a set comprehension from an existing list's string elements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comp_set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{var for var in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if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isinstance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(var, str)}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comp_set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build a dictionary comprehension from two existing lists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stock_symbol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["GOOG", "AAPL", "TSLA"]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stock_price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[172, 190, 175]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stocks_share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{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symbol:price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for symbol, price in zip(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stock_symbol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stock_price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)}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stocks_share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build a generator comprehension from an existing list's string elements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comp_generator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(var for var in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if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isinstance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(var, str))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comp_generator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for var in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comp_generator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: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print(var, end = ' ')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build a tuple using generator comprehension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comp_to_tuple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= tuple(var for var in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var_list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if 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isinstance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(var, str))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</a:t>
            </a:r>
            <a:r>
              <a:rPr lang="en-US" sz="1100" kern="100" dirty="0" err="1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comp_to_tuple</a:t>
            </a:r>
            <a:r>
              <a:rPr lang="en-US" sz="11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)</a:t>
            </a:r>
            <a:endParaRPr lang="en-US" sz="12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20361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0B350-177F-D77D-AD06-638191D46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D5ED-CEEF-F221-60F9-0100D4F7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11AB3-590E-D51A-2A98-EEE5852EE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298" y="1438447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Lambda Expressions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functions: have a header containing the function name and a list of parameters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lambda expressions are simple, anonymous functions that can be defined and used inline</a:t>
            </a:r>
          </a:p>
          <a:p>
            <a:pPr marL="457200" lvl="1" indent="0">
              <a:buNone/>
            </a:pPr>
            <a:r>
              <a:rPr lang="en-US" sz="1400" kern="100" dirty="0"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Aptos" panose="020B0004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sz="1400" kern="100" dirty="0">
              <a:effectLst/>
              <a:latin typeface="Courier New" panose="02070309020205020404" pitchFamily="49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228600" lvl="1" indent="0">
              <a:lnSpc>
                <a:spcPct val="115000"/>
              </a:lnSpc>
              <a:spcAft>
                <a:spcPts val="800"/>
              </a:spcAft>
              <a:buNone/>
            </a:pPr>
            <a:endParaRPr lang="en-US" sz="14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FD00DB-3FAC-FD80-61BA-A08C3FE99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744" y="6028411"/>
            <a:ext cx="10516511" cy="566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80527A-83FC-D5AD-B32F-D6D7ADDB0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02" y="2249546"/>
            <a:ext cx="10750115" cy="2358907"/>
          </a:xfrm>
          <a:prstGeom prst="rect">
            <a:avLst/>
          </a:prstGeom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CC7F8B65-231C-D95F-128C-B919F439E2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3615" y="4466346"/>
            <a:ext cx="9384957" cy="132343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  <a:headEnd/>
            <a:tailEnd/>
          </a:ln>
          <a:effectLst/>
        </p:spPr>
        <p:txBody>
          <a:bodyPr rot="0" vert="horz" wrap="square" lIns="91440" tIns="45720" rIns="91440" bIns="45720" anchor="t" anchorCtr="0">
            <a:spAutoFit/>
          </a:bodyPr>
          <a:lstStyle/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# two lambda expressions are used to do calculations between feet and meter conversion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width = {'Feet to Meter': lambda feet: 0.305 * feet,    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         'Meter to Feet': lambda meet: 3.281 * meter}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/>
            <a:r>
              <a:rPr lang="en-US" sz="1600" kern="100" dirty="0">
                <a:effectLst/>
                <a:latin typeface="Courier New" panose="02070309020205020404" pitchFamily="49" charset="0"/>
                <a:ea typeface="DengXian" panose="02010600030101010101" pitchFamily="2" charset="-122"/>
                <a:cs typeface="Times New Roman" panose="02020603050405020304" pitchFamily="18" charset="0"/>
              </a:rPr>
              <a:t>print(width['Feet to Meter'](3.9))</a:t>
            </a:r>
            <a:endParaRPr lang="en-US" sz="1600" kern="100" dirty="0">
              <a:effectLst/>
              <a:latin typeface="Aptos" panose="020B000402020202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4095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726</TotalTime>
  <Words>3041</Words>
  <Application>Microsoft Office PowerPoint</Application>
  <PresentationFormat>Widescreen</PresentationFormat>
  <Paragraphs>342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Courier New</vt:lpstr>
      <vt:lpstr>Wingdings</vt:lpstr>
      <vt:lpstr>Office Theme</vt:lpstr>
      <vt:lpstr>Data Analytics Using Python Dr. Ziping Liu  </vt:lpstr>
      <vt:lpstr>Python Advantages</vt:lpstr>
      <vt:lpstr>Getting Started with Python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Python Basics</vt:lpstr>
      <vt:lpstr>More on Python</vt:lpstr>
      <vt:lpstr>More on Python</vt:lpstr>
      <vt:lpstr>More on Python</vt:lpstr>
      <vt:lpstr>More on Python</vt:lpstr>
      <vt:lpstr>More on Python</vt:lpstr>
      <vt:lpstr>More on Python</vt:lpstr>
      <vt:lpstr>More on Python</vt:lpstr>
      <vt:lpstr>More on Python</vt:lpstr>
      <vt:lpstr>More on Python</vt:lpstr>
      <vt:lpstr>More on Python</vt:lpstr>
      <vt:lpstr>More on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Liu, Ziping</dc:creator>
  <cp:lastModifiedBy>Liu, Ziping</cp:lastModifiedBy>
  <cp:revision>74</cp:revision>
  <dcterms:created xsi:type="dcterms:W3CDTF">2025-01-08T14:48:28Z</dcterms:created>
  <dcterms:modified xsi:type="dcterms:W3CDTF">2025-01-09T02:55:11Z</dcterms:modified>
</cp:coreProperties>
</file>