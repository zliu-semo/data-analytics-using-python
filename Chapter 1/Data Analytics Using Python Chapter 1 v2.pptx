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91" r:id="rId3"/>
    <p:sldId id="258" r:id="rId4"/>
    <p:sldId id="260" r:id="rId5"/>
    <p:sldId id="262" r:id="rId6"/>
    <p:sldId id="263" r:id="rId7"/>
    <p:sldId id="264" r:id="rId8"/>
    <p:sldId id="265" r:id="rId9"/>
    <p:sldId id="266" r:id="rId10"/>
    <p:sldId id="267" r:id="rId11"/>
    <p:sldId id="268" r:id="rId12"/>
    <p:sldId id="269" r:id="rId13"/>
    <p:sldId id="270" r:id="rId14"/>
    <p:sldId id="271" r:id="rId15"/>
    <p:sldId id="272" r:id="rId16"/>
    <p:sldId id="273" r:id="rId17"/>
    <p:sldId id="294" r:id="rId18"/>
    <p:sldId id="274" r:id="rId19"/>
    <p:sldId id="275" r:id="rId20"/>
    <p:sldId id="29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3" autoAdjust="0"/>
    <p:restoredTop sz="82306" autoAdjust="0"/>
  </p:normalViewPr>
  <p:slideViewPr>
    <p:cSldViewPr snapToGrid="0">
      <p:cViewPr varScale="1">
        <p:scale>
          <a:sx n="64" d="100"/>
          <a:sy n="64" d="100"/>
        </p:scale>
        <p:origin x="42"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Compiled programming language’s compilation process: converts the high-level source code into machine code for the target architecture (e.g., x86, ARM)</a:t>
            </a:r>
          </a:p>
          <a:p>
            <a:r>
              <a:rPr lang="en-US" dirty="0"/>
              <a:t>Source code generation, preprocessing, intermediate code generation, machine code generation</a:t>
            </a:r>
          </a:p>
          <a:p>
            <a:r>
              <a:rPr lang="en-US" dirty="0"/>
              <a:t>The machine code is converted into object files (compiled pieces of the program). – assembly</a:t>
            </a:r>
          </a:p>
          <a:p>
            <a:r>
              <a:rPr lang="en-US" dirty="0"/>
              <a:t>The linker combines the object files and libraries into a single executable file. – linking</a:t>
            </a:r>
          </a:p>
          <a:p>
            <a:endParaRPr lang="en-US" dirty="0"/>
          </a:p>
          <a:p>
            <a:r>
              <a:rPr lang="en-US" dirty="0"/>
              <a:t>The result of the compilation process is an executable file (e.g., .exe on Windows, an ELF binary on Linux).</a:t>
            </a:r>
          </a:p>
          <a:p>
            <a:r>
              <a:rPr lang="en-US" dirty="0"/>
              <a:t>This file contains binary instructions that the CPU can execute directly.</a:t>
            </a:r>
          </a:p>
          <a:p>
            <a:endParaRPr lang="en-US" dirty="0"/>
          </a:p>
          <a:p>
            <a:r>
              <a:rPr lang="en-US" dirty="0"/>
              <a:t>The operating system loads the executable file into memory.</a:t>
            </a:r>
          </a:p>
          <a:p>
            <a:r>
              <a:rPr lang="en-US" dirty="0"/>
              <a:t>The CPU executes the binary instructions in the file.</a:t>
            </a:r>
          </a:p>
          <a:p>
            <a:endParaRPr lang="en-US" dirty="0"/>
          </a:p>
          <a:p>
            <a:r>
              <a:rPr lang="en-US" dirty="0"/>
              <a:t>Compiled programs run faster because the machine code is executed directly by the CPU</a:t>
            </a:r>
          </a:p>
          <a:p>
            <a:endParaRPr lang="en-US" dirty="0"/>
          </a:p>
          <a:p>
            <a:r>
              <a:rPr lang="en-US" dirty="0"/>
              <a:t>*********************************************************************************************</a:t>
            </a:r>
          </a:p>
          <a:p>
            <a:endParaRPr lang="en-US" dirty="0"/>
          </a:p>
          <a:p>
            <a:r>
              <a:rPr lang="en-US" dirty="0"/>
              <a:t>In an interpreted language, the source code is executed line by line or statement by statement by an interpreter, without needing prior compilation into machine code.</a:t>
            </a:r>
          </a:p>
          <a:p>
            <a:endParaRPr lang="en-US" dirty="0"/>
          </a:p>
          <a:p>
            <a:r>
              <a:rPr lang="en-US" dirty="0"/>
              <a:t>Platform Independence: As long as the interpreter is available, the same code can run on different systems without modification.</a:t>
            </a:r>
          </a:p>
          <a:p>
            <a:endParaRPr lang="en-US" dirty="0"/>
          </a:p>
          <a:p>
            <a:r>
              <a:rPr lang="en-US" dirty="0"/>
              <a:t>Performance: Interpretation is generally slower than execution of precompiled machine code.</a:t>
            </a:r>
          </a:p>
          <a:p>
            <a:endParaRPr lang="en-US" dirty="0"/>
          </a:p>
          <a:p>
            <a:r>
              <a:rPr lang="en-US" dirty="0"/>
              <a:t>*********************************************************************************************</a:t>
            </a:r>
          </a:p>
          <a:p>
            <a:endParaRPr lang="en-US" dirty="0"/>
          </a:p>
          <a:p>
            <a:r>
              <a:rPr lang="en-US" dirty="0"/>
              <a:t>A </a:t>
            </a:r>
            <a:r>
              <a:rPr lang="en-US" b="1" dirty="0"/>
              <a:t>scripting language</a:t>
            </a:r>
            <a:r>
              <a:rPr lang="en-US" dirty="0"/>
              <a:t> is a type of programming language designed to automate tasks, manipulate data, and control applications or systems without requiring the developer to explicitly compile the code before execution. Scripting languages are often used for tasks like:</a:t>
            </a:r>
          </a:p>
          <a:p>
            <a:pPr>
              <a:buFont typeface="Arial" panose="020B0604020202020204" pitchFamily="34" charset="0"/>
              <a:buChar char="•"/>
            </a:pPr>
            <a:r>
              <a:rPr lang="en-US" dirty="0"/>
              <a:t>Automating repetitive processes.</a:t>
            </a:r>
          </a:p>
          <a:p>
            <a:pPr>
              <a:buFont typeface="Arial" panose="020B0604020202020204" pitchFamily="34" charset="0"/>
              <a:buChar char="•"/>
            </a:pPr>
            <a:r>
              <a:rPr lang="en-US" dirty="0"/>
              <a:t>Extending the functionality of existing applications.</a:t>
            </a:r>
          </a:p>
          <a:p>
            <a:pPr>
              <a:buFont typeface="Arial" panose="020B0604020202020204" pitchFamily="34" charset="0"/>
              <a:buChar char="•"/>
            </a:pPr>
            <a:r>
              <a:rPr lang="en-US" dirty="0"/>
              <a:t>Writing small-scale programs quickly.</a:t>
            </a:r>
          </a:p>
          <a:p>
            <a:pPr>
              <a:buFont typeface="Arial" panose="020B0604020202020204" pitchFamily="34" charset="0"/>
              <a:buChar char="•"/>
            </a:pPr>
            <a:r>
              <a:rPr lang="en-US" dirty="0"/>
              <a:t>Manipulating files or data.</a:t>
            </a:r>
          </a:p>
          <a:p>
            <a:r>
              <a:rPr lang="en-US" dirty="0"/>
              <a:t>Examples include Python, JavaScript, Ruby, Perl, and shell scripting languages like Bash.</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3</a:t>
            </a:fld>
            <a:endParaRPr lang="en-US"/>
          </a:p>
        </p:txBody>
      </p:sp>
    </p:spTree>
    <p:extLst>
      <p:ext uri="{BB962C8B-B14F-4D97-AF65-F5344CB8AC3E}">
        <p14:creationId xmlns:p14="http://schemas.microsoft.com/office/powerpoint/2010/main" val="3845838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python doesn't have primitive data types, that means all values are stored on heap, is that right?</a:t>
            </a:r>
          </a:p>
          <a:p>
            <a:r>
              <a:rPr lang="en-US" dirty="0"/>
              <a:t>Gemini answer:</a:t>
            </a:r>
          </a:p>
          <a:p>
            <a:pPr>
              <a:buNone/>
            </a:pPr>
            <a:r>
              <a:rPr lang="en-US" dirty="0">
                <a:effectLst/>
                <a:latin typeface="Google Sans Text"/>
              </a:rPr>
              <a:t>in Python, </a:t>
            </a:r>
            <a:r>
              <a:rPr lang="en-US" b="1" dirty="0">
                <a:effectLst/>
                <a:latin typeface="Google Sans Text"/>
              </a:rPr>
              <a:t>everything is an object</a:t>
            </a:r>
            <a:r>
              <a:rPr lang="en-US" dirty="0">
                <a:effectLst/>
                <a:latin typeface="Google Sans Text"/>
              </a:rPr>
              <a:t>, which means even simple integers or </a:t>
            </a:r>
            <a:r>
              <a:rPr lang="en-US" dirty="0" err="1">
                <a:effectLst/>
                <a:latin typeface="Google Sans Text"/>
              </a:rPr>
              <a:t>booleans</a:t>
            </a:r>
            <a:r>
              <a:rPr lang="en-US" dirty="0">
                <a:effectLst/>
                <a:latin typeface="Google Sans Text"/>
              </a:rPr>
              <a:t> carry the overhead of an object structure.</a:t>
            </a:r>
            <a:r>
              <a:rPr lang="en-US" baseline="30000" dirty="0">
                <a:effectLst/>
                <a:latin typeface="Google Sans Text"/>
              </a:rPr>
              <a:t>1</a:t>
            </a:r>
            <a:r>
              <a:rPr lang="en-US" dirty="0">
                <a:effectLst/>
                <a:latin typeface="Google Sans Text"/>
              </a:rPr>
              <a:t> However, whether they are "stored on the heap" is a bit more nuanced depending on how you define the stack and how the Python interpreter (</a:t>
            </a:r>
            <a:r>
              <a:rPr lang="en-US" dirty="0" err="1">
                <a:effectLst/>
                <a:latin typeface="Google Sans Text"/>
              </a:rPr>
              <a:t>CPython</a:t>
            </a:r>
            <a:r>
              <a:rPr lang="en-US" dirty="0">
                <a:effectLst/>
                <a:latin typeface="Google Sans Text"/>
              </a:rPr>
              <a:t>) manages memory.</a:t>
            </a:r>
          </a:p>
          <a:p>
            <a:pPr>
              <a:buNone/>
            </a:pPr>
            <a:r>
              <a:rPr lang="en-US" dirty="0">
                <a:effectLst/>
                <a:latin typeface="Google Sans Text"/>
              </a:rPr>
              <a:t>Here is a breakdown of how Python handles this.</a:t>
            </a:r>
          </a:p>
          <a:p>
            <a:pPr>
              <a:buNone/>
            </a:pPr>
            <a:br>
              <a:rPr lang="en-US" dirty="0"/>
            </a:br>
            <a:endParaRPr lang="en-US" dirty="0"/>
          </a:p>
          <a:p>
            <a:pPr>
              <a:buNone/>
            </a:pPr>
            <a:r>
              <a:rPr lang="en-US" b="1" dirty="0">
                <a:effectLst/>
                <a:latin typeface="Google Sans"/>
              </a:rPr>
              <a:t>1. Everything is an </a:t>
            </a:r>
            <a:r>
              <a:rPr lang="en-US" b="1" dirty="0" err="1">
                <a:effectLst/>
                <a:latin typeface="Google Sans Text"/>
              </a:rPr>
              <a:t>PyObject</a:t>
            </a:r>
            <a:endParaRPr lang="en-US" b="1" dirty="0">
              <a:effectLst/>
              <a:latin typeface="Google Sans"/>
            </a:endParaRPr>
          </a:p>
          <a:p>
            <a:pPr>
              <a:buNone/>
            </a:pPr>
            <a:r>
              <a:rPr lang="en-US" dirty="0">
                <a:effectLst/>
                <a:latin typeface="Google Sans Text"/>
              </a:rPr>
              <a:t>In languages like C++ or Java, a float might just be 8 bytes of memory on the stack. In Python, a float is a </a:t>
            </a:r>
            <a:r>
              <a:rPr lang="en-US" b="1" dirty="0">
                <a:effectLst/>
                <a:latin typeface="Google Sans Text"/>
              </a:rPr>
              <a:t>structure</a:t>
            </a:r>
            <a:r>
              <a:rPr lang="en-US" dirty="0">
                <a:effectLst/>
                <a:latin typeface="Google Sans Text"/>
              </a:rPr>
              <a:t> on the heap. Even a simple integer like x = 42 is actually a complex C structure called a </a:t>
            </a:r>
            <a:r>
              <a:rPr lang="en-US" dirty="0" err="1">
                <a:effectLst/>
                <a:latin typeface="Google Sans Text"/>
              </a:rPr>
              <a:t>PyObject</a:t>
            </a:r>
            <a:r>
              <a:rPr lang="en-US" dirty="0">
                <a:effectLst/>
                <a:latin typeface="Google Sans Text"/>
              </a:rPr>
              <a:t>.</a:t>
            </a:r>
          </a:p>
          <a:p>
            <a:pPr>
              <a:buNone/>
            </a:pPr>
            <a:r>
              <a:rPr lang="en-US" dirty="0">
                <a:effectLst/>
                <a:latin typeface="Google Sans Text"/>
              </a:rPr>
              <a:t>This structure includes:</a:t>
            </a:r>
          </a:p>
          <a:p>
            <a:pPr>
              <a:buFont typeface="Arial" panose="020B0604020202020204" pitchFamily="34" charset="0"/>
              <a:buChar char="•"/>
            </a:pPr>
            <a:r>
              <a:rPr lang="en-US" b="1" dirty="0">
                <a:effectLst/>
                <a:latin typeface="Google Sans Text"/>
              </a:rPr>
              <a:t>Reference Count:</a:t>
            </a:r>
            <a:r>
              <a:rPr lang="en-US" dirty="0">
                <a:effectLst/>
                <a:latin typeface="Google Sans Text"/>
              </a:rPr>
              <a:t> Used for garbage collection.</a:t>
            </a:r>
            <a:r>
              <a:rPr lang="en-US" baseline="30000" dirty="0">
                <a:effectLst/>
                <a:latin typeface="Google Sans Text"/>
              </a:rPr>
              <a:t>2</a:t>
            </a:r>
            <a:endParaRPr lang="en-US" dirty="0">
              <a:effectLst/>
              <a:latin typeface="Google Sans Text"/>
            </a:endParaRPr>
          </a:p>
          <a:p>
            <a:pPr>
              <a:buFont typeface="Arial" panose="020B0604020202020204" pitchFamily="34" charset="0"/>
              <a:buChar char="•"/>
            </a:pPr>
            <a:r>
              <a:rPr lang="en-US" b="1" dirty="0">
                <a:effectLst/>
                <a:latin typeface="Google Sans Text"/>
              </a:rPr>
              <a:t>Type Pointer:</a:t>
            </a:r>
            <a:r>
              <a:rPr lang="en-US" dirty="0">
                <a:effectLst/>
                <a:latin typeface="Google Sans Text"/>
              </a:rPr>
              <a:t> Points to the "int" type object so Python knows how to handle it.</a:t>
            </a:r>
            <a:r>
              <a:rPr lang="en-US" baseline="30000" dirty="0">
                <a:effectLst/>
                <a:latin typeface="Google Sans Text"/>
              </a:rPr>
              <a:t>3</a:t>
            </a:r>
            <a:endParaRPr lang="en-US" dirty="0">
              <a:effectLst/>
              <a:latin typeface="Google Sans Text"/>
            </a:endParaRPr>
          </a:p>
          <a:p>
            <a:pPr>
              <a:buFont typeface="Arial" panose="020B0604020202020204" pitchFamily="34" charset="0"/>
              <a:buChar char="•"/>
            </a:pPr>
            <a:r>
              <a:rPr lang="en-US" b="1" dirty="0">
                <a:effectLst/>
                <a:latin typeface="Google Sans Text"/>
              </a:rPr>
              <a:t>Value:</a:t>
            </a:r>
            <a:r>
              <a:rPr lang="en-US" dirty="0">
                <a:effectLst/>
                <a:latin typeface="Google Sans Text"/>
              </a:rPr>
              <a:t> The actual numeric data.</a:t>
            </a:r>
          </a:p>
          <a:p>
            <a:pPr>
              <a:buNone/>
            </a:pPr>
            <a:r>
              <a:rPr lang="en-US" b="1" dirty="0">
                <a:effectLst/>
                <a:latin typeface="Google Sans"/>
              </a:rPr>
              <a:t>2. The Role of the Stack vs. the Heap</a:t>
            </a:r>
          </a:p>
          <a:p>
            <a:pPr>
              <a:buNone/>
            </a:pPr>
            <a:r>
              <a:rPr lang="en-US" dirty="0">
                <a:effectLst/>
                <a:latin typeface="Google Sans Text"/>
              </a:rPr>
              <a:t>While it’s true the </a:t>
            </a:r>
            <a:r>
              <a:rPr lang="en-US" b="1" dirty="0">
                <a:effectLst/>
                <a:latin typeface="Google Sans Text"/>
              </a:rPr>
              <a:t>objects</a:t>
            </a:r>
            <a:r>
              <a:rPr lang="en-US" dirty="0">
                <a:effectLst/>
                <a:latin typeface="Google Sans Text"/>
              </a:rPr>
              <a:t> themselves live on the heap, Python still uses a </a:t>
            </a:r>
            <a:r>
              <a:rPr lang="en-US" b="1" dirty="0">
                <a:effectLst/>
                <a:latin typeface="Google Sans Text"/>
              </a:rPr>
              <a:t>stack</a:t>
            </a:r>
            <a:r>
              <a:rPr lang="en-US" dirty="0">
                <a:effectLst/>
                <a:latin typeface="Google Sans Text"/>
              </a:rPr>
              <a:t> for execution.</a:t>
            </a:r>
          </a:p>
          <a:p>
            <a:pPr>
              <a:buFont typeface="Arial" panose="020B0604020202020204" pitchFamily="34" charset="0"/>
              <a:buChar char="•"/>
            </a:pPr>
            <a:r>
              <a:rPr lang="en-US" b="1" dirty="0">
                <a:effectLst/>
                <a:latin typeface="Google Sans Text"/>
              </a:rPr>
              <a:t>The Python Stack:</a:t>
            </a:r>
            <a:r>
              <a:rPr lang="en-US" dirty="0">
                <a:effectLst/>
                <a:latin typeface="Google Sans Text"/>
              </a:rPr>
              <a:t> Stores </a:t>
            </a:r>
            <a:r>
              <a:rPr lang="en-US" b="1" dirty="0">
                <a:effectLst/>
                <a:latin typeface="Google Sans Text"/>
              </a:rPr>
              <a:t>references</a:t>
            </a:r>
            <a:r>
              <a:rPr lang="en-US" dirty="0">
                <a:effectLst/>
                <a:latin typeface="Google Sans Text"/>
              </a:rPr>
              <a:t> (pointers). When you write x = 1000, the integer object 1000 is created on the heap, but the name x on the stack simply holds the memory address of that heap object.</a:t>
            </a:r>
          </a:p>
          <a:p>
            <a:pPr>
              <a:buFont typeface="Arial" panose="020B0604020202020204" pitchFamily="34" charset="0"/>
              <a:buChar char="•"/>
            </a:pPr>
            <a:r>
              <a:rPr lang="en-US" b="1" dirty="0">
                <a:effectLst/>
                <a:latin typeface="Google Sans Text"/>
              </a:rPr>
              <a:t>The Private Heap:</a:t>
            </a:r>
            <a:r>
              <a:rPr lang="en-US" dirty="0">
                <a:effectLst/>
                <a:latin typeface="Google Sans Text"/>
              </a:rPr>
              <a:t> This is where the actual data resides.</a:t>
            </a:r>
            <a:r>
              <a:rPr lang="en-US" baseline="30000" dirty="0">
                <a:effectLst/>
                <a:latin typeface="Google Sans Text"/>
              </a:rPr>
              <a:t>4</a:t>
            </a:r>
            <a:r>
              <a:rPr lang="en-US" dirty="0">
                <a:effectLst/>
                <a:latin typeface="Google Sans Text"/>
              </a:rPr>
              <a:t> Python’s memory manager handles this heap, and it's where the "heavy lifting" of object storage happens.</a:t>
            </a:r>
            <a:r>
              <a:rPr lang="en-US" baseline="30000" dirty="0">
                <a:effectLst/>
                <a:latin typeface="Google Sans Text"/>
              </a:rPr>
              <a:t>5</a:t>
            </a:r>
            <a:endParaRPr lang="en-US" dirty="0">
              <a:effectLst/>
              <a:latin typeface="Google Sans Text"/>
            </a:endParaRPr>
          </a:p>
          <a:p>
            <a:pPr>
              <a:buNone/>
            </a:pPr>
            <a:r>
              <a:rPr lang="en-US" b="1" dirty="0">
                <a:effectLst/>
                <a:latin typeface="Google Sans"/>
              </a:rPr>
              <a:t>3. The "Small Integer" Optimization</a:t>
            </a:r>
          </a:p>
          <a:p>
            <a:pPr>
              <a:buNone/>
            </a:pPr>
            <a:r>
              <a:rPr lang="en-US" dirty="0">
                <a:effectLst/>
                <a:latin typeface="Google Sans Text"/>
              </a:rPr>
              <a:t>Because creating objects on the heap is expensive, </a:t>
            </a:r>
            <a:r>
              <a:rPr lang="en-US" dirty="0" err="1">
                <a:effectLst/>
                <a:latin typeface="Google Sans Text"/>
              </a:rPr>
              <a:t>CPython</a:t>
            </a:r>
            <a:r>
              <a:rPr lang="en-US" dirty="0">
                <a:effectLst/>
                <a:latin typeface="Google Sans Text"/>
              </a:rPr>
              <a:t> uses a trick for performance. It </a:t>
            </a:r>
            <a:r>
              <a:rPr lang="en-US" b="1" dirty="0">
                <a:effectLst/>
                <a:latin typeface="Google Sans Text"/>
              </a:rPr>
              <a:t>pre-allocates</a:t>
            </a:r>
            <a:r>
              <a:rPr lang="en-US" dirty="0">
                <a:effectLst/>
                <a:latin typeface="Google Sans Text"/>
              </a:rPr>
              <a:t> an array of integer objects for the range </a:t>
            </a:r>
            <a:r>
              <a:rPr lang="en-US" b="1" dirty="0">
                <a:effectLst/>
                <a:latin typeface="Google Sans Text"/>
              </a:rPr>
              <a:t>-5 to 256</a:t>
            </a:r>
            <a:r>
              <a:rPr lang="en-US" dirty="0">
                <a:effectLst/>
                <a:latin typeface="Google Sans Text"/>
              </a:rPr>
              <a:t>.</a:t>
            </a:r>
          </a:p>
          <a:p>
            <a:pPr>
              <a:buNone/>
            </a:pPr>
            <a:r>
              <a:rPr lang="en-US" dirty="0">
                <a:effectLst/>
                <a:latin typeface="Google Sans Text"/>
              </a:rPr>
              <a:t>When you use an integer in this range, Python doesn't create a new object on the heap; it just points your variable to a pre-existing object in memory. This is why a = 256; b = 256; a is b returns True, but a = 257; b = 257; a is b usually returns False.</a:t>
            </a:r>
          </a:p>
          <a:p>
            <a:pPr>
              <a:buNone/>
            </a:pPr>
            <a:br>
              <a:rPr lang="en-US" dirty="0"/>
            </a:br>
            <a:endParaRPr lang="en-US" dirty="0"/>
          </a:p>
          <a:p>
            <a:pPr>
              <a:buNone/>
            </a:pPr>
            <a:r>
              <a:rPr lang="en-US" b="1" dirty="0">
                <a:effectLst/>
                <a:latin typeface="Google Sans"/>
              </a:rPr>
              <a:t>Summary Comparison</a:t>
            </a:r>
          </a:p>
          <a:p>
            <a:pPr>
              <a:spcAft>
                <a:spcPts val="2400"/>
              </a:spcAft>
              <a:buNone/>
            </a:pPr>
            <a:r>
              <a:rPr lang="en-US" b="1" dirty="0" err="1">
                <a:effectLst/>
                <a:latin typeface="Google Sans Text"/>
              </a:rPr>
              <a:t>FeaturePrimitive</a:t>
            </a:r>
            <a:r>
              <a:rPr lang="en-US" b="1" dirty="0">
                <a:effectLst/>
                <a:latin typeface="Google Sans Text"/>
              </a:rPr>
              <a:t> Languages (C/Java)Python (</a:t>
            </a:r>
            <a:r>
              <a:rPr lang="en-US" b="1" dirty="0" err="1">
                <a:effectLst/>
                <a:latin typeface="Google Sans Text"/>
              </a:rPr>
              <a:t>CPython</a:t>
            </a:r>
            <a:r>
              <a:rPr lang="en-US" b="1" dirty="0">
                <a:effectLst/>
                <a:latin typeface="Google Sans Text"/>
              </a:rPr>
              <a:t>)Storage </a:t>
            </a:r>
            <a:r>
              <a:rPr lang="en-US" b="1" dirty="0" err="1">
                <a:effectLst/>
                <a:latin typeface="Google Sans Text"/>
              </a:rPr>
              <a:t>Location</a:t>
            </a:r>
            <a:r>
              <a:rPr lang="en-US" dirty="0" err="1">
                <a:effectLst/>
                <a:latin typeface="Google Sans Text"/>
              </a:rPr>
              <a:t>Often</a:t>
            </a:r>
            <a:r>
              <a:rPr lang="en-US" dirty="0">
                <a:effectLst/>
                <a:latin typeface="Google Sans Text"/>
              </a:rPr>
              <a:t> on the </a:t>
            </a:r>
            <a:r>
              <a:rPr lang="en-US" dirty="0" err="1">
                <a:effectLst/>
                <a:latin typeface="Google Sans Text"/>
              </a:rPr>
              <a:t>StackAlways</a:t>
            </a:r>
            <a:r>
              <a:rPr lang="en-US" dirty="0">
                <a:effectLst/>
                <a:latin typeface="Google Sans Text"/>
              </a:rPr>
              <a:t> on the </a:t>
            </a:r>
            <a:r>
              <a:rPr lang="en-US" dirty="0" err="1">
                <a:effectLst/>
                <a:latin typeface="Google Sans Text"/>
              </a:rPr>
              <a:t>Heap</a:t>
            </a:r>
            <a:r>
              <a:rPr lang="en-US" b="1" dirty="0" err="1">
                <a:effectLst/>
                <a:latin typeface="Google Sans Text"/>
              </a:rPr>
              <a:t>Memory</a:t>
            </a:r>
            <a:r>
              <a:rPr lang="en-US" b="1" dirty="0">
                <a:effectLst/>
                <a:latin typeface="Google Sans Text"/>
              </a:rPr>
              <a:t> </a:t>
            </a:r>
            <a:r>
              <a:rPr lang="en-US" b="1" dirty="0" err="1">
                <a:effectLst/>
                <a:latin typeface="Google Sans Text"/>
              </a:rPr>
              <a:t>Overhead</a:t>
            </a:r>
            <a:r>
              <a:rPr lang="en-US" dirty="0" err="1">
                <a:effectLst/>
                <a:latin typeface="Google Sans Text"/>
              </a:rPr>
              <a:t>Minimal</a:t>
            </a:r>
            <a:r>
              <a:rPr lang="en-US" dirty="0">
                <a:effectLst/>
                <a:latin typeface="Google Sans Text"/>
              </a:rPr>
              <a:t> (e.g., 4 bytes for int)Large (e.g., 28 bytes for int)</a:t>
            </a:r>
            <a:r>
              <a:rPr lang="en-US" b="1" dirty="0">
                <a:effectLst/>
                <a:latin typeface="Google Sans Text"/>
              </a:rPr>
              <a:t>Access </a:t>
            </a:r>
            <a:r>
              <a:rPr lang="en-US" b="1" dirty="0" err="1">
                <a:effectLst/>
                <a:latin typeface="Google Sans Text"/>
              </a:rPr>
              <a:t>Speed</a:t>
            </a:r>
            <a:r>
              <a:rPr lang="en-US" dirty="0" err="1">
                <a:effectLst/>
                <a:latin typeface="Google Sans Text"/>
              </a:rPr>
              <a:t>Very</a:t>
            </a:r>
            <a:r>
              <a:rPr lang="en-US" dirty="0">
                <a:effectLst/>
                <a:latin typeface="Google Sans Text"/>
              </a:rPr>
              <a:t> </a:t>
            </a:r>
            <a:r>
              <a:rPr lang="en-US" dirty="0" err="1">
                <a:effectLst/>
                <a:latin typeface="Google Sans Text"/>
              </a:rPr>
              <a:t>fastSlower</a:t>
            </a:r>
            <a:r>
              <a:rPr lang="en-US" dirty="0">
                <a:effectLst/>
                <a:latin typeface="Google Sans Text"/>
              </a:rPr>
              <a:t> (due to pointer indirection)</a:t>
            </a:r>
            <a:r>
              <a:rPr lang="en-US" b="1" dirty="0" err="1">
                <a:effectLst/>
                <a:latin typeface="Google Sans Text"/>
              </a:rPr>
              <a:t>Behavior</a:t>
            </a:r>
            <a:r>
              <a:rPr lang="en-US" dirty="0" err="1">
                <a:effectLst/>
                <a:latin typeface="Google Sans Text"/>
              </a:rPr>
              <a:t>Value</a:t>
            </a:r>
            <a:r>
              <a:rPr lang="en-US" dirty="0">
                <a:effectLst/>
                <a:latin typeface="Google Sans Text"/>
              </a:rPr>
              <a:t>-</a:t>
            </a:r>
            <a:r>
              <a:rPr lang="en-US" dirty="0" err="1">
                <a:effectLst/>
                <a:latin typeface="Google Sans Text"/>
              </a:rPr>
              <a:t>basedObject</a:t>
            </a:r>
            <a:r>
              <a:rPr lang="en-US" dirty="0">
                <a:effectLst/>
                <a:latin typeface="Google Sans Text"/>
              </a:rPr>
              <a:t>-based</a:t>
            </a:r>
          </a:p>
          <a:p>
            <a:pPr>
              <a:buNone/>
            </a:pPr>
            <a:r>
              <a:rPr lang="en-US" b="1" dirty="0">
                <a:effectLst/>
                <a:latin typeface="Google Sans"/>
              </a:rPr>
              <a:t>Is it "always" the heap?</a:t>
            </a:r>
          </a:p>
          <a:p>
            <a:pPr>
              <a:buNone/>
            </a:pPr>
            <a:r>
              <a:rPr lang="en-US" dirty="0">
                <a:effectLst/>
                <a:latin typeface="Google Sans Text"/>
              </a:rPr>
              <a:t>Technically, yes. In the standard implementation of Python (</a:t>
            </a:r>
            <a:r>
              <a:rPr lang="en-US" dirty="0" err="1">
                <a:effectLst/>
                <a:latin typeface="Google Sans Text"/>
              </a:rPr>
              <a:t>CPython</a:t>
            </a:r>
            <a:r>
              <a:rPr lang="en-US" dirty="0">
                <a:effectLst/>
                <a:latin typeface="Google Sans Text"/>
              </a:rPr>
              <a:t>), the objects live in a private heap.</a:t>
            </a:r>
            <a:r>
              <a:rPr lang="en-US" baseline="30000" dirty="0">
                <a:effectLst/>
                <a:latin typeface="Google Sans Text"/>
              </a:rPr>
              <a:t>6</a:t>
            </a:r>
            <a:r>
              <a:rPr lang="en-US" dirty="0">
                <a:effectLst/>
                <a:latin typeface="Google Sans Text"/>
              </a:rPr>
              <a:t> However, some specialized compilers like </a:t>
            </a:r>
            <a:r>
              <a:rPr lang="en-US" b="1" dirty="0" err="1">
                <a:effectLst/>
                <a:latin typeface="Google Sans Text"/>
              </a:rPr>
              <a:t>PyPy</a:t>
            </a:r>
            <a:r>
              <a:rPr lang="en-US" dirty="0">
                <a:effectLst/>
                <a:latin typeface="Google Sans Text"/>
              </a:rPr>
              <a:t> use "Just-In-Time" (JIT) compilation and "escape analysis" to occasionally put values on the CPU stack or registers to make them run as fast as C.</a:t>
            </a:r>
            <a:r>
              <a:rPr lang="en-US" baseline="30000" dirty="0">
                <a:effectLst/>
                <a:latin typeface="Google Sans Text"/>
              </a:rPr>
              <a:t>7</a:t>
            </a:r>
            <a:endParaRPr lang="en-US" dirty="0">
              <a:effectLst/>
              <a:latin typeface="Google Sans Text"/>
            </a:endParaRPr>
          </a:p>
          <a:p>
            <a:pPr>
              <a:buNone/>
            </a:pPr>
            <a:r>
              <a:rPr lang="en-US" dirty="0">
                <a:effectLst/>
                <a:latin typeface="Google Sans Text"/>
              </a:rPr>
              <a:t>Would you like me to show you how to use the </a:t>
            </a:r>
            <a:r>
              <a:rPr lang="en-US" dirty="0" err="1">
                <a:effectLst/>
                <a:latin typeface="Google Sans Text"/>
              </a:rPr>
              <a:t>sys.getsizeof</a:t>
            </a:r>
            <a:r>
              <a:rPr lang="en-US" dirty="0">
                <a:effectLst/>
                <a:latin typeface="Google Sans Text"/>
              </a:rPr>
              <a:t>() function to see exactly how much memory these "non-primitive" objects are taking up?</a:t>
            </a:r>
          </a:p>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5</a:t>
            </a:fld>
            <a:endParaRPr lang="en-US"/>
          </a:p>
        </p:txBody>
      </p:sp>
    </p:spTree>
    <p:extLst>
      <p:ext uri="{BB962C8B-B14F-4D97-AF65-F5344CB8AC3E}">
        <p14:creationId xmlns:p14="http://schemas.microsoft.com/office/powerpoint/2010/main" val="3666110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quotes are useful when the string contains double quotes: </a:t>
            </a:r>
            <a:r>
              <a:rPr lang="en-US" dirty="0" err="1"/>
              <a:t>one_quote_var</a:t>
            </a:r>
            <a:r>
              <a:rPr lang="en-US" dirty="0"/>
              <a:t> = ‘I said “hello, world”’</a:t>
            </a:r>
          </a:p>
          <a:p>
            <a:r>
              <a:rPr lang="en-US" dirty="0"/>
              <a:t>Double quotes are useful when the string contains single quotes: </a:t>
            </a:r>
            <a:r>
              <a:rPr lang="en-US" dirty="0" err="1"/>
              <a:t>two_quote_var</a:t>
            </a:r>
            <a:r>
              <a:rPr lang="en-US" dirty="0"/>
              <a:t> = "hello, it’s the world"</a:t>
            </a:r>
          </a:p>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7</a:t>
            </a:fld>
            <a:endParaRPr lang="en-US"/>
          </a:p>
        </p:txBody>
      </p:sp>
    </p:spTree>
    <p:extLst>
      <p:ext uri="{BB962C8B-B14F-4D97-AF65-F5344CB8AC3E}">
        <p14:creationId xmlns:p14="http://schemas.microsoft.com/office/powerpoint/2010/main" val="1805620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err="1">
                <a:solidFill>
                  <a:srgbClr val="000000"/>
                </a:solidFill>
                <a:effectLst/>
                <a:latin typeface="Courier New" panose="02070309020205020404" pitchFamily="49" charset="0"/>
              </a:rPr>
              <a:t>var_list</a:t>
            </a:r>
            <a:r>
              <a:rPr lang="en-US" b="0" dirty="0">
                <a:solidFill>
                  <a:srgbClr val="000000"/>
                </a:solidFill>
                <a:effectLst/>
                <a:latin typeface="Courier New" panose="02070309020205020404" pitchFamily="49" charset="0"/>
              </a:rPr>
              <a:t> = </a:t>
            </a:r>
            <a:r>
              <a:rPr lang="en-US" b="0" dirty="0">
                <a:solidFill>
                  <a:srgbClr val="257693"/>
                </a:solidFill>
                <a:effectLst/>
                <a:latin typeface="Courier New" panose="02070309020205020404" pitchFamily="49" charset="0"/>
              </a:rPr>
              <a:t>list</a:t>
            </a:r>
            <a:r>
              <a:rPr lang="en-US" b="0" dirty="0">
                <a:solidFill>
                  <a:srgbClr val="000000"/>
                </a:solidFill>
                <a:effectLst/>
                <a:latin typeface="Courier New" panose="02070309020205020404" pitchFamily="49" charset="0"/>
              </a:rPr>
              <a:t>([</a:t>
            </a:r>
            <a:r>
              <a:rPr lang="en-US" b="0" dirty="0">
                <a:solidFill>
                  <a:srgbClr val="116644"/>
                </a:solidFill>
                <a:effectLst/>
                <a:latin typeface="Courier New" panose="02070309020205020404" pitchFamily="49" charset="0"/>
              </a:rPr>
              <a:t>10</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"hello"</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9.99</a:t>
            </a:r>
            <a:r>
              <a:rPr lang="en-US" b="0" dirty="0">
                <a:solidFill>
                  <a:srgbClr val="000000"/>
                </a:solidFill>
                <a:effectLst/>
                <a:latin typeface="Courier New" panose="02070309020205020404" pitchFamily="49" charset="0"/>
              </a:rPr>
              <a:t>, </a:t>
            </a:r>
            <a:r>
              <a:rPr lang="en-US" b="0" dirty="0">
                <a:solidFill>
                  <a:srgbClr val="0000FF"/>
                </a:solidFill>
                <a:effectLst/>
                <a:latin typeface="Courier New" panose="02070309020205020404" pitchFamily="49" charset="0"/>
              </a:rPr>
              <a:t>True</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1</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2</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3</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"language"</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"Python"</a:t>
            </a:r>
            <a:r>
              <a:rPr lang="en-US" b="0" dirty="0">
                <a:solidFill>
                  <a:srgbClr val="000000"/>
                </a:solidFill>
                <a:effectLst/>
                <a:latin typeface="Courier New" panose="02070309020205020404" pitchFamily="49" charset="0"/>
              </a:rPr>
              <a:t>}])</a:t>
            </a:r>
          </a:p>
          <a:p>
            <a:pPr>
              <a:lnSpc>
                <a:spcPts val="1425"/>
              </a:lnSpc>
            </a:pPr>
            <a:r>
              <a:rPr lang="en-US" b="0" dirty="0" err="1">
                <a:solidFill>
                  <a:srgbClr val="000000"/>
                </a:solidFill>
                <a:effectLst/>
                <a:latin typeface="Courier New" panose="02070309020205020404" pitchFamily="49" charset="0"/>
              </a:rPr>
              <a:t>var_list.extend</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'three’</a:t>
            </a:r>
            <a:r>
              <a:rPr lang="en-US" b="0" dirty="0">
                <a:solidFill>
                  <a:srgbClr val="000000"/>
                </a:solidFill>
                <a:effectLst/>
                <a:latin typeface="Courier New" panose="02070309020205020404" pitchFamily="49" charset="0"/>
              </a:rPr>
              <a:t>) # will add five letters instead of one string, different from .append(‘three’), which is one string</a:t>
            </a: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var_list</a:t>
            </a:r>
            <a:r>
              <a:rPr lang="en-US" b="0" dirty="0">
                <a:solidFill>
                  <a:srgbClr val="000000"/>
                </a:solidFill>
                <a:effectLst/>
                <a:latin typeface="Courier New" panose="02070309020205020404" pitchFamily="49" charset="0"/>
              </a:rPr>
              <a:t>)</a:t>
            </a:r>
          </a:p>
          <a:p>
            <a:pPr>
              <a:lnSpc>
                <a:spcPts val="1425"/>
              </a:lnSpc>
            </a:pPr>
            <a:r>
              <a:rPr lang="en-US" b="0" dirty="0">
                <a:solidFill>
                  <a:srgbClr val="000000"/>
                </a:solidFill>
                <a:effectLst/>
                <a:latin typeface="Courier New" panose="02070309020205020404" pitchFamily="49" charset="0"/>
              </a:rPr>
              <a:t>var_list2 = [</a:t>
            </a:r>
            <a:r>
              <a:rPr lang="en-US" b="0" dirty="0">
                <a:solidFill>
                  <a:srgbClr val="A31515"/>
                </a:solidFill>
                <a:effectLst/>
                <a:latin typeface="Courier New" panose="02070309020205020404" pitchFamily="49" charset="0"/>
              </a:rPr>
              <a:t>'one'</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'two'</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'three'</a:t>
            </a:r>
            <a:r>
              <a:rPr lang="en-US" b="0" dirty="0">
                <a:solidFill>
                  <a:srgbClr val="000000"/>
                </a:solidFill>
                <a:effectLst/>
                <a:latin typeface="Courier New" panose="02070309020205020404" pitchFamily="49" charset="0"/>
              </a:rPr>
              <a:t>]</a:t>
            </a:r>
          </a:p>
          <a:p>
            <a:pPr>
              <a:lnSpc>
                <a:spcPts val="1425"/>
              </a:lnSpc>
            </a:pPr>
            <a:r>
              <a:rPr lang="en-US" b="0" dirty="0">
                <a:solidFill>
                  <a:srgbClr val="000000"/>
                </a:solidFill>
                <a:effectLst/>
                <a:latin typeface="Courier New" panose="02070309020205020404" pitchFamily="49" charset="0"/>
              </a:rPr>
              <a:t>v = </a:t>
            </a:r>
            <a:r>
              <a:rPr lang="en-US" b="0" dirty="0" err="1">
                <a:solidFill>
                  <a:srgbClr val="000000"/>
                </a:solidFill>
                <a:effectLst/>
                <a:latin typeface="Courier New" panose="02070309020205020404" pitchFamily="49" charset="0"/>
              </a:rPr>
              <a:t>var_list</a:t>
            </a:r>
            <a:r>
              <a:rPr lang="en-US" b="0" dirty="0">
                <a:solidFill>
                  <a:srgbClr val="000000"/>
                </a:solidFill>
                <a:effectLst/>
                <a:latin typeface="Courier New" panose="02070309020205020404" pitchFamily="49" charset="0"/>
              </a:rPr>
              <a:t> + var_list2</a:t>
            </a: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(v)</a:t>
            </a:r>
          </a:p>
          <a:p>
            <a:pPr>
              <a:lnSpc>
                <a:spcPts val="1425"/>
              </a:lnSpc>
            </a:pPr>
            <a:r>
              <a:rPr lang="en-US" b="0" dirty="0">
                <a:solidFill>
                  <a:srgbClr val="000000"/>
                </a:solidFill>
                <a:effectLst/>
                <a:latin typeface="Courier New" panose="02070309020205020404" pitchFamily="49" charset="0"/>
              </a:rPr>
              <a:t>v[5] = "updated"</a:t>
            </a:r>
          </a:p>
          <a:p>
            <a:pPr>
              <a:lnSpc>
                <a:spcPts val="1425"/>
              </a:lnSpc>
            </a:pPr>
            <a:r>
              <a:rPr lang="en-US" b="0" dirty="0">
                <a:solidFill>
                  <a:srgbClr val="000000"/>
                </a:solidFill>
                <a:effectLst/>
                <a:latin typeface="Courier New" panose="02070309020205020404" pitchFamily="49" charset="0"/>
              </a:rPr>
              <a:t>print(v)</a:t>
            </a:r>
          </a:p>
          <a:p>
            <a:pPr>
              <a:lnSpc>
                <a:spcPts val="1425"/>
              </a:lnSpc>
            </a:pPr>
            <a:r>
              <a:rPr lang="en-US" b="0" dirty="0" err="1">
                <a:solidFill>
                  <a:srgbClr val="000000"/>
                </a:solidFill>
                <a:effectLst/>
                <a:latin typeface="Courier New" panose="02070309020205020404" pitchFamily="49" charset="0"/>
              </a:rPr>
              <a:t>v.remove</a:t>
            </a:r>
            <a:r>
              <a:rPr lang="en-US" b="0" dirty="0">
                <a:solidFill>
                  <a:srgbClr val="000000"/>
                </a:solidFill>
                <a:effectLst/>
                <a:latin typeface="Courier New" panose="02070309020205020404" pitchFamily="49" charset="0"/>
              </a:rPr>
              <a:t>('e') #remove by value</a:t>
            </a:r>
          </a:p>
          <a:p>
            <a:pPr>
              <a:lnSpc>
                <a:spcPts val="1425"/>
              </a:lnSpc>
            </a:pPr>
            <a:r>
              <a:rPr lang="en-US" b="0" dirty="0">
                <a:solidFill>
                  <a:srgbClr val="000000"/>
                </a:solidFill>
                <a:effectLst/>
                <a:latin typeface="Courier New" panose="02070309020205020404" pitchFamily="49" charset="0"/>
              </a:rPr>
              <a:t>print(v)</a:t>
            </a:r>
          </a:p>
          <a:p>
            <a:pPr>
              <a:lnSpc>
                <a:spcPts val="1425"/>
              </a:lnSpc>
            </a:pPr>
            <a:r>
              <a:rPr lang="en-US" b="0" dirty="0" err="1">
                <a:solidFill>
                  <a:srgbClr val="000000"/>
                </a:solidFill>
                <a:effectLst/>
                <a:latin typeface="Courier New" panose="02070309020205020404" pitchFamily="49" charset="0"/>
              </a:rPr>
              <a:t>v.pop</a:t>
            </a:r>
            <a:r>
              <a:rPr lang="en-US" b="0" dirty="0">
                <a:solidFill>
                  <a:srgbClr val="000000"/>
                </a:solidFill>
                <a:effectLst/>
                <a:latin typeface="Courier New" panose="02070309020205020404" pitchFamily="49" charset="0"/>
              </a:rPr>
              <a:t>(4) #remove by index</a:t>
            </a:r>
          </a:p>
          <a:p>
            <a:pPr>
              <a:lnSpc>
                <a:spcPts val="1425"/>
              </a:lnSpc>
            </a:pPr>
            <a:r>
              <a:rPr lang="en-US" b="0" dirty="0">
                <a:solidFill>
                  <a:srgbClr val="000000"/>
                </a:solidFill>
                <a:effectLst/>
                <a:latin typeface="Courier New" panose="02070309020205020404" pitchFamily="49" charset="0"/>
              </a:rPr>
              <a:t>print(v)</a:t>
            </a:r>
          </a:p>
          <a:p>
            <a:pPr>
              <a:lnSpc>
                <a:spcPts val="1425"/>
              </a:lnSpc>
            </a:pPr>
            <a:r>
              <a:rPr lang="en-US" b="0" dirty="0">
                <a:solidFill>
                  <a:srgbClr val="000000"/>
                </a:solidFill>
                <a:effectLst/>
                <a:latin typeface="Courier New" panose="02070309020205020404" pitchFamily="49" charset="0"/>
              </a:rPr>
              <a:t>v[3:5] = [ ] #remove by slicing</a:t>
            </a:r>
          </a:p>
          <a:p>
            <a:pPr>
              <a:lnSpc>
                <a:spcPts val="1425"/>
              </a:lnSpc>
            </a:pPr>
            <a:r>
              <a:rPr lang="en-US" b="0" dirty="0">
                <a:solidFill>
                  <a:srgbClr val="000000"/>
                </a:solidFill>
                <a:effectLst/>
                <a:latin typeface="Courier New" panose="02070309020205020404" pitchFamily="49" charset="0"/>
              </a:rPr>
              <a:t>print(v)</a:t>
            </a:r>
          </a:p>
          <a:p>
            <a:pPr>
              <a:lnSpc>
                <a:spcPts val="1425"/>
              </a:lnSpc>
            </a:pPr>
            <a:r>
              <a:rPr lang="en-US" b="0" dirty="0">
                <a:solidFill>
                  <a:srgbClr val="000000"/>
                </a:solidFill>
                <a:effectLst/>
                <a:latin typeface="Courier New" panose="02070309020205020404" pitchFamily="49" charset="0"/>
              </a:rPr>
              <a:t>del v[3]</a:t>
            </a:r>
          </a:p>
          <a:p>
            <a:pPr>
              <a:lnSpc>
                <a:spcPts val="1425"/>
              </a:lnSpc>
            </a:pPr>
            <a:r>
              <a:rPr lang="en-US" b="0" dirty="0">
                <a:solidFill>
                  <a:srgbClr val="000000"/>
                </a:solidFill>
                <a:effectLst/>
                <a:latin typeface="Courier New" panose="02070309020205020404" pitchFamily="49" charset="0"/>
              </a:rPr>
              <a:t>print(v)</a:t>
            </a:r>
          </a:p>
          <a:p>
            <a:pPr>
              <a:lnSpc>
                <a:spcPts val="1425"/>
              </a:lnSpc>
            </a:pPr>
            <a:r>
              <a:rPr lang="en-US" b="0" dirty="0">
                <a:solidFill>
                  <a:srgbClr val="000000"/>
                </a:solidFill>
                <a:effectLst/>
                <a:latin typeface="Courier New" panose="02070309020205020404" pitchFamily="49" charset="0"/>
              </a:rPr>
              <a:t>del v[1:3]</a:t>
            </a:r>
          </a:p>
          <a:p>
            <a:pPr>
              <a:lnSpc>
                <a:spcPts val="1425"/>
              </a:lnSpc>
            </a:pPr>
            <a:r>
              <a:rPr lang="en-US" b="0" dirty="0">
                <a:solidFill>
                  <a:srgbClr val="000000"/>
                </a:solidFill>
                <a:effectLst/>
                <a:latin typeface="Courier New" panose="02070309020205020404" pitchFamily="49" charset="0"/>
              </a:rPr>
              <a:t>print(v)</a:t>
            </a:r>
          </a:p>
          <a:p>
            <a:pPr>
              <a:lnSpc>
                <a:spcPts val="1425"/>
              </a:lnSpc>
            </a:pPr>
            <a:r>
              <a:rPr lang="en-US" b="0" dirty="0">
                <a:solidFill>
                  <a:srgbClr val="000000"/>
                </a:solidFill>
                <a:effectLst/>
                <a:latin typeface="Courier New" panose="02070309020205020404" pitchFamily="49" charset="0"/>
              </a:rPr>
              <a:t>v = v * 2</a:t>
            </a:r>
          </a:p>
          <a:p>
            <a:pPr>
              <a:lnSpc>
                <a:spcPts val="1425"/>
              </a:lnSpc>
            </a:pPr>
            <a:r>
              <a:rPr lang="en-US" b="0" dirty="0">
                <a:solidFill>
                  <a:srgbClr val="000000"/>
                </a:solidFill>
                <a:effectLst/>
                <a:latin typeface="Courier New" panose="02070309020205020404" pitchFamily="49" charset="0"/>
              </a:rPr>
              <a:t>print(v)</a:t>
            </a:r>
          </a:p>
          <a:p>
            <a:endParaRPr lang="en-US" dirty="0"/>
          </a:p>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9</a:t>
            </a:fld>
            <a:endParaRPr lang="en-US"/>
          </a:p>
        </p:txBody>
      </p:sp>
    </p:spTree>
    <p:extLst>
      <p:ext uri="{BB962C8B-B14F-4D97-AF65-F5344CB8AC3E}">
        <p14:creationId xmlns:p14="http://schemas.microsoft.com/office/powerpoint/2010/main" val="3834507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var_tuple</a:t>
            </a:r>
            <a:r>
              <a:rPr lang="en-US" dirty="0"/>
              <a:t> = tuple([10, "hello", 9.99, True, [1, 2, 3], {"language": "Python"}])  # use constructor</a:t>
            </a:r>
          </a:p>
          <a:p>
            <a:r>
              <a:rPr lang="en-US" dirty="0"/>
              <a:t>print("</a:t>
            </a:r>
            <a:r>
              <a:rPr lang="en-US" dirty="0" err="1"/>
              <a:t>var_tuple</a:t>
            </a:r>
            <a:r>
              <a:rPr lang="en-US" dirty="0"/>
              <a:t>[1]:", </a:t>
            </a:r>
            <a:r>
              <a:rPr lang="en-US" dirty="0" err="1"/>
              <a:t>var_tuple</a:t>
            </a:r>
            <a:r>
              <a:rPr lang="en-US" dirty="0"/>
              <a:t>[1])</a:t>
            </a:r>
          </a:p>
        </p:txBody>
      </p:sp>
      <p:sp>
        <p:nvSpPr>
          <p:cNvPr id="4" name="Slide Number Placeholder 3"/>
          <p:cNvSpPr>
            <a:spLocks noGrp="1"/>
          </p:cNvSpPr>
          <p:nvPr>
            <p:ph type="sldNum" sz="quarter" idx="5"/>
          </p:nvPr>
        </p:nvSpPr>
        <p:spPr/>
        <p:txBody>
          <a:bodyPr/>
          <a:lstStyle/>
          <a:p>
            <a:fld id="{EB394981-F5B7-436B-9962-151FBDD8AD94}" type="slidenum">
              <a:rPr lang="en-US" smtClean="0"/>
              <a:t>10</a:t>
            </a:fld>
            <a:endParaRPr lang="en-US"/>
          </a:p>
        </p:txBody>
      </p:sp>
    </p:spTree>
    <p:extLst>
      <p:ext uri="{BB962C8B-B14F-4D97-AF65-F5344CB8AC3E}">
        <p14:creationId xmlns:p14="http://schemas.microsoft.com/office/powerpoint/2010/main" val="871602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err="1">
                <a:solidFill>
                  <a:srgbClr val="000000"/>
                </a:solidFill>
                <a:effectLst/>
                <a:latin typeface="Courier New" panose="02070309020205020404" pitchFamily="49" charset="0"/>
              </a:rPr>
              <a:t>apple_stock</a:t>
            </a:r>
            <a:r>
              <a:rPr lang="en-US" b="0" dirty="0">
                <a:solidFill>
                  <a:srgbClr val="000000"/>
                </a:solidFill>
                <a:effectLst/>
                <a:latin typeface="Courier New" panose="02070309020205020404" pitchFamily="49" charset="0"/>
              </a:rPr>
              <a:t> = </a:t>
            </a:r>
            <a:r>
              <a:rPr lang="en-US" b="0" dirty="0" err="1">
                <a:solidFill>
                  <a:srgbClr val="257693"/>
                </a:solidFill>
                <a:effectLst/>
                <a:latin typeface="Courier New" panose="02070309020205020404" pitchFamily="49" charset="0"/>
              </a:rPr>
              <a:t>dict</a:t>
            </a:r>
            <a:r>
              <a:rPr lang="en-US" b="0" dirty="0">
                <a:solidFill>
                  <a:srgbClr val="000000"/>
                </a:solidFill>
                <a:effectLst/>
                <a:latin typeface="Courier New" panose="02070309020205020404" pitchFamily="49" charset="0"/>
              </a:rPr>
              <a:t>(symbol=</a:t>
            </a:r>
            <a:r>
              <a:rPr lang="en-US" b="0" dirty="0">
                <a:solidFill>
                  <a:srgbClr val="A31515"/>
                </a:solidFill>
                <a:effectLst/>
                <a:latin typeface="Courier New" panose="02070309020205020404" pitchFamily="49" charset="0"/>
              </a:rPr>
              <a:t>"AAPL"</a:t>
            </a:r>
            <a:r>
              <a:rPr lang="en-US" b="0" dirty="0">
                <a:solidFill>
                  <a:srgbClr val="000000"/>
                </a:solidFill>
                <a:effectLst/>
                <a:latin typeface="Courier New" panose="02070309020205020404" pitchFamily="49" charset="0"/>
              </a:rPr>
              <a:t>, shares=</a:t>
            </a:r>
            <a:r>
              <a:rPr lang="en-US" b="0" dirty="0">
                <a:solidFill>
                  <a:srgbClr val="116644"/>
                </a:solidFill>
                <a:effectLst/>
                <a:latin typeface="Courier New" panose="02070309020205020404" pitchFamily="49" charset="0"/>
              </a:rPr>
              <a:t>100</a:t>
            </a:r>
            <a:r>
              <a:rPr lang="en-US" b="0" dirty="0">
                <a:solidFill>
                  <a:srgbClr val="000000"/>
                </a:solidFill>
                <a:effectLst/>
                <a:latin typeface="Courier New" panose="02070309020205020404" pitchFamily="49" charset="0"/>
              </a:rPr>
              <a:t>, price=</a:t>
            </a:r>
            <a:r>
              <a:rPr lang="en-US" b="0" dirty="0">
                <a:solidFill>
                  <a:srgbClr val="116644"/>
                </a:solidFill>
                <a:effectLst/>
                <a:latin typeface="Courier New" panose="02070309020205020404" pitchFamily="49" charset="0"/>
              </a:rPr>
              <a:t>150.25</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total_value</a:t>
            </a:r>
            <a:r>
              <a:rPr lang="en-US" b="0" dirty="0">
                <a:solidFill>
                  <a:srgbClr val="000000"/>
                </a:solidFill>
                <a:effectLst/>
                <a:latin typeface="Courier New" panose="02070309020205020404" pitchFamily="49" charset="0"/>
              </a:rPr>
              <a:t>=</a:t>
            </a:r>
            <a:r>
              <a:rPr lang="en-US" b="0" dirty="0">
                <a:solidFill>
                  <a:srgbClr val="116644"/>
                </a:solidFill>
                <a:effectLst/>
                <a:latin typeface="Courier New" panose="02070309020205020404" pitchFamily="49" charset="0"/>
              </a:rPr>
              <a:t>15025.00</a:t>
            </a: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use constructor</a:t>
            </a:r>
            <a:endParaRPr lang="en-US" b="0" dirty="0">
              <a:solidFill>
                <a:srgbClr val="000000"/>
              </a:solidFill>
              <a:effectLst/>
              <a:latin typeface="Courier New" panose="02070309020205020404" pitchFamily="49" charset="0"/>
            </a:endParaRP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apple_stock</a:t>
            </a:r>
            <a:r>
              <a:rPr lang="en-US" b="0" dirty="0">
                <a:solidFill>
                  <a:srgbClr val="000000"/>
                </a:solidFill>
                <a:effectLst/>
                <a:latin typeface="Courier New" panose="02070309020205020404" pitchFamily="49" charset="0"/>
              </a:rPr>
              <a:t>)</a:t>
            </a:r>
          </a:p>
          <a:p>
            <a:pPr>
              <a:lnSpc>
                <a:spcPts val="1425"/>
              </a:lnSpc>
            </a:pPr>
            <a:r>
              <a:rPr lang="en-US" b="0" dirty="0">
                <a:solidFill>
                  <a:srgbClr val="AF00DB"/>
                </a:solidFill>
                <a:effectLst/>
                <a:latin typeface="Courier New" panose="02070309020205020404" pitchFamily="49" charset="0"/>
              </a:rPr>
              <a:t>del</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apple_stock</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"shares"</a:t>
            </a:r>
            <a:r>
              <a:rPr lang="en-US" b="0" dirty="0">
                <a:solidFill>
                  <a:srgbClr val="000000"/>
                </a:solidFill>
                <a:effectLst/>
                <a:latin typeface="Courier New" panose="02070309020205020404" pitchFamily="49" charset="0"/>
              </a:rPr>
              <a:t>]</a:t>
            </a: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apple_stock</a:t>
            </a:r>
            <a:r>
              <a:rPr lang="en-US" b="0" dirty="0">
                <a:solidFill>
                  <a:srgbClr val="000000"/>
                </a:solidFill>
                <a:effectLst/>
                <a:latin typeface="Courier New" panose="02070309020205020404" pitchFamily="49" charset="0"/>
              </a:rPr>
              <a:t>)</a:t>
            </a:r>
          </a:p>
          <a:p>
            <a:pPr>
              <a:lnSpc>
                <a:spcPts val="1425"/>
              </a:lnSpc>
            </a:pPr>
            <a:r>
              <a:rPr lang="en-US" b="0" dirty="0" err="1">
                <a:solidFill>
                  <a:srgbClr val="000000"/>
                </a:solidFill>
                <a:effectLst/>
                <a:latin typeface="Courier New" panose="02070309020205020404" pitchFamily="49" charset="0"/>
              </a:rPr>
              <a:t>apple_stock</a:t>
            </a:r>
            <a:r>
              <a:rPr lang="en-US" b="0" dirty="0">
                <a:solidFill>
                  <a:srgbClr val="000000"/>
                </a:solidFill>
                <a:effectLst/>
                <a:latin typeface="Courier New" panose="02070309020205020404" pitchFamily="49" charset="0"/>
              </a:rPr>
              <a:t> = </a:t>
            </a:r>
            <a:r>
              <a:rPr lang="en-US" b="0" dirty="0" err="1">
                <a:solidFill>
                  <a:srgbClr val="257693"/>
                </a:solidFill>
                <a:effectLst/>
                <a:latin typeface="Courier New" panose="02070309020205020404" pitchFamily="49" charset="0"/>
              </a:rPr>
              <a:t>dict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"symbol"</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"AAPL"</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"shares"</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100</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"price"</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150.25</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total_value</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15025.00</a:t>
            </a:r>
            <a:r>
              <a:rPr lang="en-US" b="0" dirty="0">
                <a:solidFill>
                  <a:srgbClr val="000000"/>
                </a:solidFill>
                <a:effectLst/>
                <a:latin typeface="Courier New" panose="02070309020205020404" pitchFamily="49" charset="0"/>
              </a:rPr>
              <a:t>)])</a:t>
            </a: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apple_stock</a:t>
            </a:r>
            <a:r>
              <a:rPr lang="en-US" b="0" dirty="0">
                <a:solidFill>
                  <a:srgbClr val="000000"/>
                </a:solidFill>
                <a:effectLst/>
                <a:latin typeface="Courier New" panose="02070309020205020404" pitchFamily="49" charset="0"/>
              </a:rPr>
              <a:t>)</a:t>
            </a:r>
          </a:p>
          <a:p>
            <a:pPr>
              <a:lnSpc>
                <a:spcPts val="1425"/>
              </a:lnSpc>
            </a:pPr>
            <a:r>
              <a:rPr lang="en-US" b="0" dirty="0" err="1">
                <a:solidFill>
                  <a:srgbClr val="000000"/>
                </a:solidFill>
                <a:effectLst/>
                <a:latin typeface="Courier New" panose="02070309020205020404" pitchFamily="49" charset="0"/>
              </a:rPr>
              <a:t>removed_value</a:t>
            </a:r>
            <a:r>
              <a:rPr lang="en-US" b="0" dirty="0">
                <a:solidFill>
                  <a:srgbClr val="000000"/>
                </a:solidFill>
                <a:effectLst/>
                <a:latin typeface="Courier New" panose="02070309020205020404" pitchFamily="49" charset="0"/>
              </a:rPr>
              <a:t> = </a:t>
            </a:r>
            <a:r>
              <a:rPr lang="en-US" b="0" dirty="0" err="1">
                <a:solidFill>
                  <a:srgbClr val="000000"/>
                </a:solidFill>
                <a:effectLst/>
                <a:latin typeface="Courier New" panose="02070309020205020404" pitchFamily="49" charset="0"/>
              </a:rPr>
              <a:t>apple_stock.pop</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"shares"</a:t>
            </a:r>
            <a:r>
              <a:rPr lang="en-US" b="0" dirty="0">
                <a:solidFill>
                  <a:srgbClr val="000000"/>
                </a:solidFill>
                <a:effectLst/>
                <a:latin typeface="Courier New" panose="02070309020205020404" pitchFamily="49" charset="0"/>
              </a:rPr>
              <a:t>)</a:t>
            </a: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apple_stock</a:t>
            </a:r>
            <a:r>
              <a:rPr lang="en-US" b="0" dirty="0">
                <a:solidFill>
                  <a:srgbClr val="000000"/>
                </a:solidFill>
                <a:effectLst/>
                <a:latin typeface="Courier New" panose="02070309020205020404" pitchFamily="49" charset="0"/>
              </a:rPr>
              <a:t>)</a:t>
            </a:r>
          </a:p>
          <a:p>
            <a:endParaRPr lang="en-US" dirty="0"/>
          </a:p>
          <a:p>
            <a:endParaRPr lang="en-US" dirty="0"/>
          </a:p>
          <a:p>
            <a:endParaRPr lang="en-US" dirty="0"/>
          </a:p>
          <a:p>
            <a:endParaRPr lang="en-US" dirty="0"/>
          </a:p>
          <a:p>
            <a:r>
              <a:rPr lang="en-US" dirty="0"/>
              <a:t>Hash functions are algorithms that take an input (or "message") and return a fixed-size alphanumeric string, which is typically a hash value. They are widely used in programming for data structures like hash tables, data security, and cryptography.</a:t>
            </a:r>
          </a:p>
          <a:p>
            <a:endParaRPr lang="en-US" dirty="0"/>
          </a:p>
          <a:p>
            <a:r>
              <a:rPr lang="en-US" b="1" dirty="0"/>
              <a:t>Choosing a Hash Function</a:t>
            </a:r>
          </a:p>
          <a:p>
            <a:pPr>
              <a:buFont typeface="Arial" panose="020B0604020202020204" pitchFamily="34" charset="0"/>
              <a:buChar char="•"/>
            </a:pPr>
            <a:r>
              <a:rPr lang="en-US" b="1" dirty="0"/>
              <a:t>Fast Lookups</a:t>
            </a:r>
            <a:r>
              <a:rPr lang="en-US" dirty="0"/>
              <a:t>: Use Python's built-in hash() for dictionaries/sets.</a:t>
            </a:r>
          </a:p>
          <a:p>
            <a:pPr>
              <a:buFont typeface="Arial" panose="020B0604020202020204" pitchFamily="34" charset="0"/>
              <a:buChar char="•"/>
            </a:pPr>
            <a:r>
              <a:rPr lang="en-US" b="1" dirty="0"/>
              <a:t>Data Integrity</a:t>
            </a:r>
            <a:r>
              <a:rPr lang="en-US" dirty="0"/>
              <a:t>: Use MD5, SHA-1, or SHA-256 for verifying file integrity.</a:t>
            </a:r>
          </a:p>
          <a:p>
            <a:pPr>
              <a:buFont typeface="Arial" panose="020B0604020202020204" pitchFamily="34" charset="0"/>
              <a:buChar char="•"/>
            </a:pPr>
            <a:r>
              <a:rPr lang="en-US" b="1" dirty="0"/>
              <a:t>Security</a:t>
            </a:r>
            <a:r>
              <a:rPr lang="en-US" dirty="0"/>
              <a:t>: Use SHA-256 or SHA-3 for cryptographic purposes.</a:t>
            </a:r>
          </a:p>
          <a:p>
            <a:pPr>
              <a:buFont typeface="Arial" panose="020B0604020202020204" pitchFamily="34" charset="0"/>
              <a:buChar char="•"/>
            </a:pPr>
            <a:r>
              <a:rPr lang="en-US" b="1" dirty="0"/>
              <a:t>Performance</a:t>
            </a:r>
            <a:r>
              <a:rPr lang="en-US" dirty="0"/>
              <a:t>: Use </a:t>
            </a:r>
            <a:r>
              <a:rPr lang="en-US" dirty="0" err="1"/>
              <a:t>CityHash</a:t>
            </a:r>
            <a:r>
              <a:rPr lang="en-US" dirty="0"/>
              <a:t> or </a:t>
            </a:r>
            <a:r>
              <a:rPr lang="en-US" dirty="0" err="1"/>
              <a:t>MurmurHash</a:t>
            </a:r>
            <a:r>
              <a:rPr lang="en-US" dirty="0"/>
              <a:t> for non-cryptographic applications.</a:t>
            </a:r>
          </a:p>
          <a:p>
            <a:endParaRPr lang="en-US" dirty="0"/>
          </a:p>
          <a:p>
            <a:r>
              <a:rPr lang="en-US" b="1" dirty="0"/>
              <a:t>Python Built-in hash() Function</a:t>
            </a:r>
          </a:p>
          <a:p>
            <a:pPr>
              <a:buFont typeface="Arial" panose="020B0604020202020204" pitchFamily="34" charset="0"/>
              <a:buChar char="•"/>
            </a:pPr>
            <a:r>
              <a:rPr lang="en-US" b="1" dirty="0"/>
              <a:t>Purpose</a:t>
            </a:r>
            <a:r>
              <a:rPr lang="en-US" dirty="0"/>
              <a:t>: Generates a hash value for immutable objects like integers, strings, tuples, and more.</a:t>
            </a:r>
          </a:p>
          <a:p>
            <a:pPr>
              <a:buFont typeface="Arial" panose="020B0604020202020204" pitchFamily="34" charset="0"/>
              <a:buChar char="•"/>
            </a:pPr>
            <a:r>
              <a:rPr lang="en-US" b="1" dirty="0"/>
              <a:t>Use Case</a:t>
            </a:r>
            <a:r>
              <a:rPr lang="en-US" dirty="0"/>
              <a:t>: Fast lookups in dictionaries and sets.</a:t>
            </a:r>
          </a:p>
          <a:p>
            <a:pPr>
              <a:buFont typeface="Arial" panose="020B0604020202020204" pitchFamily="34" charset="0"/>
              <a:buChar char="•"/>
            </a:pPr>
            <a:r>
              <a:rPr lang="en-US" b="1" dirty="0"/>
              <a:t>Output</a:t>
            </a:r>
            <a:r>
              <a:rPr lang="en-US" dirty="0"/>
              <a:t>: An integer value.</a:t>
            </a:r>
          </a:p>
          <a:p>
            <a:r>
              <a:rPr lang="en-US" b="1" dirty="0"/>
              <a:t>Cryptographic Hash Functions</a:t>
            </a:r>
          </a:p>
          <a:p>
            <a:r>
              <a:rPr lang="en-US" dirty="0"/>
              <a:t>These are used for secure hashing and are implemented in Python using the </a:t>
            </a:r>
            <a:r>
              <a:rPr lang="en-US" dirty="0" err="1"/>
              <a:t>hashlib</a:t>
            </a:r>
            <a:r>
              <a:rPr lang="en-US" dirty="0"/>
              <a:t> module.</a:t>
            </a:r>
          </a:p>
          <a:p>
            <a:r>
              <a:rPr lang="en-US" b="1" dirty="0"/>
              <a:t>a. MD5 (Message-Digest Algorithm 5)</a:t>
            </a:r>
          </a:p>
          <a:p>
            <a:r>
              <a:rPr lang="en-US" b="1" dirty="0"/>
              <a:t>b. SHA Family (Secure Hash Algorithms)</a:t>
            </a:r>
          </a:p>
          <a:p>
            <a:r>
              <a:rPr lang="en-US" b="1" dirty="0" err="1"/>
              <a:t>CityHash</a:t>
            </a:r>
            <a:r>
              <a:rPr lang="en-US" b="1" dirty="0"/>
              <a:t> / </a:t>
            </a:r>
            <a:r>
              <a:rPr lang="en-US" b="1" dirty="0" err="1"/>
              <a:t>MurmurHash</a:t>
            </a:r>
            <a:endParaRPr lang="en-US" b="1" dirty="0"/>
          </a:p>
          <a:p>
            <a:pPr>
              <a:buFont typeface="Arial" panose="020B0604020202020204" pitchFamily="34" charset="0"/>
              <a:buChar char="•"/>
            </a:pPr>
            <a:r>
              <a:rPr lang="en-US" b="1" dirty="0" err="1"/>
              <a:t>CityHash</a:t>
            </a:r>
            <a:r>
              <a:rPr lang="en-US" dirty="0"/>
              <a:t>:</a:t>
            </a:r>
          </a:p>
          <a:p>
            <a:pPr marL="742950" lvl="1" indent="-285750">
              <a:buFont typeface="Arial" panose="020B0604020202020204" pitchFamily="34" charset="0"/>
              <a:buChar char="•"/>
            </a:pPr>
            <a:r>
              <a:rPr lang="en-US" dirty="0"/>
              <a:t>Developed by Google for non-cryptographic purposes.</a:t>
            </a:r>
          </a:p>
          <a:p>
            <a:pPr marL="742950" lvl="1" indent="-285750">
              <a:buFont typeface="Arial" panose="020B0604020202020204" pitchFamily="34" charset="0"/>
              <a:buChar char="•"/>
            </a:pPr>
            <a:r>
              <a:rPr lang="en-US" dirty="0"/>
              <a:t>Focuses on speed for short strings.</a:t>
            </a:r>
          </a:p>
          <a:p>
            <a:pPr>
              <a:buFont typeface="Arial" panose="020B0604020202020204" pitchFamily="34" charset="0"/>
              <a:buChar char="•"/>
            </a:pPr>
            <a:r>
              <a:rPr lang="en-US" b="1" dirty="0" err="1"/>
              <a:t>MurmurHash</a:t>
            </a:r>
            <a:r>
              <a:rPr lang="en-US" dirty="0"/>
              <a:t>:</a:t>
            </a:r>
          </a:p>
          <a:p>
            <a:pPr marL="742950" lvl="1" indent="-285750">
              <a:buFont typeface="Arial" panose="020B0604020202020204" pitchFamily="34" charset="0"/>
              <a:buChar char="•"/>
            </a:pPr>
            <a:r>
              <a:rPr lang="en-US" dirty="0"/>
              <a:t>Known for its good distribution and speed.</a:t>
            </a:r>
          </a:p>
          <a:p>
            <a:pPr marL="742950" lvl="1" indent="-285750">
              <a:buFont typeface="Arial" panose="020B0604020202020204" pitchFamily="34" charset="0"/>
              <a:buChar char="•"/>
            </a:pPr>
            <a:r>
              <a:rPr lang="en-US" dirty="0"/>
              <a:t>Commonly used in distributed systems and big data.</a:t>
            </a:r>
          </a:p>
          <a:p>
            <a:pPr marL="457200" lvl="1" indent="0">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11</a:t>
            </a:fld>
            <a:endParaRPr lang="en-US"/>
          </a:p>
        </p:txBody>
      </p:sp>
    </p:spTree>
    <p:extLst>
      <p:ext uri="{BB962C8B-B14F-4D97-AF65-F5344CB8AC3E}">
        <p14:creationId xmlns:p14="http://schemas.microsoft.com/office/powerpoint/2010/main" val="1098320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err="1">
                <a:solidFill>
                  <a:srgbClr val="000000"/>
                </a:solidFill>
                <a:effectLst/>
                <a:latin typeface="Courier New" panose="02070309020205020404" pitchFamily="49" charset="0"/>
              </a:rPr>
              <a:t>var_set</a:t>
            </a:r>
            <a:r>
              <a:rPr lang="en-US" b="0" dirty="0">
                <a:solidFill>
                  <a:srgbClr val="000000"/>
                </a:solidFill>
                <a:effectLst/>
                <a:latin typeface="Courier New" panose="02070309020205020404" pitchFamily="49" charset="0"/>
              </a:rPr>
              <a:t> = </a:t>
            </a:r>
            <a:r>
              <a:rPr lang="en-US" b="0" dirty="0">
                <a:solidFill>
                  <a:srgbClr val="257693"/>
                </a:solidFill>
                <a:effectLst/>
                <a:latin typeface="Courier New" panose="02070309020205020404" pitchFamily="49" charset="0"/>
              </a:rPr>
              <a:t>set</a:t>
            </a:r>
            <a:r>
              <a:rPr lang="en-US" b="0" dirty="0">
                <a:solidFill>
                  <a:srgbClr val="000000"/>
                </a:solidFill>
                <a:effectLst/>
                <a:latin typeface="Courier New" panose="02070309020205020404" pitchFamily="49" charset="0"/>
              </a:rPr>
              <a:t>([</a:t>
            </a:r>
            <a:r>
              <a:rPr lang="en-US" b="0" dirty="0">
                <a:solidFill>
                  <a:srgbClr val="116644"/>
                </a:solidFill>
                <a:effectLst/>
                <a:latin typeface="Courier New" panose="02070309020205020404" pitchFamily="49" charset="0"/>
              </a:rPr>
              <a:t>10</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10</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"hello"</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9.99</a:t>
            </a:r>
            <a:r>
              <a:rPr lang="en-US" b="0" dirty="0">
                <a:solidFill>
                  <a:srgbClr val="000000"/>
                </a:solidFill>
                <a:effectLst/>
                <a:latin typeface="Courier New" panose="02070309020205020404" pitchFamily="49" charset="0"/>
              </a:rPr>
              <a:t>, </a:t>
            </a:r>
            <a:r>
              <a:rPr lang="en-US" b="0" dirty="0">
                <a:solidFill>
                  <a:srgbClr val="0000FF"/>
                </a:solidFill>
                <a:effectLst/>
                <a:latin typeface="Courier New" panose="02070309020205020404" pitchFamily="49" charset="0"/>
              </a:rPr>
              <a:t>True</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1</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2</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3</a:t>
            </a:r>
            <a:r>
              <a:rPr lang="en-US" b="0" dirty="0">
                <a:solidFill>
                  <a:srgbClr val="000000"/>
                </a:solidFill>
                <a:effectLst/>
                <a:latin typeface="Courier New" panose="02070309020205020404" pitchFamily="49" charset="0"/>
              </a:rPr>
              <a:t>)])</a:t>
            </a: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var_set</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var_set</a:t>
            </a:r>
            <a:r>
              <a:rPr lang="en-US" b="0" dirty="0">
                <a:solidFill>
                  <a:srgbClr val="000000"/>
                </a:solidFill>
                <a:effectLst/>
                <a:latin typeface="Courier New" panose="02070309020205020404" pitchFamily="49" charset="0"/>
              </a:rPr>
              <a:t>)</a:t>
            </a:r>
          </a:p>
          <a:p>
            <a:pPr>
              <a:lnSpc>
                <a:spcPts val="1425"/>
              </a:lnSpc>
            </a:pPr>
            <a:r>
              <a:rPr lang="en-US" b="0" dirty="0">
                <a:solidFill>
                  <a:srgbClr val="008000"/>
                </a:solidFill>
                <a:effectLst/>
                <a:latin typeface="Courier New" panose="02070309020205020404" pitchFamily="49" charset="0"/>
              </a:rPr>
              <a:t># Update: Remove 10 and add 100</a:t>
            </a:r>
            <a:endParaRPr lang="en-US" b="0" dirty="0">
              <a:solidFill>
                <a:srgbClr val="000000"/>
              </a:solidFill>
              <a:effectLst/>
              <a:latin typeface="Courier New" panose="02070309020205020404" pitchFamily="49" charset="0"/>
            </a:endParaRPr>
          </a:p>
          <a:p>
            <a:pPr>
              <a:lnSpc>
                <a:spcPts val="1425"/>
              </a:lnSpc>
            </a:pPr>
            <a:r>
              <a:rPr lang="en-US" b="0" dirty="0" err="1">
                <a:solidFill>
                  <a:srgbClr val="000000"/>
                </a:solidFill>
                <a:effectLst/>
                <a:latin typeface="Courier New" panose="02070309020205020404" pitchFamily="49" charset="0"/>
              </a:rPr>
              <a:t>var_set.discard</a:t>
            </a:r>
            <a:r>
              <a:rPr lang="en-US" b="0" dirty="0">
                <a:solidFill>
                  <a:srgbClr val="000000"/>
                </a:solidFill>
                <a:effectLst/>
                <a:latin typeface="Courier New" panose="02070309020205020404" pitchFamily="49" charset="0"/>
              </a:rPr>
              <a:t>(</a:t>
            </a:r>
            <a:r>
              <a:rPr lang="en-US" b="0" dirty="0">
                <a:solidFill>
                  <a:srgbClr val="116644"/>
                </a:solidFill>
                <a:effectLst/>
                <a:latin typeface="Courier New" panose="02070309020205020404" pitchFamily="49" charset="0"/>
              </a:rPr>
              <a:t>10</a:t>
            </a: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Removes the item 10 if it exists</a:t>
            </a:r>
            <a:endParaRPr lang="en-US" b="0" dirty="0">
              <a:solidFill>
                <a:srgbClr val="000000"/>
              </a:solidFill>
              <a:effectLst/>
              <a:latin typeface="Courier New" panose="02070309020205020404" pitchFamily="49" charset="0"/>
            </a:endParaRPr>
          </a:p>
          <a:p>
            <a:pPr>
              <a:lnSpc>
                <a:spcPts val="1425"/>
              </a:lnSpc>
            </a:pPr>
            <a:r>
              <a:rPr lang="en-US" b="0" dirty="0" err="1">
                <a:solidFill>
                  <a:srgbClr val="000000"/>
                </a:solidFill>
                <a:effectLst/>
                <a:latin typeface="Courier New" panose="02070309020205020404" pitchFamily="49" charset="0"/>
              </a:rPr>
              <a:t>var_set.add</a:t>
            </a:r>
            <a:r>
              <a:rPr lang="en-US" b="0" dirty="0">
                <a:solidFill>
                  <a:srgbClr val="000000"/>
                </a:solidFill>
                <a:effectLst/>
                <a:latin typeface="Courier New" panose="02070309020205020404" pitchFamily="49" charset="0"/>
              </a:rPr>
              <a:t>(</a:t>
            </a:r>
            <a:r>
              <a:rPr lang="en-US" b="0" dirty="0">
                <a:solidFill>
                  <a:srgbClr val="116644"/>
                </a:solidFill>
                <a:effectLst/>
                <a:latin typeface="Courier New" panose="02070309020205020404" pitchFamily="49" charset="0"/>
              </a:rPr>
              <a:t>100</a:t>
            </a: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Adds the item 100</a:t>
            </a:r>
            <a:endParaRPr lang="en-US" b="0" dirty="0">
              <a:solidFill>
                <a:srgbClr val="000000"/>
              </a:solidFill>
              <a:effectLst/>
              <a:latin typeface="Courier New" panose="02070309020205020404" pitchFamily="49" charset="0"/>
            </a:endParaRP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"Updated </a:t>
            </a:r>
            <a:r>
              <a:rPr lang="en-US" b="0" dirty="0" err="1">
                <a:solidFill>
                  <a:srgbClr val="A31515"/>
                </a:solidFill>
                <a:effectLst/>
                <a:latin typeface="Courier New" panose="02070309020205020404" pitchFamily="49" charset="0"/>
              </a:rPr>
              <a:t>var_set</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var_set</a:t>
            </a:r>
            <a:r>
              <a:rPr lang="en-US" b="0" dirty="0">
                <a:solidFill>
                  <a:srgbClr val="000000"/>
                </a:solidFill>
                <a:effectLst/>
                <a:latin typeface="Courier New" panose="02070309020205020404" pitchFamily="49" charset="0"/>
              </a:rPr>
              <a:t>)</a:t>
            </a:r>
          </a:p>
          <a:p>
            <a:pPr>
              <a:lnSpc>
                <a:spcPts val="1425"/>
              </a:lnSpc>
            </a:pPr>
            <a:r>
              <a:rPr lang="en-US" b="0" dirty="0" err="1">
                <a:solidFill>
                  <a:srgbClr val="000000"/>
                </a:solidFill>
                <a:effectLst/>
                <a:latin typeface="Courier New" panose="02070309020205020404" pitchFamily="49" charset="0"/>
              </a:rPr>
              <a:t>var_set.add</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"new item"</a:t>
            </a:r>
            <a:r>
              <a:rPr lang="en-US" b="0" dirty="0">
                <a:solidFill>
                  <a:srgbClr val="000000"/>
                </a:solidFill>
                <a:effectLst/>
                <a:latin typeface="Courier New" panose="02070309020205020404" pitchFamily="49" charset="0"/>
              </a:rPr>
              <a:t>)</a:t>
            </a: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"After adding new item:"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var_set</a:t>
            </a:r>
            <a:r>
              <a:rPr lang="en-US" b="0" dirty="0">
                <a:solidFill>
                  <a:srgbClr val="000000"/>
                </a:solidFill>
                <a:effectLst/>
                <a:latin typeface="Courier New" panose="02070309020205020404" pitchFamily="49" charset="0"/>
              </a:rPr>
              <a:t>)</a:t>
            </a:r>
          </a:p>
          <a:p>
            <a:pPr>
              <a:lnSpc>
                <a:spcPts val="1425"/>
              </a:lnSpc>
            </a:pPr>
            <a:r>
              <a:rPr lang="en-US" b="0" dirty="0">
                <a:solidFill>
                  <a:srgbClr val="008000"/>
                </a:solidFill>
                <a:effectLst/>
                <a:latin typeface="Courier New" panose="02070309020205020404" pitchFamily="49" charset="0"/>
              </a:rPr>
              <a:t># Remove an item (e.g., "hello")</a:t>
            </a:r>
            <a:endParaRPr lang="en-US" b="0" dirty="0">
              <a:solidFill>
                <a:srgbClr val="000000"/>
              </a:solidFill>
              <a:effectLst/>
              <a:latin typeface="Courier New" panose="02070309020205020404" pitchFamily="49" charset="0"/>
            </a:endParaRPr>
          </a:p>
          <a:p>
            <a:pPr>
              <a:lnSpc>
                <a:spcPts val="1425"/>
              </a:lnSpc>
            </a:pPr>
            <a:r>
              <a:rPr lang="en-US" b="0" dirty="0" err="1">
                <a:solidFill>
                  <a:srgbClr val="000000"/>
                </a:solidFill>
                <a:effectLst/>
                <a:latin typeface="Courier New" panose="02070309020205020404" pitchFamily="49" charset="0"/>
              </a:rPr>
              <a:t>var_set.remove</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"hello"</a:t>
            </a:r>
            <a:r>
              <a:rPr lang="en-US" b="0" dirty="0">
                <a:solidFill>
                  <a:srgbClr val="000000"/>
                </a:solidFill>
                <a:effectLst/>
                <a:latin typeface="Courier New" panose="02070309020205020404" pitchFamily="49" charset="0"/>
              </a:rPr>
              <a:t>)</a:t>
            </a:r>
          </a:p>
          <a:p>
            <a:pPr>
              <a:lnSpc>
                <a:spcPts val="1425"/>
              </a:lnSpc>
            </a:pP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"After removing 'hello':"</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var_set</a:t>
            </a:r>
            <a:r>
              <a:rPr lang="en-US" b="0" dirty="0">
                <a:solidFill>
                  <a:srgbClr val="000000"/>
                </a:solidFill>
                <a:effectLst/>
                <a:latin typeface="Courier New" panose="02070309020205020404" pitchFamily="49" charset="0"/>
              </a:rPr>
              <a:t>)</a:t>
            </a:r>
          </a:p>
          <a:p>
            <a:pPr>
              <a:lnSpc>
                <a:spcPts val="1425"/>
              </a:lnSpc>
            </a:pPr>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Or use discard to avoid </a:t>
            </a:r>
            <a:r>
              <a:rPr lang="en-US" b="0" dirty="0" err="1">
                <a:solidFill>
                  <a:srgbClr val="008000"/>
                </a:solidFill>
                <a:effectLst/>
                <a:latin typeface="Courier New" panose="02070309020205020404" pitchFamily="49" charset="0"/>
              </a:rPr>
              <a:t>KeyError</a:t>
            </a:r>
            <a:r>
              <a:rPr lang="en-US" b="0" dirty="0">
                <a:solidFill>
                  <a:srgbClr val="008000"/>
                </a:solidFill>
                <a:effectLst/>
                <a:latin typeface="Courier New" panose="02070309020205020404" pitchFamily="49" charset="0"/>
              </a:rPr>
              <a:t> if the item is not present</a:t>
            </a:r>
            <a:endParaRPr lang="en-US" b="0" dirty="0">
              <a:solidFill>
                <a:srgbClr val="000000"/>
              </a:solidFill>
              <a:effectLst/>
              <a:latin typeface="Courier New" panose="02070309020205020404" pitchFamily="49" charset="0"/>
            </a:endParaRPr>
          </a:p>
          <a:p>
            <a:pPr>
              <a:lnSpc>
                <a:spcPts val="1425"/>
              </a:lnSpc>
            </a:pPr>
            <a:r>
              <a:rPr lang="en-US" b="0" dirty="0" err="1">
                <a:solidFill>
                  <a:srgbClr val="000000"/>
                </a:solidFill>
                <a:effectLst/>
                <a:latin typeface="Courier New" panose="02070309020205020404" pitchFamily="49" charset="0"/>
              </a:rPr>
              <a:t>var_set.discard</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"nonexistent item"</a:t>
            </a: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Does nothing if item is not present</a:t>
            </a:r>
            <a:endParaRPr lang="en-US" b="0" dirty="0">
              <a:solidFill>
                <a:srgbClr val="000000"/>
              </a:solidFill>
              <a:effectLst/>
              <a:latin typeface="Courier New" panose="02070309020205020404" pitchFamily="49" charset="0"/>
            </a:endParaRPr>
          </a:p>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13</a:t>
            </a:fld>
            <a:endParaRPr lang="en-US"/>
          </a:p>
        </p:txBody>
      </p:sp>
    </p:spTree>
    <p:extLst>
      <p:ext uri="{BB962C8B-B14F-4D97-AF65-F5344CB8AC3E}">
        <p14:creationId xmlns:p14="http://schemas.microsoft.com/office/powerpoint/2010/main" val="258571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roi</a:t>
            </a:r>
            <a:r>
              <a:rPr lang="en-US" dirty="0"/>
              <a:t> is accessible throughout the rest of the program because it was defined at the module level (not inside a function or class), this is different from Java or C++</a:t>
            </a:r>
          </a:p>
        </p:txBody>
      </p:sp>
      <p:sp>
        <p:nvSpPr>
          <p:cNvPr id="4" name="Slide Number Placeholder 3"/>
          <p:cNvSpPr>
            <a:spLocks noGrp="1"/>
          </p:cNvSpPr>
          <p:nvPr>
            <p:ph type="sldNum" sz="quarter" idx="5"/>
          </p:nvPr>
        </p:nvSpPr>
        <p:spPr/>
        <p:txBody>
          <a:bodyPr/>
          <a:lstStyle/>
          <a:p>
            <a:fld id="{EB394981-F5B7-436B-9962-151FBDD8AD94}" type="slidenum">
              <a:rPr lang="en-US" smtClean="0"/>
              <a:t>18</a:t>
            </a:fld>
            <a:endParaRPr lang="en-US"/>
          </a:p>
        </p:txBody>
      </p:sp>
    </p:spTree>
    <p:extLst>
      <p:ext uri="{BB962C8B-B14F-4D97-AF65-F5344CB8AC3E}">
        <p14:creationId xmlns:p14="http://schemas.microsoft.com/office/powerpoint/2010/main" val="3157975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java program</a:t>
            </a:r>
          </a:p>
          <a:p>
            <a:r>
              <a:rPr lang="en-US" dirty="0"/>
              <a:t>public class HelloWorld { </a:t>
            </a:r>
          </a:p>
          <a:p>
            <a:r>
              <a:rPr lang="en-US" dirty="0"/>
              <a:t>    public static void main(String[ ] </a:t>
            </a:r>
            <a:r>
              <a:rPr lang="en-US" dirty="0" err="1"/>
              <a:t>args</a:t>
            </a:r>
            <a:r>
              <a:rPr lang="en-US" dirty="0"/>
              <a:t>) { </a:t>
            </a:r>
          </a:p>
          <a:p>
            <a:r>
              <a:rPr lang="en-US" dirty="0"/>
              <a:t>        // Print a greeting message </a:t>
            </a:r>
          </a:p>
          <a:p>
            <a:r>
              <a:rPr lang="en-US" dirty="0"/>
              <a:t>        </a:t>
            </a:r>
            <a:r>
              <a:rPr lang="en-US" dirty="0" err="1"/>
              <a:t>System.out.println</a:t>
            </a:r>
            <a:r>
              <a:rPr lang="en-US" dirty="0"/>
              <a:t>("Hello, World!");</a:t>
            </a:r>
          </a:p>
          <a:p>
            <a:r>
              <a:rPr lang="en-US" dirty="0"/>
              <a:t>    }</a:t>
            </a:r>
          </a:p>
          <a:p>
            <a:r>
              <a:rPr lang="en-US" dirty="0"/>
              <a:t>}</a:t>
            </a:r>
          </a:p>
          <a:p>
            <a:endParaRPr lang="en-US" dirty="0"/>
          </a:p>
          <a:p>
            <a:r>
              <a:rPr lang="en-US" dirty="0"/>
              <a:t>// C++ program</a:t>
            </a:r>
          </a:p>
          <a:p>
            <a:r>
              <a:rPr lang="en-US" dirty="0"/>
              <a:t>int main( ) { </a:t>
            </a:r>
          </a:p>
          <a:p>
            <a:r>
              <a:rPr lang="en-US" dirty="0"/>
              <a:t>    // Print a greeting message </a:t>
            </a:r>
          </a:p>
          <a:p>
            <a:r>
              <a:rPr lang="en-US" dirty="0"/>
              <a:t>    std::</a:t>
            </a:r>
            <a:r>
              <a:rPr lang="en-US" dirty="0" err="1"/>
              <a:t>cout</a:t>
            </a:r>
            <a:r>
              <a:rPr lang="en-US" dirty="0"/>
              <a:t> &lt;&lt; "Hello, World!" &lt;&lt; std::</a:t>
            </a:r>
            <a:r>
              <a:rPr lang="en-US" dirty="0" err="1"/>
              <a:t>endl</a:t>
            </a:r>
            <a:r>
              <a:rPr lang="en-US" dirty="0"/>
              <a:t>;</a:t>
            </a:r>
          </a:p>
          <a:p>
            <a:r>
              <a:rPr lang="en-US" dirty="0"/>
              <a:t>    return 0;</a:t>
            </a:r>
          </a:p>
          <a:p>
            <a:r>
              <a:rPr lang="en-US" dirty="0"/>
              <a:t>}</a:t>
            </a:r>
          </a:p>
          <a:p>
            <a:endParaRPr lang="en-US" dirty="0"/>
          </a:p>
          <a:p>
            <a:r>
              <a:rPr lang="en-US" dirty="0"/>
              <a:t>// C program</a:t>
            </a:r>
          </a:p>
          <a:p>
            <a:r>
              <a:rPr lang="en-US" dirty="0"/>
              <a:t>int main( ) { </a:t>
            </a:r>
          </a:p>
          <a:p>
            <a:r>
              <a:rPr lang="en-US" dirty="0"/>
              <a:t>    // Print a greeting message </a:t>
            </a:r>
          </a:p>
          <a:p>
            <a:r>
              <a:rPr lang="en-US" dirty="0"/>
              <a:t>    </a:t>
            </a:r>
            <a:r>
              <a:rPr lang="en-US" dirty="0" err="1"/>
              <a:t>printf</a:t>
            </a:r>
            <a:r>
              <a:rPr lang="en-US" dirty="0"/>
              <a:t>("Hello, World!“);</a:t>
            </a:r>
          </a:p>
          <a:p>
            <a:r>
              <a:rPr lang="en-US" dirty="0"/>
              <a:t>    return 0;</a:t>
            </a:r>
          </a:p>
          <a:p>
            <a:r>
              <a:rPr lang="en-US" dirty="0"/>
              <a:t>}</a:t>
            </a:r>
          </a:p>
          <a:p>
            <a:endParaRPr lang="en-US" dirty="0"/>
          </a:p>
          <a:p>
            <a:r>
              <a:rPr lang="en-US" dirty="0"/>
              <a:t># print(</a:t>
            </a:r>
            <a:r>
              <a:rPr lang="en-US" dirty="0" err="1"/>
              <a:t>current_price</a:t>
            </a:r>
            <a:r>
              <a:rPr lang="en-US" dirty="0"/>
              <a:t>)  # can't access local variable </a:t>
            </a:r>
            <a:r>
              <a:rPr lang="en-US" dirty="0" err="1"/>
              <a:t>current_price</a:t>
            </a:r>
            <a:r>
              <a:rPr lang="en-US" dirty="0"/>
              <a:t>, out of scope, if we add the statement outside of </a:t>
            </a:r>
            <a:r>
              <a:rPr lang="en-US"/>
              <a:t>the function def</a:t>
            </a:r>
            <a:endParaRPr lang="en-US" dirty="0"/>
          </a:p>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24</a:t>
            </a:fld>
            <a:endParaRPr lang="en-US"/>
          </a:p>
        </p:txBody>
      </p:sp>
    </p:spTree>
    <p:extLst>
      <p:ext uri="{BB962C8B-B14F-4D97-AF65-F5344CB8AC3E}">
        <p14:creationId xmlns:p14="http://schemas.microsoft.com/office/powerpoint/2010/main" val="3857802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9/17/2026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F9090E-B393-B65A-FB99-54955B954FA9}"/>
              </a:ext>
            </a:extLst>
          </p:cNvPr>
          <p:cNvSpPr>
            <a:spLocks noGrp="1"/>
          </p:cNvSpPr>
          <p:nvPr>
            <p:ph type="ctrTitle"/>
          </p:nvPr>
        </p:nvSpPr>
        <p:spPr>
          <a:xfrm>
            <a:off x="804672" y="5116529"/>
            <a:ext cx="10592174" cy="1000655"/>
          </a:xfrm>
        </p:spPr>
        <p:txBody>
          <a:bodyPr anchor="t">
            <a:normAutofit fontScale="90000"/>
          </a:bodyPr>
          <a:lstStyle/>
          <a:p>
            <a:pPr algn="l"/>
            <a:r>
              <a:rPr lang="en-US" sz="4000" dirty="0">
                <a:solidFill>
                  <a:schemeClr val="tx2"/>
                </a:solidFill>
              </a:rPr>
              <a:t>Data Analytics Using Python</a:t>
            </a:r>
            <a:br>
              <a:rPr lang="en-US" sz="4000" dirty="0">
                <a:solidFill>
                  <a:schemeClr val="tx2"/>
                </a:solidFill>
              </a:rPr>
            </a:br>
            <a:r>
              <a:rPr lang="en-US" sz="4000" dirty="0">
                <a:solidFill>
                  <a:schemeClr val="tx2"/>
                </a:solidFill>
              </a:rPr>
              <a:t>Dr. Ziping Liu</a:t>
            </a:r>
            <a:br>
              <a:rPr lang="en-US" sz="4000" dirty="0">
                <a:solidFill>
                  <a:schemeClr val="tx2"/>
                </a:solidFill>
              </a:rPr>
            </a:br>
            <a:br>
              <a:rPr lang="en-US" sz="4000" dirty="0">
                <a:solidFill>
                  <a:schemeClr val="tx2"/>
                </a:solidFill>
              </a:rPr>
            </a:br>
            <a:endParaRPr lang="en-US" sz="4000" dirty="0">
              <a:solidFill>
                <a:schemeClr val="tx2"/>
              </a:solidFill>
            </a:endParaRPr>
          </a:p>
        </p:txBody>
      </p:sp>
      <p:pic>
        <p:nvPicPr>
          <p:cNvPr id="5" name="Picture 4" descr="Data Analytics Using Python Book  Chapter 1 Cover">
            <a:extLst>
              <a:ext uri="{FF2B5EF4-FFF2-40B4-BE49-F238E27FC236}">
                <a16:creationId xmlns:a16="http://schemas.microsoft.com/office/drawing/2014/main" id="{D48AF3EB-4A00-F339-DB94-667C1265C9B4}"/>
              </a:ext>
            </a:extLst>
          </p:cNvPr>
          <p:cNvPicPr>
            <a:picLocks noChangeAspect="1"/>
          </p:cNvPicPr>
          <p:nvPr/>
        </p:nvPicPr>
        <p:blipFill>
          <a:blip r:embed="rId2"/>
          <a:srcRect l="6655" r="18623" b="1"/>
          <a:stretch/>
        </p:blipFill>
        <p:spPr>
          <a:xfrm>
            <a:off x="-1" y="10"/>
            <a:ext cx="12192001" cy="4201449"/>
          </a:xfrm>
          <a:prstGeom prst="rect">
            <a:avLst/>
          </a:prstGeom>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D050330C-0FBB-F582-ADD0-61D00E5ADFE1}"/>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 Python Programming Language Review</a:t>
            </a:r>
          </a:p>
        </p:txBody>
      </p:sp>
    </p:spTree>
    <p:extLst>
      <p:ext uri="{BB962C8B-B14F-4D97-AF65-F5344CB8AC3E}">
        <p14:creationId xmlns:p14="http://schemas.microsoft.com/office/powerpoint/2010/main" val="4278189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896033-8AA5-2885-8A12-AA5F29FF691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FD6E889-BC24-B96F-CBEB-0FF9A00504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F6B718-1201-FCCB-494C-7FB84EDFD193}"/>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https://he.kendallhunt.com/product/data-analytics-using-python</a:t>
            </a:r>
            <a:br>
              <a:rPr lang="en-US" sz="4000" dirty="0">
                <a:solidFill>
                  <a:schemeClr val="tx2"/>
                </a:solidFill>
              </a:rPr>
            </a:br>
            <a:br>
              <a:rPr lang="en-US" sz="4000" dirty="0">
                <a:solidFill>
                  <a:schemeClr val="tx2"/>
                </a:solidFill>
              </a:rPr>
            </a:br>
            <a:endParaRPr lang="en-US" sz="4000" dirty="0">
              <a:solidFill>
                <a:schemeClr val="tx2"/>
              </a:solidFill>
            </a:endParaRPr>
          </a:p>
        </p:txBody>
      </p:sp>
      <p:pic>
        <p:nvPicPr>
          <p:cNvPr id="5" name="Picture 4" descr="Data Analytics Using Python Book  Chapter 1 Cover">
            <a:extLst>
              <a:ext uri="{FF2B5EF4-FFF2-40B4-BE49-F238E27FC236}">
                <a16:creationId xmlns:a16="http://schemas.microsoft.com/office/drawing/2014/main" id="{99CEFE79-0253-2A0F-CD3A-67C36ADD509C}"/>
              </a:ext>
            </a:extLst>
          </p:cNvPr>
          <p:cNvPicPr>
            <a:picLocks noChangeAspect="1"/>
          </p:cNvPicPr>
          <p:nvPr/>
        </p:nvPicPr>
        <p:blipFill>
          <a:blip r:embed="rId2"/>
          <a:srcRect l="6655" r="18623" b="1"/>
          <a:stretch/>
        </p:blipFill>
        <p:spPr>
          <a:xfrm>
            <a:off x="-1" y="10"/>
            <a:ext cx="12192001" cy="4201449"/>
          </a:xfrm>
          <a:prstGeom prst="rect">
            <a:avLst/>
          </a:prstGeom>
        </p:spPr>
      </p:pic>
      <p:grpSp>
        <p:nvGrpSpPr>
          <p:cNvPr id="12" name="Group 11">
            <a:extLst>
              <a:ext uri="{FF2B5EF4-FFF2-40B4-BE49-F238E27FC236}">
                <a16:creationId xmlns:a16="http://schemas.microsoft.com/office/drawing/2014/main" id="{D57B2523-2541-5764-EC90-36C9143582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3" name="Freeform: Shape 12">
              <a:extLst>
                <a:ext uri="{FF2B5EF4-FFF2-40B4-BE49-F238E27FC236}">
                  <a16:creationId xmlns:a16="http://schemas.microsoft.com/office/drawing/2014/main" id="{1626F7A4-AF97-5721-2FBC-DC51ABD187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76D616C4-3EB8-83C3-D5EA-EDD6D5326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3FBEF02-829B-F27F-5075-FE4FE4687D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DE05A24-3CB0-52C9-F1CC-88A683B9F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CDE45157-24D2-0435-DA0B-8028D52FCCE5}"/>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 Python Programming Language Review</a:t>
            </a:r>
          </a:p>
        </p:txBody>
      </p:sp>
    </p:spTree>
    <p:extLst>
      <p:ext uri="{BB962C8B-B14F-4D97-AF65-F5344CB8AC3E}">
        <p14:creationId xmlns:p14="http://schemas.microsoft.com/office/powerpoint/2010/main" val="3378340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Python Advantages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stretch>
            <a:fillRect/>
          </a:stretch>
        </p:blipFill>
        <p:spPr>
          <a:xfrm>
            <a:off x="838200" y="5891173"/>
            <a:ext cx="10515600"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86969205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descr="The four advantages from Python: Simplicity, rich ecosystem of libraries, large open-source community and scalability">
            <a:extLst>
              <a:ext uri="{FF2B5EF4-FFF2-40B4-BE49-F238E27FC236}">
                <a16:creationId xmlns:a16="http://schemas.microsoft.com/office/drawing/2014/main" id="{73B51906-99F1-4B60-56D1-905E24A71BB9}"/>
              </a:ext>
            </a:extLst>
          </p:cNvPr>
          <p:cNvPicPr>
            <a:picLocks noChangeAspect="1"/>
          </p:cNvPicPr>
          <p:nvPr/>
        </p:nvPicPr>
        <p:blipFill>
          <a:blip r:embed="rId9"/>
          <a:stretch>
            <a:fillRect/>
          </a:stretch>
        </p:blipFill>
        <p:spPr>
          <a:xfrm>
            <a:off x="5117100" y="1366201"/>
            <a:ext cx="6865491" cy="4216400"/>
          </a:xfrm>
          <a:prstGeom prst="rect">
            <a:avLst/>
          </a:prstGeom>
        </p:spPr>
      </p:pic>
      <p:sp>
        <p:nvSpPr>
          <p:cNvPr id="12" name="TextBox 11">
            <a:extLst>
              <a:ext uri="{FF2B5EF4-FFF2-40B4-BE49-F238E27FC236}">
                <a16:creationId xmlns:a16="http://schemas.microsoft.com/office/drawing/2014/main" id="{8558A932-A150-AAEB-AF28-D9156CC23D7C}"/>
              </a:ext>
            </a:extLst>
          </p:cNvPr>
          <p:cNvSpPr txBox="1"/>
          <p:nvPr/>
        </p:nvSpPr>
        <p:spPr>
          <a:xfrm>
            <a:off x="906162" y="1622855"/>
            <a:ext cx="5115697" cy="3693319"/>
          </a:xfrm>
          <a:prstGeom prst="rect">
            <a:avLst/>
          </a:prstGeom>
          <a:noFill/>
        </p:spPr>
        <p:txBody>
          <a:bodyPr wrap="square" rtlCol="0">
            <a:spAutoFit/>
          </a:bodyPr>
          <a:lstStyle/>
          <a:p>
            <a:pPr marL="285750" indent="-285750">
              <a:buFontTx/>
              <a:buChar char="-"/>
            </a:pPr>
            <a:r>
              <a:rPr lang="en-US" dirty="0"/>
              <a:t>Popular programming language data science and artificial intelligence</a:t>
            </a:r>
          </a:p>
          <a:p>
            <a:pPr marL="285750" indent="-285750">
              <a:buFontTx/>
              <a:buChar char="-"/>
            </a:pPr>
            <a:r>
              <a:rPr lang="en-US" dirty="0"/>
              <a:t>offers the advantages of simplicity, a rich ecosystem of libraries, a large open-source community, and scalability</a:t>
            </a:r>
          </a:p>
          <a:p>
            <a:pPr marL="285750" indent="-285750">
              <a:buFontTx/>
              <a:buChar char="-"/>
            </a:pPr>
            <a:r>
              <a:rPr lang="en-US" dirty="0"/>
              <a:t>Unlike compiled languages such as C++,Java</a:t>
            </a:r>
          </a:p>
          <a:p>
            <a:pPr marL="285750" indent="-285750">
              <a:buFontTx/>
              <a:buChar char="-"/>
            </a:pPr>
            <a:r>
              <a:rPr lang="en-US" dirty="0"/>
              <a:t>is an interpreted language, doesn't need to be translated into machine code before running. code executed line by line by an interpreter at runtime </a:t>
            </a:r>
          </a:p>
          <a:p>
            <a:pPr marL="285750" indent="-285750">
              <a:buFontTx/>
              <a:buChar char="-"/>
            </a:pPr>
            <a:r>
              <a:rPr lang="en-US" dirty="0"/>
              <a:t>has characteristics of a scripting language, being easy to learn and code, suitable for automating tasks and building prototypes. </a:t>
            </a:r>
          </a:p>
        </p:txBody>
      </p:sp>
    </p:spTree>
    <p:extLst>
      <p:ext uri="{BB962C8B-B14F-4D97-AF65-F5344CB8AC3E}">
        <p14:creationId xmlns:p14="http://schemas.microsoft.com/office/powerpoint/2010/main" val="2717311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A379-4975-80DB-8A99-0A8C6BBC9CFD}"/>
              </a:ext>
            </a:extLst>
          </p:cNvPr>
          <p:cNvSpPr>
            <a:spLocks noGrp="1"/>
          </p:cNvSpPr>
          <p:nvPr>
            <p:ph type="title"/>
          </p:nvPr>
        </p:nvSpPr>
        <p:spPr/>
        <p:txBody>
          <a:bodyPr/>
          <a:lstStyle/>
          <a:p>
            <a:r>
              <a:rPr lang="en-US" dirty="0"/>
              <a:t>Getting Started with Python</a:t>
            </a:r>
          </a:p>
        </p:txBody>
      </p:sp>
      <p:sp>
        <p:nvSpPr>
          <p:cNvPr id="3" name="Content Placeholder 2">
            <a:extLst>
              <a:ext uri="{FF2B5EF4-FFF2-40B4-BE49-F238E27FC236}">
                <a16:creationId xmlns:a16="http://schemas.microsoft.com/office/drawing/2014/main" id="{45BADCC9-9A6A-D1F9-2528-5D4ED8E98C23}"/>
              </a:ext>
            </a:extLst>
          </p:cNvPr>
          <p:cNvSpPr>
            <a:spLocks noGrp="1"/>
          </p:cNvSpPr>
          <p:nvPr>
            <p:ph idx="1"/>
          </p:nvPr>
        </p:nvSpPr>
        <p:spPr/>
        <p:txBody>
          <a:bodyPr>
            <a:normAutofit/>
          </a:bodyPr>
          <a:lstStyle/>
          <a:p>
            <a:r>
              <a:rPr lang="en-US" dirty="0"/>
              <a:t>Installation</a:t>
            </a:r>
          </a:p>
          <a:p>
            <a:pPr lvl="1">
              <a:buFont typeface="Wingdings" panose="05000000000000000000" pitchFamily="2" charset="2"/>
              <a:buChar char="§"/>
            </a:pPr>
            <a:r>
              <a:rPr lang="en-US" sz="2000" dirty="0"/>
              <a:t>Install Python </a:t>
            </a:r>
          </a:p>
          <a:p>
            <a:pPr lvl="1">
              <a:buFont typeface="Wingdings" panose="05000000000000000000" pitchFamily="2" charset="2"/>
              <a:buChar char="§"/>
            </a:pPr>
            <a:r>
              <a:rPr lang="en-US" sz="2000" dirty="0"/>
              <a:t>Install Anaconda</a:t>
            </a:r>
          </a:p>
          <a:p>
            <a:r>
              <a:rPr lang="en-US" dirty="0"/>
              <a:t>Integrated development environments (IDEs)</a:t>
            </a:r>
          </a:p>
          <a:p>
            <a:pPr lvl="1">
              <a:buFont typeface="Wingdings" panose="05000000000000000000" pitchFamily="2" charset="2"/>
              <a:buChar char="§"/>
            </a:pPr>
            <a:r>
              <a:rPr lang="en-US" sz="2000" dirty="0"/>
              <a:t>PyCharm: A Python IDE for data science and web development. </a:t>
            </a:r>
          </a:p>
          <a:p>
            <a:pPr lvl="1">
              <a:buFont typeface="Wingdings" panose="05000000000000000000" pitchFamily="2" charset="2"/>
              <a:buChar char="§"/>
            </a:pPr>
            <a:r>
              <a:rPr lang="en-US" sz="2000" dirty="0"/>
              <a:t>Visual Studio Code: A code editor developed by Microsoft for every major programming language. </a:t>
            </a:r>
          </a:p>
          <a:p>
            <a:pPr lvl="1">
              <a:buFont typeface="Wingdings" panose="05000000000000000000" pitchFamily="2" charset="2"/>
              <a:buChar char="§"/>
            </a:pPr>
            <a:r>
              <a:rPr lang="en-US" sz="2000" dirty="0"/>
              <a:t>Spyder: A free and open-source scientific environment written in Python, for Python. </a:t>
            </a:r>
          </a:p>
          <a:p>
            <a:pPr lvl="1">
              <a:buFont typeface="Wingdings" panose="05000000000000000000" pitchFamily="2" charset="2"/>
              <a:buChar char="§"/>
            </a:pPr>
            <a:r>
              <a:rPr lang="en-US" sz="2000" dirty="0" err="1">
                <a:highlight>
                  <a:srgbClr val="FFFF00"/>
                </a:highlight>
              </a:rPr>
              <a:t>Jupyter</a:t>
            </a:r>
            <a:r>
              <a:rPr lang="en-US" sz="2000" dirty="0">
                <a:highlight>
                  <a:srgbClr val="FFFF00"/>
                </a:highlight>
              </a:rPr>
              <a:t> Notebook</a:t>
            </a:r>
            <a:r>
              <a:rPr lang="en-US" sz="2000" dirty="0"/>
              <a:t>: A web application for creating and sharing computational documents. </a:t>
            </a:r>
          </a:p>
          <a:p>
            <a:r>
              <a:rPr lang="en-US" dirty="0">
                <a:highlight>
                  <a:srgbClr val="FFFF00"/>
                </a:highlight>
              </a:rPr>
              <a:t>Google </a:t>
            </a:r>
            <a:r>
              <a:rPr lang="en-US" dirty="0" err="1">
                <a:highlight>
                  <a:srgbClr val="FFFF00"/>
                </a:highlight>
              </a:rPr>
              <a:t>Colab</a:t>
            </a:r>
            <a:r>
              <a:rPr lang="en-US" dirty="0"/>
              <a:t>: web-based, no need to install Python and </a:t>
            </a:r>
            <a:r>
              <a:rPr lang="en-US" dirty="0" err="1"/>
              <a:t>Jupyter</a:t>
            </a:r>
            <a:r>
              <a:rPr lang="en-US" dirty="0"/>
              <a:t> Notebook locally</a:t>
            </a:r>
          </a:p>
          <a:p>
            <a:pPr lvl="1"/>
            <a:endParaRPr lang="en-US" dirty="0"/>
          </a:p>
        </p:txBody>
      </p:sp>
      <p:pic>
        <p:nvPicPr>
          <p:cNvPr id="4" name="Picture 3">
            <a:extLst>
              <a:ext uri="{FF2B5EF4-FFF2-40B4-BE49-F238E27FC236}">
                <a16:creationId xmlns:a16="http://schemas.microsoft.com/office/drawing/2014/main" id="{A1D4AA88-5BCC-84A9-7F2A-E7FED0281513}"/>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2316115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F10ED-AECE-10BB-48CC-88F36A13F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3B884-72D2-4A32-C106-AEE33BE91062}"/>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E0FC9401-4FED-2721-C525-3D5076DEB0E2}"/>
              </a:ext>
            </a:extLst>
          </p:cNvPr>
          <p:cNvSpPr>
            <a:spLocks noGrp="1"/>
          </p:cNvSpPr>
          <p:nvPr>
            <p:ph idx="1"/>
          </p:nvPr>
        </p:nvSpPr>
        <p:spPr>
          <a:xfrm>
            <a:off x="772298" y="1438447"/>
            <a:ext cx="10515600" cy="4351338"/>
          </a:xfrm>
        </p:spPr>
        <p:txBody>
          <a:bodyPr>
            <a:normAutofit/>
          </a:bodyPr>
          <a:lstStyle/>
          <a:p>
            <a:r>
              <a:rPr lang="en-US" dirty="0"/>
              <a:t>Variables and Data Types </a:t>
            </a:r>
          </a:p>
          <a:p>
            <a:pPr lvl="1">
              <a:buFont typeface="Wingdings" panose="05000000000000000000" pitchFamily="2" charset="2"/>
              <a:buChar char="§"/>
            </a:pPr>
            <a:r>
              <a:rPr lang="en-US" dirty="0"/>
              <a:t>Variables are used to store data. </a:t>
            </a:r>
          </a:p>
          <a:p>
            <a:pPr lvl="1">
              <a:buFont typeface="Wingdings" panose="05000000000000000000" pitchFamily="2" charset="2"/>
              <a:buChar char="§"/>
            </a:pPr>
            <a:r>
              <a:rPr lang="en-US" dirty="0"/>
              <a:t>Python variables are not explicitly typed. </a:t>
            </a:r>
          </a:p>
          <a:p>
            <a:pPr lvl="1">
              <a:buFont typeface="Wingdings" panose="05000000000000000000" pitchFamily="2" charset="2"/>
              <a:buChar char="§"/>
            </a:pPr>
            <a:r>
              <a:rPr lang="en-US" dirty="0"/>
              <a:t>Python data types are associated with the objects that the variables reference</a:t>
            </a:r>
          </a:p>
          <a:p>
            <a:pPr lvl="1">
              <a:buFont typeface="Wingdings" panose="05000000000000000000" pitchFamily="2" charset="2"/>
              <a:buChar char="§"/>
            </a:pPr>
            <a:endParaRPr lang="en-US" dirty="0"/>
          </a:p>
        </p:txBody>
      </p:sp>
      <p:pic>
        <p:nvPicPr>
          <p:cNvPr id="4" name="Picture 3">
            <a:extLst>
              <a:ext uri="{FF2B5EF4-FFF2-40B4-BE49-F238E27FC236}">
                <a16:creationId xmlns:a16="http://schemas.microsoft.com/office/drawing/2014/main" id="{4994B07C-A60A-F75D-7AE4-76C207BB729F}"/>
              </a:ext>
            </a:extLst>
          </p:cNvPr>
          <p:cNvPicPr>
            <a:picLocks noChangeAspect="1"/>
          </p:cNvPicPr>
          <p:nvPr/>
        </p:nvPicPr>
        <p:blipFill>
          <a:blip r:embed="rId3"/>
          <a:stretch>
            <a:fillRect/>
          </a:stretch>
        </p:blipFill>
        <p:spPr>
          <a:xfrm>
            <a:off x="837744" y="6028411"/>
            <a:ext cx="10516511" cy="566977"/>
          </a:xfrm>
          <a:prstGeom prst="rect">
            <a:avLst/>
          </a:prstGeom>
        </p:spPr>
      </p:pic>
      <p:pic>
        <p:nvPicPr>
          <p:cNvPr id="5" name="Picture 4" descr="Python objects include: number, string, data structure, function, class, module, etc">
            <a:extLst>
              <a:ext uri="{FF2B5EF4-FFF2-40B4-BE49-F238E27FC236}">
                <a16:creationId xmlns:a16="http://schemas.microsoft.com/office/drawing/2014/main" id="{D0557BA6-6BFC-94BF-530F-829D02F0532D}"/>
              </a:ext>
            </a:extLst>
          </p:cNvPr>
          <p:cNvPicPr>
            <a:picLocks noChangeAspect="1"/>
          </p:cNvPicPr>
          <p:nvPr/>
        </p:nvPicPr>
        <p:blipFill>
          <a:blip r:embed="rId4"/>
          <a:stretch>
            <a:fillRect/>
          </a:stretch>
        </p:blipFill>
        <p:spPr>
          <a:xfrm>
            <a:off x="2796166" y="3230028"/>
            <a:ext cx="5375769" cy="1107112"/>
          </a:xfrm>
          <a:prstGeom prst="rect">
            <a:avLst/>
          </a:prstGeom>
        </p:spPr>
      </p:pic>
      <p:pic>
        <p:nvPicPr>
          <p:cNvPr id="6" name="Picture 5" descr="Data types include: integer, float, string, list, tuple, dictionary, etc">
            <a:extLst>
              <a:ext uri="{FF2B5EF4-FFF2-40B4-BE49-F238E27FC236}">
                <a16:creationId xmlns:a16="http://schemas.microsoft.com/office/drawing/2014/main" id="{C93E234F-92B4-D7E8-9428-DD3802781D80}"/>
              </a:ext>
            </a:extLst>
          </p:cNvPr>
          <p:cNvPicPr>
            <a:picLocks noChangeAspect="1"/>
          </p:cNvPicPr>
          <p:nvPr/>
        </p:nvPicPr>
        <p:blipFill>
          <a:blip r:embed="rId5"/>
          <a:stretch>
            <a:fillRect/>
          </a:stretch>
        </p:blipFill>
        <p:spPr>
          <a:xfrm>
            <a:off x="2796166" y="4472099"/>
            <a:ext cx="5742930" cy="1182727"/>
          </a:xfrm>
          <a:prstGeom prst="rect">
            <a:avLst/>
          </a:prstGeom>
        </p:spPr>
      </p:pic>
    </p:spTree>
    <p:extLst>
      <p:ext uri="{BB962C8B-B14F-4D97-AF65-F5344CB8AC3E}">
        <p14:creationId xmlns:p14="http://schemas.microsoft.com/office/powerpoint/2010/main" val="1585707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75E08-25F9-D8B4-9368-84CA3256A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34F05-E38B-9AFD-A5F0-F9BF88CF5947}"/>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19D8CA83-14C4-7633-7D08-567F7ACCB420}"/>
              </a:ext>
            </a:extLst>
          </p:cNvPr>
          <p:cNvSpPr>
            <a:spLocks noGrp="1"/>
          </p:cNvSpPr>
          <p:nvPr>
            <p:ph idx="1"/>
          </p:nvPr>
        </p:nvSpPr>
        <p:spPr>
          <a:xfrm>
            <a:off x="772298" y="1438447"/>
            <a:ext cx="10515600" cy="4351338"/>
          </a:xfrm>
        </p:spPr>
        <p:txBody>
          <a:bodyPr>
            <a:normAutofit/>
          </a:bodyPr>
          <a:lstStyle/>
          <a:p>
            <a:r>
              <a:rPr lang="en-US" dirty="0"/>
              <a:t>Python numbers </a:t>
            </a:r>
          </a:p>
          <a:p>
            <a:pPr lvl="1">
              <a:buFont typeface="Wingdings" panose="05000000000000000000" pitchFamily="2" charset="2"/>
              <a:buChar char="§"/>
            </a:pPr>
            <a:r>
              <a:rPr lang="en-US" dirty="0"/>
              <a:t>include integers and floats</a:t>
            </a:r>
          </a:p>
          <a:p>
            <a:pPr lvl="1">
              <a:buFont typeface="Wingdings" panose="05000000000000000000" pitchFamily="2" charset="2"/>
              <a:buChar char="§"/>
            </a:pPr>
            <a:r>
              <a:rPr lang="en-US" dirty="0"/>
              <a:t>Integers: whole numbers without decimal points</a:t>
            </a:r>
          </a:p>
          <a:p>
            <a:pPr lvl="1">
              <a:buFont typeface="Wingdings" panose="05000000000000000000" pitchFamily="2" charset="2"/>
              <a:buChar char="§"/>
            </a:pPr>
            <a:r>
              <a:rPr lang="en-US" dirty="0"/>
              <a:t>Floats: numbers with decimal points</a:t>
            </a:r>
          </a:p>
          <a:p>
            <a:endParaRPr lang="en-US" dirty="0"/>
          </a:p>
          <a:p>
            <a:endParaRPr lang="en-US" dirty="0"/>
          </a:p>
          <a:p>
            <a:pPr marL="228600" lvl="1" indent="0">
              <a:lnSpc>
                <a:spcPct val="115000"/>
              </a:lnSpc>
              <a:spcAft>
                <a:spcPts val="800"/>
              </a:spcAft>
              <a:buNone/>
            </a:pPr>
            <a:r>
              <a:rPr lang="en-US" sz="1400" kern="100" dirty="0">
                <a:latin typeface="Aptos" panose="020B0004020202020204" pitchFamily="34" charset="0"/>
                <a:ea typeface="DengXian" panose="02010600030101010101" pitchFamily="2" charset="-122"/>
                <a:cs typeface="Times New Roman" panose="02020603050405020304" pitchFamily="18" charset="0"/>
              </a:rPr>
              <a:t>        </a:t>
            </a:r>
            <a:r>
              <a:rPr lang="en-US" sz="1400" kern="100" dirty="0">
                <a:effectLst/>
                <a:latin typeface="Aptos" panose="020B0004020202020204" pitchFamily="34" charset="0"/>
                <a:ea typeface="DengXian" panose="02010600030101010101" pitchFamily="2" charset="-122"/>
                <a:cs typeface="Times New Roman" panose="02020603050405020304" pitchFamily="18" charset="0"/>
              </a:rPr>
              <a:t> the running result is: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int_var</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 10,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float_var</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 10.00</a:t>
            </a: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327724AD-B096-2673-2722-8E6DCC9A388C}"/>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9" name="Text Box 2">
            <a:extLst>
              <a:ext uri="{FF2B5EF4-FFF2-40B4-BE49-F238E27FC236}">
                <a16:creationId xmlns:a16="http://schemas.microsoft.com/office/drawing/2014/main" id="{56BA1508-3900-CC88-561B-DC665B85DE4A}"/>
              </a:ext>
            </a:extLst>
          </p:cNvPr>
          <p:cNvSpPr txBox="1">
            <a:spLocks noChangeArrowheads="1"/>
          </p:cNvSpPr>
          <p:nvPr/>
        </p:nvSpPr>
        <p:spPr bwMode="auto">
          <a:xfrm>
            <a:off x="1310845" y="3109999"/>
            <a:ext cx="8796981" cy="830997"/>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int_var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10</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float_var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9.99999</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f"int_var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int_var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float_var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{float_var:.2f}")</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87072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44ABA-2536-452A-B8CF-6BB831094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9F56A-BFFE-8DC6-2BB1-ABF08C84CB29}"/>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0BE025DE-FAF2-C02C-5225-C4803A071D21}"/>
              </a:ext>
            </a:extLst>
          </p:cNvPr>
          <p:cNvSpPr>
            <a:spLocks noGrp="1"/>
          </p:cNvSpPr>
          <p:nvPr>
            <p:ph idx="1"/>
          </p:nvPr>
        </p:nvSpPr>
        <p:spPr>
          <a:xfrm>
            <a:off x="772298" y="1438447"/>
            <a:ext cx="10515600" cy="4351338"/>
          </a:xfrm>
        </p:spPr>
        <p:txBody>
          <a:bodyPr>
            <a:normAutofit fontScale="92500" lnSpcReduction="20000"/>
          </a:bodyPr>
          <a:lstStyle/>
          <a:p>
            <a:r>
              <a:rPr lang="en-US" dirty="0"/>
              <a:t>Python Strings </a:t>
            </a:r>
          </a:p>
          <a:p>
            <a:pPr lvl="1">
              <a:buFont typeface="Wingdings" panose="05000000000000000000" pitchFamily="2" charset="2"/>
              <a:buChar char="§"/>
            </a:pPr>
            <a:r>
              <a:rPr lang="en-US" dirty="0"/>
              <a:t>textual data enclosed in single, double, or triple quotes</a:t>
            </a:r>
          </a:p>
          <a:p>
            <a:pPr lvl="1">
              <a:buFont typeface="Wingdings" panose="05000000000000000000" pitchFamily="2" charset="2"/>
              <a:buChar char="§"/>
            </a:pPr>
            <a:r>
              <a:rPr lang="en-US" dirty="0"/>
              <a:t>triple quotes allowing for multi-line strings or docstrings</a:t>
            </a:r>
          </a:p>
          <a:p>
            <a:endParaRPr lang="en-US" dirty="0"/>
          </a:p>
          <a:p>
            <a:endParaRPr lang="en-US" dirty="0"/>
          </a:p>
          <a:p>
            <a:endParaRPr lang="en-US" dirty="0"/>
          </a:p>
          <a:p>
            <a:endParaRPr lang="en-US" dirty="0"/>
          </a:p>
          <a:p>
            <a:pPr marL="457200" lvl="1" indent="0">
              <a:buNone/>
            </a:pPr>
            <a:endParaRPr lang="en-US" dirty="0"/>
          </a:p>
          <a:p>
            <a:pPr marL="457200" lvl="1" indent="0">
              <a:buNone/>
            </a:pPr>
            <a:r>
              <a:rPr lang="en-US" sz="1600" dirty="0">
                <a:latin typeface="Courier New" panose="02070309020205020404" pitchFamily="49" charset="0"/>
                <a:cs typeface="Courier New" panose="02070309020205020404" pitchFamily="49" charset="0"/>
              </a:rPr>
              <a:t>the running result is:</a:t>
            </a:r>
          </a:p>
          <a:p>
            <a:pPr marL="457200" lvl="1" indent="0">
              <a:buNone/>
            </a:pPr>
            <a:r>
              <a:rPr lang="en-US" sz="1600" dirty="0" err="1">
                <a:latin typeface="Courier New" panose="02070309020205020404" pitchFamily="49" charset="0"/>
                <a:cs typeface="Courier New" panose="02070309020205020404" pitchFamily="49" charset="0"/>
              </a:rPr>
              <a:t>one_quote_var</a:t>
            </a:r>
            <a:r>
              <a:rPr lang="en-US" sz="1600" dirty="0">
                <a:latin typeface="Courier New" panose="02070309020205020404" pitchFamily="49" charset="0"/>
                <a:cs typeface="Courier New" panose="02070309020205020404" pitchFamily="49" charset="0"/>
              </a:rPr>
              <a:t> = hello, world</a:t>
            </a:r>
          </a:p>
          <a:p>
            <a:pPr marL="457200" lvl="1" indent="0">
              <a:buNone/>
            </a:pPr>
            <a:r>
              <a:rPr lang="en-US" sz="1600" dirty="0" err="1">
                <a:latin typeface="Courier New" panose="02070309020205020404" pitchFamily="49" charset="0"/>
                <a:cs typeface="Courier New" panose="02070309020205020404" pitchFamily="49" charset="0"/>
              </a:rPr>
              <a:t>two_quote_var</a:t>
            </a:r>
            <a:r>
              <a:rPr lang="en-US" sz="1600" dirty="0">
                <a:latin typeface="Courier New" panose="02070309020205020404" pitchFamily="49" charset="0"/>
                <a:cs typeface="Courier New" panose="02070309020205020404" pitchFamily="49" charset="0"/>
              </a:rPr>
              <a:t> = hello, world</a:t>
            </a:r>
          </a:p>
          <a:p>
            <a:pPr marL="457200" lvl="1" indent="0">
              <a:buNone/>
            </a:pPr>
            <a:r>
              <a:rPr lang="en-US" sz="1600" dirty="0" err="1">
                <a:latin typeface="Courier New" panose="02070309020205020404" pitchFamily="49" charset="0"/>
                <a:cs typeface="Courier New" panose="02070309020205020404" pitchFamily="49" charset="0"/>
              </a:rPr>
              <a:t>three_quote_var</a:t>
            </a:r>
            <a:r>
              <a:rPr lang="en-US" sz="1600" dirty="0">
                <a:latin typeface="Courier New" panose="02070309020205020404" pitchFamily="49" charset="0"/>
                <a:cs typeface="Courier New" panose="02070309020205020404" pitchFamily="49" charset="0"/>
              </a:rPr>
              <a:t> = hello</a:t>
            </a:r>
          </a:p>
          <a:p>
            <a:pPr marL="457200" lvl="1" indent="0">
              <a:buNone/>
            </a:pPr>
            <a:r>
              <a:rPr lang="en-US" sz="1600" dirty="0">
                <a:latin typeface="Courier New" panose="02070309020205020404" pitchFamily="49" charset="0"/>
                <a:cs typeface="Courier New" panose="02070309020205020404" pitchFamily="49" charset="0"/>
              </a:rPr>
              <a:t>                  world</a:t>
            </a:r>
          </a:p>
          <a:p>
            <a:endParaRPr lang="en-US" dirty="0"/>
          </a:p>
        </p:txBody>
      </p:sp>
      <p:pic>
        <p:nvPicPr>
          <p:cNvPr id="4" name="Picture 3">
            <a:extLst>
              <a:ext uri="{FF2B5EF4-FFF2-40B4-BE49-F238E27FC236}">
                <a16:creationId xmlns:a16="http://schemas.microsoft.com/office/drawing/2014/main" id="{455C7632-3935-B774-7628-5E615F27FCD9}"/>
              </a:ext>
            </a:extLst>
          </p:cNvPr>
          <p:cNvPicPr>
            <a:picLocks noChangeAspect="1"/>
          </p:cNvPicPr>
          <p:nvPr/>
        </p:nvPicPr>
        <p:blipFill>
          <a:blip r:embed="rId3"/>
          <a:stretch>
            <a:fillRect/>
          </a:stretch>
        </p:blipFill>
        <p:spPr>
          <a:xfrm>
            <a:off x="837744" y="6028411"/>
            <a:ext cx="10516511" cy="566977"/>
          </a:xfrm>
          <a:prstGeom prst="rect">
            <a:avLst/>
          </a:prstGeom>
        </p:spPr>
      </p:pic>
      <p:sp>
        <p:nvSpPr>
          <p:cNvPr id="5" name="Text Box 2">
            <a:extLst>
              <a:ext uri="{FF2B5EF4-FFF2-40B4-BE49-F238E27FC236}">
                <a16:creationId xmlns:a16="http://schemas.microsoft.com/office/drawing/2014/main" id="{5C5115B5-3826-81DC-1CBE-FE513C054C47}"/>
              </a:ext>
            </a:extLst>
          </p:cNvPr>
          <p:cNvSpPr txBox="1">
            <a:spLocks noChangeArrowheads="1"/>
          </p:cNvSpPr>
          <p:nvPr/>
        </p:nvSpPr>
        <p:spPr bwMode="auto">
          <a:xfrm>
            <a:off x="1277892" y="2596817"/>
            <a:ext cx="10010006" cy="1569660"/>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one_quote_var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'hello, world'</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two_quote_var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"hello, world"</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three_quote_var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'''hello</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world'''</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f"one_quote_var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one_quote_var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ntwo_quote_var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two_quote_var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nthree_quote_var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three_quote_var</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12657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03884-8345-11B2-82A8-39148C6B1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59A21-0EEA-5EE9-EDF3-CFC93DF9A620}"/>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85D791CE-36D4-4CA5-F5F1-A1F367688B1E}"/>
              </a:ext>
            </a:extLst>
          </p:cNvPr>
          <p:cNvSpPr>
            <a:spLocks noGrp="1"/>
          </p:cNvSpPr>
          <p:nvPr>
            <p:ph idx="1"/>
          </p:nvPr>
        </p:nvSpPr>
        <p:spPr>
          <a:xfrm>
            <a:off x="772298" y="1438447"/>
            <a:ext cx="10515600" cy="4351338"/>
          </a:xfrm>
        </p:spPr>
        <p:txBody>
          <a:bodyPr>
            <a:normAutofit/>
          </a:bodyPr>
          <a:lstStyle/>
          <a:p>
            <a:r>
              <a:rPr lang="en-US" dirty="0"/>
              <a:t>Python objects </a:t>
            </a:r>
          </a:p>
          <a:p>
            <a:pPr lvl="1">
              <a:buFont typeface="Wingdings" panose="05000000000000000000" pitchFamily="2" charset="2"/>
              <a:buChar char="§"/>
            </a:pPr>
            <a:r>
              <a:rPr lang="en-US" dirty="0"/>
              <a:t>include collections of elements, such as Lists, Tuples, Dictionaries and Sets</a:t>
            </a:r>
          </a:p>
          <a:p>
            <a:endParaRPr lang="en-US" dirty="0"/>
          </a:p>
        </p:txBody>
      </p:sp>
      <p:pic>
        <p:nvPicPr>
          <p:cNvPr id="4" name="Picture 3">
            <a:extLst>
              <a:ext uri="{FF2B5EF4-FFF2-40B4-BE49-F238E27FC236}">
                <a16:creationId xmlns:a16="http://schemas.microsoft.com/office/drawing/2014/main" id="{0544D439-44C7-00AB-C8A3-800FA4B952B0}"/>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1892673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70B82-3FB6-6E5C-D6F3-DAA5DBE38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93158-962A-4E17-1C26-3741F39F49B3}"/>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DCFFCE9D-F574-5652-9FCE-3B949A00D412}"/>
              </a:ext>
            </a:extLst>
          </p:cNvPr>
          <p:cNvSpPr>
            <a:spLocks noGrp="1"/>
          </p:cNvSpPr>
          <p:nvPr>
            <p:ph idx="1"/>
          </p:nvPr>
        </p:nvSpPr>
        <p:spPr>
          <a:xfrm>
            <a:off x="772298" y="1438447"/>
            <a:ext cx="10515600" cy="4351338"/>
          </a:xfrm>
        </p:spPr>
        <p:txBody>
          <a:bodyPr>
            <a:normAutofit fontScale="92500" lnSpcReduction="10000"/>
          </a:bodyPr>
          <a:lstStyle/>
          <a:p>
            <a:r>
              <a:rPr lang="en-US" dirty="0"/>
              <a:t>Python Lists </a:t>
            </a:r>
          </a:p>
          <a:p>
            <a:pPr lvl="1">
              <a:buFont typeface="Wingdings" panose="05000000000000000000" pitchFamily="2" charset="2"/>
              <a:buChar char="§"/>
            </a:pPr>
            <a:r>
              <a:rPr lang="en-US" dirty="0"/>
              <a:t>ordered collections of elements  </a:t>
            </a:r>
          </a:p>
          <a:p>
            <a:pPr lvl="1">
              <a:buFont typeface="Wingdings" panose="05000000000000000000" pitchFamily="2" charset="2"/>
              <a:buChar char="§"/>
            </a:pPr>
            <a:r>
              <a:rPr lang="en-US" dirty="0"/>
              <a:t>elements can be any data types</a:t>
            </a:r>
          </a:p>
          <a:p>
            <a:pPr lvl="1">
              <a:buFont typeface="Wingdings" panose="05000000000000000000" pitchFamily="2" charset="2"/>
              <a:buChar char="§"/>
            </a:pPr>
            <a:r>
              <a:rPr lang="en-US" dirty="0"/>
              <a:t>can store heterogeneous collections of data</a:t>
            </a:r>
          </a:p>
          <a:p>
            <a:pPr lvl="1">
              <a:buFont typeface="Wingdings" panose="05000000000000000000" pitchFamily="2" charset="2"/>
              <a:buChar char="§"/>
            </a:pPr>
            <a:r>
              <a:rPr lang="en-US" dirty="0"/>
              <a:t>can be created with brackets, and elements are separated by commas</a:t>
            </a:r>
          </a:p>
          <a:p>
            <a:pPr lvl="1">
              <a:buFont typeface="Wingdings" panose="05000000000000000000" pitchFamily="2" charset="2"/>
              <a:buChar char="§"/>
            </a:pPr>
            <a:r>
              <a:rPr lang="en-US" dirty="0"/>
              <a:t>mutable</a:t>
            </a:r>
          </a:p>
          <a:p>
            <a:endParaRPr lang="en-US" dirty="0"/>
          </a:p>
          <a:p>
            <a:endParaRPr lang="en-US" dirty="0"/>
          </a:p>
          <a:p>
            <a:endParaRPr lang="en-US" dirty="0"/>
          </a:p>
          <a:p>
            <a:r>
              <a:rPr lang="en-US" dirty="0"/>
              <a:t>Exercise: use other approaches to create </a:t>
            </a:r>
            <a:r>
              <a:rPr lang="en-US" dirty="0" err="1"/>
              <a:t>var_list</a:t>
            </a:r>
            <a:r>
              <a:rPr lang="en-US" dirty="0"/>
              <a:t>, update one item in the list, remove one item from the list</a:t>
            </a:r>
          </a:p>
        </p:txBody>
      </p:sp>
      <p:pic>
        <p:nvPicPr>
          <p:cNvPr id="4" name="Picture 3">
            <a:extLst>
              <a:ext uri="{FF2B5EF4-FFF2-40B4-BE49-F238E27FC236}">
                <a16:creationId xmlns:a16="http://schemas.microsoft.com/office/drawing/2014/main" id="{EA4300D3-045D-0AE8-5337-D579D89AE875}"/>
              </a:ext>
            </a:extLst>
          </p:cNvPr>
          <p:cNvPicPr>
            <a:picLocks noChangeAspect="1"/>
          </p:cNvPicPr>
          <p:nvPr/>
        </p:nvPicPr>
        <p:blipFill>
          <a:blip r:embed="rId3"/>
          <a:stretch>
            <a:fillRect/>
          </a:stretch>
        </p:blipFill>
        <p:spPr>
          <a:xfrm>
            <a:off x="837744" y="6028411"/>
            <a:ext cx="10516511" cy="566977"/>
          </a:xfrm>
          <a:prstGeom prst="rect">
            <a:avLst/>
          </a:prstGeom>
        </p:spPr>
      </p:pic>
      <p:sp>
        <p:nvSpPr>
          <p:cNvPr id="6" name="Text Box 2">
            <a:extLst>
              <a:ext uri="{FF2B5EF4-FFF2-40B4-BE49-F238E27FC236}">
                <a16:creationId xmlns:a16="http://schemas.microsoft.com/office/drawing/2014/main" id="{3E6CF648-7B74-3D84-699E-222D04B97DEF}"/>
              </a:ext>
            </a:extLst>
          </p:cNvPr>
          <p:cNvSpPr txBox="1">
            <a:spLocks noChangeArrowheads="1"/>
          </p:cNvSpPr>
          <p:nvPr/>
        </p:nvSpPr>
        <p:spPr bwMode="auto">
          <a:xfrm>
            <a:off x="1327322" y="3549734"/>
            <a:ext cx="6358581" cy="1169551"/>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 [10, "hello", 9.99, True, [1, 2, 3], {"language": "Python"}]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print("before add a new item,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var_list.append</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(['new', 'item'])</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print("after add a new item,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80119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C24CF-759C-5FAD-430E-15FBA1AAD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1603F-B473-240C-A855-471BC67BD550}"/>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87520C20-4871-6CB8-186A-57AAA3077F84}"/>
              </a:ext>
            </a:extLst>
          </p:cNvPr>
          <p:cNvSpPr>
            <a:spLocks noGrp="1"/>
          </p:cNvSpPr>
          <p:nvPr>
            <p:ph idx="1"/>
          </p:nvPr>
        </p:nvSpPr>
        <p:spPr>
          <a:xfrm>
            <a:off x="772298" y="1438447"/>
            <a:ext cx="10515600" cy="4351338"/>
          </a:xfrm>
        </p:spPr>
        <p:txBody>
          <a:bodyPr>
            <a:normAutofit/>
          </a:bodyPr>
          <a:lstStyle/>
          <a:p>
            <a:r>
              <a:rPr lang="en-US" dirty="0"/>
              <a:t>Python tuples</a:t>
            </a:r>
          </a:p>
          <a:p>
            <a:pPr lvl="1">
              <a:buFont typeface="Wingdings" panose="05000000000000000000" pitchFamily="2" charset="2"/>
              <a:buChar char="§"/>
            </a:pPr>
            <a:r>
              <a:rPr lang="en-US" dirty="0"/>
              <a:t>ordered</a:t>
            </a:r>
          </a:p>
          <a:p>
            <a:pPr lvl="1">
              <a:buFont typeface="Wingdings" panose="05000000000000000000" pitchFamily="2" charset="2"/>
              <a:buChar char="§"/>
            </a:pPr>
            <a:r>
              <a:rPr lang="en-US" dirty="0"/>
              <a:t>Immutable: cannot add new items to them or remove existing ones</a:t>
            </a:r>
          </a:p>
          <a:p>
            <a:pPr lvl="1">
              <a:buFont typeface="Wingdings" panose="05000000000000000000" pitchFamily="2" charset="2"/>
              <a:buChar char="§"/>
            </a:pPr>
            <a:r>
              <a:rPr lang="en-US" dirty="0"/>
              <a:t>can store heterogeneous collections of data</a:t>
            </a:r>
          </a:p>
          <a:p>
            <a:pPr lvl="1">
              <a:buFont typeface="Wingdings" panose="05000000000000000000" pitchFamily="2" charset="2"/>
              <a:buChar char="§"/>
            </a:pPr>
            <a:r>
              <a:rPr lang="en-US" dirty="0"/>
              <a:t>can be created with parentheses (), and elements are separated by commas</a:t>
            </a:r>
          </a:p>
          <a:p>
            <a:pPr marL="457200" lvl="1" indent="0">
              <a:buNone/>
            </a:pPr>
            <a:endParaRPr lang="en-US" dirty="0"/>
          </a:p>
          <a:p>
            <a:endParaRPr lang="en-US" dirty="0"/>
          </a:p>
          <a:p>
            <a:r>
              <a:rPr lang="en-US" dirty="0"/>
              <a:t>Exercise: use other approaches to create </a:t>
            </a:r>
            <a:r>
              <a:rPr lang="en-US" dirty="0" err="1"/>
              <a:t>var_tuple</a:t>
            </a:r>
            <a:r>
              <a:rPr lang="en-US" dirty="0"/>
              <a:t>, output one of the items</a:t>
            </a:r>
          </a:p>
        </p:txBody>
      </p:sp>
      <p:pic>
        <p:nvPicPr>
          <p:cNvPr id="4" name="Picture 3">
            <a:extLst>
              <a:ext uri="{FF2B5EF4-FFF2-40B4-BE49-F238E27FC236}">
                <a16:creationId xmlns:a16="http://schemas.microsoft.com/office/drawing/2014/main" id="{6C33B0F4-095C-3473-BCCB-6E0C9CB9895F}"/>
              </a:ext>
            </a:extLst>
          </p:cNvPr>
          <p:cNvPicPr>
            <a:picLocks noChangeAspect="1"/>
          </p:cNvPicPr>
          <p:nvPr/>
        </p:nvPicPr>
        <p:blipFill>
          <a:blip r:embed="rId3"/>
          <a:stretch>
            <a:fillRect/>
          </a:stretch>
        </p:blipFill>
        <p:spPr>
          <a:xfrm>
            <a:off x="837744" y="6028411"/>
            <a:ext cx="10516511" cy="566977"/>
          </a:xfrm>
          <a:prstGeom prst="rect">
            <a:avLst/>
          </a:prstGeom>
        </p:spPr>
      </p:pic>
      <p:sp>
        <p:nvSpPr>
          <p:cNvPr id="5" name="Text Box 2">
            <a:extLst>
              <a:ext uri="{FF2B5EF4-FFF2-40B4-BE49-F238E27FC236}">
                <a16:creationId xmlns:a16="http://schemas.microsoft.com/office/drawing/2014/main" id="{7EC018E3-09A7-1CA1-9907-FFD7C0D9777C}"/>
              </a:ext>
            </a:extLst>
          </p:cNvPr>
          <p:cNvSpPr txBox="1">
            <a:spLocks noChangeArrowheads="1"/>
          </p:cNvSpPr>
          <p:nvPr/>
        </p:nvSpPr>
        <p:spPr bwMode="auto">
          <a:xfrm>
            <a:off x="1325778" y="3913797"/>
            <a:ext cx="9029184" cy="649409"/>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lnSpc>
                <a:spcPct val="115000"/>
              </a:lnSpc>
            </a:pP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var_tuple</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(10, "hello", 9.99, True, [1, 2, 3], {"language": "Python"})</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pP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var_tuple</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var_tuple</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86662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33556-E234-DE6E-A82B-BC743C686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0275E-9F78-F27E-FE69-E8DB5EE0FCAE}"/>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F2454F40-CC27-5C5F-AACC-FE9C34FB705A}"/>
              </a:ext>
            </a:extLst>
          </p:cNvPr>
          <p:cNvSpPr>
            <a:spLocks noGrp="1"/>
          </p:cNvSpPr>
          <p:nvPr>
            <p:ph idx="1"/>
          </p:nvPr>
        </p:nvSpPr>
        <p:spPr>
          <a:xfrm>
            <a:off x="772298" y="1438447"/>
            <a:ext cx="10515600" cy="4351338"/>
          </a:xfrm>
        </p:spPr>
        <p:txBody>
          <a:bodyPr>
            <a:normAutofit fontScale="92500" lnSpcReduction="10000"/>
          </a:bodyPr>
          <a:lstStyle/>
          <a:p>
            <a:r>
              <a:rPr lang="en-US" dirty="0"/>
              <a:t>Python Dictionaries</a:t>
            </a:r>
          </a:p>
          <a:p>
            <a:pPr lvl="1">
              <a:buFont typeface="Wingdings" panose="05000000000000000000" pitchFamily="2" charset="2"/>
              <a:buChar char="§"/>
            </a:pPr>
            <a:r>
              <a:rPr lang="en-US" dirty="0"/>
              <a:t>key-value pairs </a:t>
            </a:r>
          </a:p>
          <a:p>
            <a:pPr lvl="2">
              <a:buFont typeface="Courier New" panose="02070309020205020404" pitchFamily="49" charset="0"/>
              <a:buChar char="o"/>
            </a:pPr>
            <a:r>
              <a:rPr lang="en-US" dirty="0"/>
              <a:t>keys are unique identifiers, immutable and </a:t>
            </a:r>
            <a:r>
              <a:rPr lang="en-US" dirty="0" err="1"/>
              <a:t>hashable</a:t>
            </a:r>
            <a:r>
              <a:rPr lang="en-US" dirty="0"/>
              <a:t> </a:t>
            </a:r>
          </a:p>
          <a:p>
            <a:pPr lvl="2">
              <a:buFont typeface="Courier New" panose="02070309020205020404" pitchFamily="49" charset="0"/>
              <a:buChar char="o"/>
            </a:pPr>
            <a:r>
              <a:rPr lang="en-US" dirty="0"/>
              <a:t>common data types for keys include strings, numbers, or tuples </a:t>
            </a:r>
          </a:p>
          <a:p>
            <a:pPr lvl="2">
              <a:buFont typeface="Courier New" panose="02070309020205020404" pitchFamily="49" charset="0"/>
              <a:buChar char="o"/>
            </a:pPr>
            <a:r>
              <a:rPr lang="en-US" dirty="0"/>
              <a:t>values can be any data type - numbers, strings, lists, dictionaries, or even custom objects </a:t>
            </a:r>
          </a:p>
          <a:p>
            <a:pPr lvl="2">
              <a:buFont typeface="Courier New" panose="02070309020205020404" pitchFamily="49" charset="0"/>
              <a:buChar char="o"/>
            </a:pPr>
            <a:r>
              <a:rPr lang="en-US" dirty="0"/>
              <a:t>values store the actual information associated with the key</a:t>
            </a:r>
          </a:p>
          <a:p>
            <a:pPr lvl="1">
              <a:buFont typeface="Wingdings" panose="05000000000000000000" pitchFamily="2" charset="2"/>
              <a:buChar char="§"/>
            </a:pPr>
            <a:r>
              <a:rPr lang="en-US" dirty="0"/>
              <a:t>do not preserve the order in which elements were added </a:t>
            </a:r>
          </a:p>
          <a:p>
            <a:pPr lvl="1">
              <a:buFont typeface="Wingdings" panose="05000000000000000000" pitchFamily="2" charset="2"/>
              <a:buChar char="§"/>
            </a:pPr>
            <a:r>
              <a:rPr lang="en-US" dirty="0"/>
              <a:t>mutable</a:t>
            </a:r>
          </a:p>
          <a:p>
            <a:pPr lvl="1">
              <a:buFont typeface="Wingdings" panose="05000000000000000000" pitchFamily="2" charset="2"/>
              <a:buChar char="§"/>
            </a:pPr>
            <a:r>
              <a:rPr lang="en-US" dirty="0"/>
              <a:t>can be created with curly braces {}, and elements are separated by commas. Colons : separate the keys from their values </a:t>
            </a:r>
          </a:p>
          <a:p>
            <a:pPr>
              <a:buFont typeface="Wingdings" panose="05000000000000000000" pitchFamily="2" charset="2"/>
              <a:buChar char="§"/>
            </a:pPr>
            <a:r>
              <a:rPr lang="en-US" dirty="0"/>
              <a:t>Exercise: use other approaches to create </a:t>
            </a:r>
            <a:r>
              <a:rPr lang="en-US" dirty="0" err="1"/>
              <a:t>apple_stock</a:t>
            </a:r>
            <a:r>
              <a:rPr lang="en-US" dirty="0"/>
              <a:t>, remove one key-value pair </a:t>
            </a:r>
          </a:p>
          <a:p>
            <a:pPr>
              <a:buFont typeface="Wingdings" panose="05000000000000000000" pitchFamily="2" charset="2"/>
              <a:buChar char="§"/>
            </a:pPr>
            <a:endParaRPr lang="en-US" dirty="0"/>
          </a:p>
        </p:txBody>
      </p:sp>
      <p:pic>
        <p:nvPicPr>
          <p:cNvPr id="4" name="Picture 3">
            <a:extLst>
              <a:ext uri="{FF2B5EF4-FFF2-40B4-BE49-F238E27FC236}">
                <a16:creationId xmlns:a16="http://schemas.microsoft.com/office/drawing/2014/main" id="{32F3830E-E5EF-1ADC-ECC2-9464BB86B70A}"/>
              </a:ext>
            </a:extLst>
          </p:cNvPr>
          <p:cNvPicPr>
            <a:picLocks noChangeAspect="1"/>
          </p:cNvPicPr>
          <p:nvPr/>
        </p:nvPicPr>
        <p:blipFill>
          <a:blip r:embed="rId3"/>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2670673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413A4-EEE6-04B1-0B1A-951BC61DC7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317F2-4F36-BF74-35E7-87217B79995B}"/>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622BB805-A224-0533-E97D-764C940442DA}"/>
              </a:ext>
            </a:extLst>
          </p:cNvPr>
          <p:cNvSpPr>
            <a:spLocks noGrp="1"/>
          </p:cNvSpPr>
          <p:nvPr>
            <p:ph idx="1"/>
          </p:nvPr>
        </p:nvSpPr>
        <p:spPr>
          <a:xfrm>
            <a:off x="772298" y="1438447"/>
            <a:ext cx="10515600" cy="4351338"/>
          </a:xfrm>
        </p:spPr>
        <p:txBody>
          <a:bodyPr>
            <a:normAutofit/>
          </a:bodyPr>
          <a:lstStyle/>
          <a:p>
            <a:r>
              <a:rPr lang="en-US" dirty="0"/>
              <a:t>Python Dictionaries</a:t>
            </a:r>
          </a:p>
          <a:p>
            <a:endParaRPr lang="en-US" dirty="0"/>
          </a:p>
        </p:txBody>
      </p:sp>
      <p:pic>
        <p:nvPicPr>
          <p:cNvPr id="4" name="Picture 3">
            <a:extLst>
              <a:ext uri="{FF2B5EF4-FFF2-40B4-BE49-F238E27FC236}">
                <a16:creationId xmlns:a16="http://schemas.microsoft.com/office/drawing/2014/main" id="{B65275FC-1B9C-6DBA-A1AC-FCD32B8FEC46}"/>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5" name="Text Box 2">
            <a:extLst>
              <a:ext uri="{FF2B5EF4-FFF2-40B4-BE49-F238E27FC236}">
                <a16:creationId xmlns:a16="http://schemas.microsoft.com/office/drawing/2014/main" id="{A55B6A67-0BA6-B7AB-455F-8785CEA56FE6}"/>
              </a:ext>
            </a:extLst>
          </p:cNvPr>
          <p:cNvSpPr txBox="1">
            <a:spLocks noChangeArrowheads="1"/>
          </p:cNvSpPr>
          <p:nvPr/>
        </p:nvSpPr>
        <p:spPr bwMode="auto">
          <a:xfrm>
            <a:off x="1021492" y="1929314"/>
            <a:ext cx="10332308" cy="3816429"/>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define a dictionary for apple stock</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{"symbol": "AAPL", "shares": 100, "price": 150.25,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total_value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15025.00}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Accessing values by key</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ticker =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["symbol"]  </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Modifying a value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["shares"] = 150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Adding a new key-value pair</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["year"] = 2023</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get all keys as a list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print("all keys: ", list(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apple_stock.keys</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get all values as a list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print("all values: ", list(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apple_stock.values</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get all key-value pairs as tuples of list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print("apple stock: ", list(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apple_stock.items</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If the key 'going up' exists in the dictionary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appleStock</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the get() method will return the associated value.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However, if the key doesn't exist, the get() method will return the second argument, which is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NaN</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(Not a Number) in this case.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apple_stock.get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('going up',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NaN</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Unlike get(),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setdefault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modifies the dictionary if the key doesn't exist.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the key 'going down' is missing,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setdefault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will add it to the dictionary with the value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NaN</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apple_stock.setdefault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('going down',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NaN</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print("apple stock: ", list(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apple_stock.items</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10589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300B3-EA4D-2077-B778-94F2CD89A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16F88-F0ED-65CE-AC1D-A3B48B7D99D2}"/>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E401D047-634E-10D3-EC2F-99FDA7192293}"/>
              </a:ext>
            </a:extLst>
          </p:cNvPr>
          <p:cNvSpPr>
            <a:spLocks noGrp="1"/>
          </p:cNvSpPr>
          <p:nvPr>
            <p:ph idx="1"/>
          </p:nvPr>
        </p:nvSpPr>
        <p:spPr>
          <a:xfrm>
            <a:off x="772298" y="1438447"/>
            <a:ext cx="10515600" cy="4351338"/>
          </a:xfrm>
        </p:spPr>
        <p:txBody>
          <a:bodyPr>
            <a:normAutofit lnSpcReduction="10000"/>
          </a:bodyPr>
          <a:lstStyle/>
          <a:p>
            <a:r>
              <a:rPr lang="en-US" dirty="0"/>
              <a:t>Python Sets </a:t>
            </a:r>
          </a:p>
          <a:p>
            <a:pPr lvl="1">
              <a:buFont typeface="Wingdings" panose="05000000000000000000" pitchFamily="2" charset="2"/>
              <a:buChar char="§"/>
            </a:pPr>
            <a:r>
              <a:rPr lang="en-US" dirty="0"/>
              <a:t>unordered collections of unique elements</a:t>
            </a:r>
          </a:p>
          <a:p>
            <a:pPr lvl="2">
              <a:buFont typeface="Courier New" panose="02070309020205020404" pitchFamily="49" charset="0"/>
              <a:buChar char="o"/>
            </a:pPr>
            <a:r>
              <a:rPr lang="en-US" dirty="0"/>
              <a:t>Elements themselves immutable and </a:t>
            </a:r>
            <a:r>
              <a:rPr lang="en-US" dirty="0" err="1"/>
              <a:t>hashable</a:t>
            </a:r>
            <a:endParaRPr lang="en-US" dirty="0"/>
          </a:p>
          <a:p>
            <a:pPr lvl="1">
              <a:buFont typeface="Wingdings" panose="05000000000000000000" pitchFamily="2" charset="2"/>
              <a:buChar char="§"/>
            </a:pPr>
            <a:r>
              <a:rPr lang="en-US" dirty="0"/>
              <a:t>mutable, allow to add or remove elements</a:t>
            </a:r>
          </a:p>
          <a:p>
            <a:pPr lvl="1">
              <a:buFont typeface="Wingdings" panose="05000000000000000000" pitchFamily="2" charset="2"/>
              <a:buChar char="§"/>
            </a:pPr>
            <a:r>
              <a:rPr lang="en-US" dirty="0"/>
              <a:t>can be created with curly braces {}, and elements are separated by commas</a:t>
            </a:r>
          </a:p>
          <a:p>
            <a:endParaRPr lang="en-US" dirty="0"/>
          </a:p>
          <a:p>
            <a:endParaRPr lang="en-US" dirty="0"/>
          </a:p>
          <a:p>
            <a:endParaRPr lang="en-US" dirty="0"/>
          </a:p>
          <a:p>
            <a:r>
              <a:rPr lang="en-US" dirty="0"/>
              <a:t>Exercise: use other approaches to create </a:t>
            </a:r>
            <a:r>
              <a:rPr lang="en-US" dirty="0" err="1"/>
              <a:t>var_set</a:t>
            </a:r>
            <a:r>
              <a:rPr lang="en-US" dirty="0"/>
              <a:t>, update one item in the list, add a new item, remove one item from the set</a:t>
            </a:r>
          </a:p>
        </p:txBody>
      </p:sp>
      <p:pic>
        <p:nvPicPr>
          <p:cNvPr id="4" name="Picture 3">
            <a:extLst>
              <a:ext uri="{FF2B5EF4-FFF2-40B4-BE49-F238E27FC236}">
                <a16:creationId xmlns:a16="http://schemas.microsoft.com/office/drawing/2014/main" id="{A99ACC4F-B9ED-288F-2DBC-5D4E6A2B884E}"/>
              </a:ext>
            </a:extLst>
          </p:cNvPr>
          <p:cNvPicPr>
            <a:picLocks noChangeAspect="1"/>
          </p:cNvPicPr>
          <p:nvPr/>
        </p:nvPicPr>
        <p:blipFill>
          <a:blip r:embed="rId3"/>
          <a:stretch>
            <a:fillRect/>
          </a:stretch>
        </p:blipFill>
        <p:spPr>
          <a:xfrm>
            <a:off x="837744" y="6028411"/>
            <a:ext cx="10516511" cy="566977"/>
          </a:xfrm>
          <a:prstGeom prst="rect">
            <a:avLst/>
          </a:prstGeom>
        </p:spPr>
      </p:pic>
      <p:sp>
        <p:nvSpPr>
          <p:cNvPr id="5" name="Text Box 2">
            <a:extLst>
              <a:ext uri="{FF2B5EF4-FFF2-40B4-BE49-F238E27FC236}">
                <a16:creationId xmlns:a16="http://schemas.microsoft.com/office/drawing/2014/main" id="{40ACB8AC-1DB7-9399-FE2B-BEB70A8E6C5C}"/>
              </a:ext>
            </a:extLst>
          </p:cNvPr>
          <p:cNvSpPr txBox="1">
            <a:spLocks noChangeArrowheads="1"/>
          </p:cNvSpPr>
          <p:nvPr/>
        </p:nvSpPr>
        <p:spPr bwMode="auto">
          <a:xfrm>
            <a:off x="1335561" y="3614118"/>
            <a:ext cx="7660158" cy="1065676"/>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lnSpc>
                <a:spcPct val="115000"/>
              </a:lnSpc>
              <a:spcAft>
                <a:spcPts val="800"/>
              </a:spcAft>
            </a:pP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var_</a:t>
            </a:r>
            <a:r>
              <a:rPr lang="en-US" sz="1600" kern="100" dirty="0" err="1">
                <a:latin typeface="Courier New" panose="02070309020205020404" pitchFamily="49" charset="0"/>
                <a:ea typeface="DengXian" panose="02010600030101010101" pitchFamily="2" charset="-122"/>
                <a:cs typeface="Times New Roman" panose="02020603050405020304" pitchFamily="18" charset="0"/>
              </a:rPr>
              <a:t>set</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600" kern="100" dirty="0">
                <a:latin typeface="Courier New" panose="02070309020205020404" pitchFamily="49" charset="0"/>
                <a:ea typeface="DengXian" panose="02010600030101010101" pitchFamily="2" charset="-122"/>
                <a:cs typeface="Times New Roman" panose="02020603050405020304" pitchFamily="18" charset="0"/>
              </a:rPr>
              <a:t>{</a:t>
            </a:r>
            <a:r>
              <a:rPr lang="nb-NO" sz="1600" kern="100" dirty="0">
                <a:effectLst/>
                <a:latin typeface="Courier New" panose="02070309020205020404" pitchFamily="49" charset="0"/>
                <a:ea typeface="DengXian" panose="02010600030101010101" pitchFamily="2" charset="-122"/>
                <a:cs typeface="Times New Roman" panose="02020603050405020304" pitchFamily="18" charset="0"/>
              </a:rPr>
              <a:t>10, 10, "hello", 9.99, True, (1, 2, 3)</a:t>
            </a:r>
            <a:r>
              <a:rPr lang="en-US" sz="1600" kern="100" dirty="0">
                <a:latin typeface="Courier New" panose="02070309020205020404" pitchFamily="49" charset="0"/>
                <a:ea typeface="DengXian" panose="02010600030101010101" pitchFamily="2" charset="-122"/>
                <a:cs typeface="Times New Roman" panose="02020603050405020304" pitchFamily="18" charset="0"/>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pP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var_set</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var_set</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p>
          <a:p>
            <a:pPr marL="0" marR="0">
              <a:lnSpc>
                <a:spcPct val="115000"/>
              </a:lnSpc>
              <a:spcAft>
                <a:spcPts val="800"/>
              </a:spcAft>
            </a:pP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63521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6ADE5-3A87-08DC-2D95-0BC799037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5676B-64D4-0C5A-2C38-FF4C5AA36521}"/>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6D6C459B-5B15-3B64-B4B2-24239A016A8B}"/>
              </a:ext>
            </a:extLst>
          </p:cNvPr>
          <p:cNvSpPr>
            <a:spLocks noGrp="1"/>
          </p:cNvSpPr>
          <p:nvPr>
            <p:ph idx="1"/>
          </p:nvPr>
        </p:nvSpPr>
        <p:spPr>
          <a:xfrm>
            <a:off x="772298" y="1438447"/>
            <a:ext cx="10515600" cy="4351338"/>
          </a:xfrm>
        </p:spPr>
        <p:txBody>
          <a:bodyPr>
            <a:normAutofit/>
          </a:bodyPr>
          <a:lstStyle/>
          <a:p>
            <a:r>
              <a:rPr lang="en-US" dirty="0"/>
              <a:t>Python Indentation</a:t>
            </a:r>
          </a:p>
          <a:p>
            <a:pPr lvl="1">
              <a:buFont typeface="Wingdings" panose="05000000000000000000" pitchFamily="2" charset="2"/>
              <a:buChar char="§"/>
            </a:pPr>
            <a:r>
              <a:rPr lang="en-US" dirty="0"/>
              <a:t>code blocks are defined by colon(:)</a:t>
            </a:r>
          </a:p>
          <a:p>
            <a:pPr lvl="1">
              <a:buFont typeface="Wingdings" panose="05000000000000000000" pitchFamily="2" charset="2"/>
              <a:buChar char="§"/>
            </a:pPr>
            <a:r>
              <a:rPr lang="en-US" dirty="0"/>
              <a:t>typically using 4 spaces or tabs</a:t>
            </a:r>
          </a:p>
          <a:p>
            <a:pPr lvl="1">
              <a:buFont typeface="Wingdings" panose="05000000000000000000" pitchFamily="2" charset="2"/>
              <a:buChar char="§"/>
            </a:pPr>
            <a:r>
              <a:rPr lang="en-US" dirty="0"/>
              <a:t>determines the scope of loops, conditionals, functions, classes, and other constructs</a:t>
            </a:r>
          </a:p>
        </p:txBody>
      </p:sp>
      <p:pic>
        <p:nvPicPr>
          <p:cNvPr id="4" name="Picture 3">
            <a:extLst>
              <a:ext uri="{FF2B5EF4-FFF2-40B4-BE49-F238E27FC236}">
                <a16:creationId xmlns:a16="http://schemas.microsoft.com/office/drawing/2014/main" id="{18F29376-04E5-948F-2DFD-36434FEC202D}"/>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2285126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62775-8684-E4BD-67FF-302FED475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07E09-62D7-A202-FDDE-C36834F26501}"/>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4784D383-E2C5-5FCB-0393-FD748D6CB688}"/>
              </a:ext>
            </a:extLst>
          </p:cNvPr>
          <p:cNvSpPr>
            <a:spLocks noGrp="1"/>
          </p:cNvSpPr>
          <p:nvPr>
            <p:ph idx="1"/>
          </p:nvPr>
        </p:nvSpPr>
        <p:spPr>
          <a:xfrm>
            <a:off x="772298" y="1438447"/>
            <a:ext cx="10515600" cy="4351338"/>
          </a:xfrm>
        </p:spPr>
        <p:txBody>
          <a:bodyPr>
            <a:normAutofit/>
          </a:bodyPr>
          <a:lstStyle/>
          <a:p>
            <a:r>
              <a:rPr lang="en-US" dirty="0"/>
              <a:t>Control Structures </a:t>
            </a:r>
          </a:p>
          <a:p>
            <a:endParaRPr lang="en-US" dirty="0"/>
          </a:p>
        </p:txBody>
      </p:sp>
      <p:pic>
        <p:nvPicPr>
          <p:cNvPr id="4" name="Picture 3">
            <a:extLst>
              <a:ext uri="{FF2B5EF4-FFF2-40B4-BE49-F238E27FC236}">
                <a16:creationId xmlns:a16="http://schemas.microsoft.com/office/drawing/2014/main" id="{7EE6F809-4E37-0C33-FEB3-014A65A0CCE6}"/>
              </a:ext>
            </a:extLst>
          </p:cNvPr>
          <p:cNvPicPr>
            <a:picLocks noChangeAspect="1"/>
          </p:cNvPicPr>
          <p:nvPr/>
        </p:nvPicPr>
        <p:blipFill>
          <a:blip r:embed="rId2"/>
          <a:stretch>
            <a:fillRect/>
          </a:stretch>
        </p:blipFill>
        <p:spPr>
          <a:xfrm>
            <a:off x="837744" y="6028411"/>
            <a:ext cx="10516511" cy="566977"/>
          </a:xfrm>
          <a:prstGeom prst="rect">
            <a:avLst/>
          </a:prstGeom>
        </p:spPr>
      </p:pic>
      <p:pic>
        <p:nvPicPr>
          <p:cNvPr id="5" name="Picture 4" descr="Control Structures include: loops and if statements&#10;Loops include: for loops and while loops&#10;if statements: for conditional decision">
            <a:extLst>
              <a:ext uri="{FF2B5EF4-FFF2-40B4-BE49-F238E27FC236}">
                <a16:creationId xmlns:a16="http://schemas.microsoft.com/office/drawing/2014/main" id="{38B90351-AE97-1B38-B945-3F11773AB755}"/>
              </a:ext>
            </a:extLst>
          </p:cNvPr>
          <p:cNvPicPr>
            <a:picLocks noChangeAspect="1"/>
          </p:cNvPicPr>
          <p:nvPr/>
        </p:nvPicPr>
        <p:blipFill>
          <a:blip r:embed="rId3"/>
          <a:stretch>
            <a:fillRect/>
          </a:stretch>
        </p:blipFill>
        <p:spPr>
          <a:xfrm>
            <a:off x="2108887" y="2302901"/>
            <a:ext cx="5936666" cy="2252197"/>
          </a:xfrm>
          <a:prstGeom prst="rect">
            <a:avLst/>
          </a:prstGeom>
        </p:spPr>
      </p:pic>
    </p:spTree>
    <p:extLst>
      <p:ext uri="{BB962C8B-B14F-4D97-AF65-F5344CB8AC3E}">
        <p14:creationId xmlns:p14="http://schemas.microsoft.com/office/powerpoint/2010/main" val="1068545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F9881-B249-C965-4E4B-A6F2097FF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1A43E-D9DF-DDE6-90BE-B83EB0DC0515}"/>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4CE5B57D-3F27-BB0B-7286-FCE757B96703}"/>
              </a:ext>
            </a:extLst>
          </p:cNvPr>
          <p:cNvSpPr>
            <a:spLocks noGrp="1"/>
          </p:cNvSpPr>
          <p:nvPr>
            <p:ph sz="half" idx="1"/>
          </p:nvPr>
        </p:nvSpPr>
        <p:spPr>
          <a:xfrm>
            <a:off x="837744" y="1751349"/>
            <a:ext cx="5181600" cy="4351338"/>
          </a:xfrm>
          <a:ln>
            <a:solidFill>
              <a:schemeClr val="accent1"/>
            </a:solidFill>
          </a:ln>
        </p:spPr>
        <p:txBody>
          <a:bodyPr>
            <a:normAutofit fontScale="62500" lnSpcReduction="20000"/>
          </a:bodyPr>
          <a:lstStyle/>
          <a:p>
            <a:r>
              <a:rPr lang="en-US" sz="4500" dirty="0"/>
              <a:t>if statement: conditional execution, allowing code to run based on whether a specified condition is true or false</a:t>
            </a:r>
          </a:p>
          <a:p>
            <a:endParaRPr lang="en-US" dirty="0"/>
          </a:p>
        </p:txBody>
      </p:sp>
      <p:sp>
        <p:nvSpPr>
          <p:cNvPr id="9" name="Content Placeholder 8">
            <a:extLst>
              <a:ext uri="{FF2B5EF4-FFF2-40B4-BE49-F238E27FC236}">
                <a16:creationId xmlns:a16="http://schemas.microsoft.com/office/drawing/2014/main" id="{BBAD1628-B905-0589-3499-764B920527E4}"/>
              </a:ext>
            </a:extLst>
          </p:cNvPr>
          <p:cNvSpPr>
            <a:spLocks noGrp="1"/>
          </p:cNvSpPr>
          <p:nvPr>
            <p:ph sz="half" idx="2"/>
          </p:nvPr>
        </p:nvSpPr>
        <p:spPr>
          <a:xfrm>
            <a:off x="6095999" y="1751349"/>
            <a:ext cx="5181600" cy="4351338"/>
          </a:xfrm>
          <a:ln>
            <a:solidFill>
              <a:schemeClr val="accent1"/>
            </a:solidFill>
          </a:ln>
        </p:spPr>
        <p:txBody>
          <a:bodyPr>
            <a:normAutofit fontScale="62500" lnSpcReduction="20000"/>
          </a:bodyPr>
          <a:lstStyle/>
          <a:p>
            <a:pPr marL="0" indent="0">
              <a:buNone/>
            </a:pPr>
            <a:r>
              <a:rPr lang="en-US" dirty="0"/>
              <a:t>The usage for two-way conditions</a:t>
            </a:r>
          </a:p>
          <a:p>
            <a:pPr marL="0" indent="0">
              <a:buNone/>
            </a:pPr>
            <a:r>
              <a:rPr lang="en-US" dirty="0"/>
              <a:t>if condition:   # code to execute if the condition is True</a:t>
            </a:r>
          </a:p>
          <a:p>
            <a:pPr marL="0" indent="0">
              <a:buNone/>
            </a:pPr>
            <a:r>
              <a:rPr lang="en-US" dirty="0"/>
              <a:t>else:   # code to execute if the condition is False</a:t>
            </a:r>
          </a:p>
          <a:p>
            <a:pPr marL="0" indent="0">
              <a:buNone/>
            </a:pPr>
            <a:endParaRPr lang="en-US" dirty="0"/>
          </a:p>
          <a:p>
            <a:pPr marL="0" indent="0">
              <a:buNone/>
            </a:pPr>
            <a:r>
              <a:rPr lang="en-US" dirty="0"/>
              <a:t>The usage for multi-way conditions</a:t>
            </a:r>
          </a:p>
          <a:p>
            <a:pPr marL="0" indent="0">
              <a:buNone/>
            </a:pPr>
            <a:r>
              <a:rPr lang="en-US" dirty="0"/>
              <a:t>if condition1:   # code to execute if condition1 is True</a:t>
            </a:r>
          </a:p>
          <a:p>
            <a:pPr marL="0" indent="0">
              <a:buNone/>
            </a:pPr>
            <a:r>
              <a:rPr lang="en-US" dirty="0" err="1"/>
              <a:t>elif</a:t>
            </a:r>
            <a:r>
              <a:rPr lang="en-US" dirty="0"/>
              <a:t> condition2:   # code to execute if condition1 is False and condition2 is True</a:t>
            </a:r>
          </a:p>
          <a:p>
            <a:pPr marL="0" indent="0">
              <a:buNone/>
            </a:pPr>
            <a:r>
              <a:rPr lang="en-US" dirty="0" err="1"/>
              <a:t>elif</a:t>
            </a:r>
            <a:r>
              <a:rPr lang="en-US" dirty="0"/>
              <a:t> condition3:   # code to execute if condition1 and condition2 are False and condition3 is True</a:t>
            </a:r>
          </a:p>
          <a:p>
            <a:pPr marL="0" indent="0">
              <a:buNone/>
            </a:pPr>
            <a:r>
              <a:rPr lang="en-US" dirty="0"/>
              <a:t>else:   # code to execute if all conditions are False (optional)</a:t>
            </a:r>
          </a:p>
          <a:p>
            <a:pPr marL="0" indent="0">
              <a:buNone/>
            </a:pPr>
            <a:endParaRPr lang="en-US" dirty="0"/>
          </a:p>
        </p:txBody>
      </p:sp>
      <p:pic>
        <p:nvPicPr>
          <p:cNvPr id="4" name="Picture 3">
            <a:extLst>
              <a:ext uri="{FF2B5EF4-FFF2-40B4-BE49-F238E27FC236}">
                <a16:creationId xmlns:a16="http://schemas.microsoft.com/office/drawing/2014/main" id="{230C90F9-A1B9-7467-D585-8198F7F156BC}"/>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4000968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115AA-7B86-0DEA-843F-D1C0784C6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7C3F1-2788-EE38-CD00-9E69A793DC6F}"/>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B37BAE85-DC97-28FE-FBFB-8DFBFB6E6DA6}"/>
              </a:ext>
            </a:extLst>
          </p:cNvPr>
          <p:cNvSpPr>
            <a:spLocks noGrp="1"/>
          </p:cNvSpPr>
          <p:nvPr>
            <p:ph sz="half" idx="1"/>
          </p:nvPr>
        </p:nvSpPr>
        <p:spPr>
          <a:xfrm>
            <a:off x="837744" y="1751349"/>
            <a:ext cx="5181600" cy="4351338"/>
          </a:xfrm>
          <a:ln>
            <a:solidFill>
              <a:schemeClr val="accent1"/>
            </a:solidFill>
          </a:ln>
        </p:spPr>
        <p:txBody>
          <a:bodyPr>
            <a:normAutofit fontScale="92500" lnSpcReduction="10000"/>
          </a:bodyPr>
          <a:lstStyle/>
          <a:p>
            <a:r>
              <a:rPr lang="en-US" sz="4500" dirty="0"/>
              <a:t>if statement: conditional execution, allowing code to run based on whether a specified condition is true or false</a:t>
            </a:r>
          </a:p>
          <a:p>
            <a:endParaRPr lang="en-US" dirty="0"/>
          </a:p>
        </p:txBody>
      </p:sp>
      <p:sp>
        <p:nvSpPr>
          <p:cNvPr id="9" name="Content Placeholder 8">
            <a:extLst>
              <a:ext uri="{FF2B5EF4-FFF2-40B4-BE49-F238E27FC236}">
                <a16:creationId xmlns:a16="http://schemas.microsoft.com/office/drawing/2014/main" id="{77D100BE-51BA-4A98-088B-9AFFE0F2D77C}"/>
              </a:ext>
            </a:extLst>
          </p:cNvPr>
          <p:cNvSpPr>
            <a:spLocks noGrp="1"/>
          </p:cNvSpPr>
          <p:nvPr>
            <p:ph sz="half" idx="2"/>
          </p:nvPr>
        </p:nvSpPr>
        <p:spPr>
          <a:xfrm>
            <a:off x="6095999" y="1751349"/>
            <a:ext cx="5181600" cy="4351338"/>
          </a:xfrm>
          <a:ln>
            <a:solidFill>
              <a:schemeClr val="accent1"/>
            </a:solidFill>
          </a:ln>
        </p:spPr>
        <p:txBody>
          <a:bodyPr>
            <a:normAutofit fontScale="92500" lnSpcReduction="10000"/>
          </a:bodyPr>
          <a:lstStyle/>
          <a:p>
            <a:pPr marL="0" indent="0">
              <a:buNone/>
            </a:pPr>
            <a:r>
              <a:rPr lang="en-US" dirty="0"/>
              <a:t>The usage for nested if</a:t>
            </a:r>
          </a:p>
          <a:p>
            <a:pPr marL="0" indent="0">
              <a:buNone/>
            </a:pPr>
            <a:r>
              <a:rPr lang="en-US" dirty="0"/>
              <a:t>if condition1:   # code to execute if condition1 is True</a:t>
            </a:r>
          </a:p>
          <a:p>
            <a:pPr marL="0" indent="0">
              <a:buNone/>
            </a:pPr>
            <a:r>
              <a:rPr lang="en-US" dirty="0"/>
              <a:t>  if condition2:     # code to execute if condition1 is True and condition2 is also True (nested if)</a:t>
            </a:r>
          </a:p>
          <a:p>
            <a:pPr marL="0" indent="0">
              <a:buNone/>
            </a:pPr>
            <a:r>
              <a:rPr lang="en-US" dirty="0"/>
              <a:t>  else:     # code to execute if condition1 is True but condition2 is False</a:t>
            </a:r>
          </a:p>
          <a:p>
            <a:pPr marL="0" indent="0">
              <a:buNone/>
            </a:pPr>
            <a:r>
              <a:rPr lang="en-US" dirty="0"/>
              <a:t>else:   # code to execute if condition1 is False</a:t>
            </a:r>
          </a:p>
          <a:p>
            <a:pPr marL="0" indent="0">
              <a:buNone/>
            </a:pPr>
            <a:endParaRPr lang="en-US" dirty="0"/>
          </a:p>
        </p:txBody>
      </p:sp>
      <p:pic>
        <p:nvPicPr>
          <p:cNvPr id="4" name="Picture 3">
            <a:extLst>
              <a:ext uri="{FF2B5EF4-FFF2-40B4-BE49-F238E27FC236}">
                <a16:creationId xmlns:a16="http://schemas.microsoft.com/office/drawing/2014/main" id="{A1943E3C-0C64-EE83-3436-58882E00F87D}"/>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4103145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6A793-A681-145F-EB7A-A2FE74B0A1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76F7C-6C05-34FB-BB6D-06EA3F755AB5}"/>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545E4C24-7663-532F-1999-3A12EF3F1864}"/>
              </a:ext>
            </a:extLst>
          </p:cNvPr>
          <p:cNvSpPr>
            <a:spLocks noGrp="1"/>
          </p:cNvSpPr>
          <p:nvPr>
            <p:ph idx="1"/>
          </p:nvPr>
        </p:nvSpPr>
        <p:spPr>
          <a:xfrm>
            <a:off x="772298" y="1438447"/>
            <a:ext cx="10515600" cy="4351338"/>
          </a:xfrm>
        </p:spPr>
        <p:txBody>
          <a:bodyPr>
            <a:normAutofit/>
          </a:bodyPr>
          <a:lstStyle/>
          <a:p>
            <a:r>
              <a:rPr lang="en-US" dirty="0"/>
              <a:t>If statement</a:t>
            </a:r>
          </a:p>
        </p:txBody>
      </p:sp>
      <p:pic>
        <p:nvPicPr>
          <p:cNvPr id="4" name="Picture 3">
            <a:extLst>
              <a:ext uri="{FF2B5EF4-FFF2-40B4-BE49-F238E27FC236}">
                <a16:creationId xmlns:a16="http://schemas.microsoft.com/office/drawing/2014/main" id="{DDD999FD-EC7C-7D7F-3681-B28F1E12F47A}"/>
              </a:ext>
            </a:extLst>
          </p:cNvPr>
          <p:cNvPicPr>
            <a:picLocks noChangeAspect="1"/>
          </p:cNvPicPr>
          <p:nvPr/>
        </p:nvPicPr>
        <p:blipFill>
          <a:blip r:embed="rId3"/>
          <a:stretch>
            <a:fillRect/>
          </a:stretch>
        </p:blipFill>
        <p:spPr>
          <a:xfrm>
            <a:off x="837744" y="6028411"/>
            <a:ext cx="10516511" cy="566977"/>
          </a:xfrm>
          <a:prstGeom prst="rect">
            <a:avLst/>
          </a:prstGeom>
        </p:spPr>
      </p:pic>
      <p:sp>
        <p:nvSpPr>
          <p:cNvPr id="6" name="Text Box 2">
            <a:extLst>
              <a:ext uri="{FF2B5EF4-FFF2-40B4-BE49-F238E27FC236}">
                <a16:creationId xmlns:a16="http://schemas.microsoft.com/office/drawing/2014/main" id="{0D21CD17-51E3-3A13-0BD6-B19742FDA574}"/>
              </a:ext>
            </a:extLst>
          </p:cNvPr>
          <p:cNvSpPr txBox="1">
            <a:spLocks noChangeArrowheads="1"/>
          </p:cNvSpPr>
          <p:nvPr/>
        </p:nvSpPr>
        <p:spPr bwMode="auto">
          <a:xfrm>
            <a:off x="1013254" y="1959817"/>
            <a:ext cx="10058400" cy="3600986"/>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investment = 1000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current_price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1155</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purchase_price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1100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if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purchase_price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roi</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null</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else: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roi</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current_price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purchase_price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purchase_price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100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earned = investment *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roi</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100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if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roi</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&gt; 10: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print(</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f"Your</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investment has a strong return of {roi:.2f}% and you earn {earned: .2f}!")</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elif</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roi</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&gt; 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print(</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f"Your</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investment has a positive return of {roi:.2f}% and you earn {earned: .2f}")</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elif</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roi</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print(</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f"Your</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investment has broken even and you earn {earned: .2f}.")</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else: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print(</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f"Your</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investment has a negative return of {abs(</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roi</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):.2f}% and you earn {earned: .2f}")</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72074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958AA-9C8B-403D-9852-10A8B42EB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5852A-F81C-3611-2BEC-F4647BEEE826}"/>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EE858353-4D5F-A553-59DB-6692212A56D5}"/>
              </a:ext>
            </a:extLst>
          </p:cNvPr>
          <p:cNvSpPr>
            <a:spLocks noGrp="1"/>
          </p:cNvSpPr>
          <p:nvPr>
            <p:ph idx="1"/>
          </p:nvPr>
        </p:nvSpPr>
        <p:spPr>
          <a:xfrm>
            <a:off x="772298" y="1438447"/>
            <a:ext cx="10515600" cy="4351338"/>
          </a:xfrm>
        </p:spPr>
        <p:txBody>
          <a:bodyPr>
            <a:normAutofit/>
          </a:bodyPr>
          <a:lstStyle/>
          <a:p>
            <a:r>
              <a:rPr lang="en-US" dirty="0"/>
              <a:t>loop: repetitive tasks and/or collections of data</a:t>
            </a:r>
          </a:p>
        </p:txBody>
      </p:sp>
      <p:pic>
        <p:nvPicPr>
          <p:cNvPr id="4" name="Picture 3">
            <a:extLst>
              <a:ext uri="{FF2B5EF4-FFF2-40B4-BE49-F238E27FC236}">
                <a16:creationId xmlns:a16="http://schemas.microsoft.com/office/drawing/2014/main" id="{164A1BC9-8BAD-9995-FED2-752D7223A473}"/>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6" name="TextBox 5">
            <a:extLst>
              <a:ext uri="{FF2B5EF4-FFF2-40B4-BE49-F238E27FC236}">
                <a16:creationId xmlns:a16="http://schemas.microsoft.com/office/drawing/2014/main" id="{60BB743F-8432-7C1A-2866-9AEA6E2EA4AA}"/>
              </a:ext>
            </a:extLst>
          </p:cNvPr>
          <p:cNvSpPr txBox="1"/>
          <p:nvPr/>
        </p:nvSpPr>
        <p:spPr>
          <a:xfrm>
            <a:off x="1124262" y="2023672"/>
            <a:ext cx="10229538" cy="3173946"/>
          </a:xfrm>
          <a:prstGeom prst="rect">
            <a:avLst/>
          </a:prstGeom>
          <a:noFill/>
        </p:spPr>
        <p:txBody>
          <a:bodyPr wrap="square">
            <a:spAutoFit/>
          </a:bodyPr>
          <a:lstStyle/>
          <a:p>
            <a:pPr marL="0" marR="0">
              <a:lnSpc>
                <a:spcPct val="115000"/>
              </a:lnSpc>
              <a:spcAft>
                <a:spcPts val="800"/>
              </a:spcAft>
              <a:buNone/>
            </a:pPr>
            <a:r>
              <a:rPr lang="en-US" sz="2000" b="1" kern="100" dirty="0">
                <a:effectLst/>
                <a:latin typeface="Aptos" panose="020B0004020202020204" pitchFamily="34" charset="0"/>
                <a:ea typeface="DengXian" panose="02010600030101010101" pitchFamily="2" charset="-122"/>
                <a:cs typeface="Courier New" panose="02070309020205020404" pitchFamily="49" charset="0"/>
              </a:rPr>
              <a:t>for/definite loop</a:t>
            </a:r>
            <a:r>
              <a:rPr lang="en-US" sz="2000" kern="100" dirty="0">
                <a:effectLst/>
                <a:latin typeface="Aptos" panose="020B0004020202020204" pitchFamily="34" charset="0"/>
                <a:ea typeface="DengXian" panose="02010600030101010101" pitchFamily="2" charset="-122"/>
                <a:cs typeface="Times New Roman" panose="02020603050405020304" pitchFamily="18" charset="0"/>
              </a:rPr>
              <a:t>: </a:t>
            </a:r>
            <a:r>
              <a:rPr lang="en-US" sz="2000" b="1" kern="100" dirty="0">
                <a:effectLst/>
                <a:latin typeface="Aptos" panose="020B0004020202020204" pitchFamily="34" charset="0"/>
                <a:ea typeface="DengXian" panose="02010600030101010101" pitchFamily="2" charset="-122"/>
                <a:cs typeface="Courier New" panose="02070309020205020404" pitchFamily="49" charset="0"/>
              </a:rPr>
              <a:t>iterate over a sequence (such as a list, tuple, string, or range):</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for element in sequence:</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indent="304800">
              <a:lnSpc>
                <a:spcPct val="115000"/>
              </a:lnSpc>
              <a:spcAft>
                <a:spcPts val="800"/>
              </a:spcAft>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Code block to be executed</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indent="304800">
              <a:lnSpc>
                <a:spcPct val="115000"/>
              </a:lnSpc>
              <a:spcAft>
                <a:spcPts val="800"/>
              </a:spcAft>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2000" b="1" kern="100" dirty="0">
                <a:effectLst/>
                <a:latin typeface="Aptos" panose="020B0004020202020204" pitchFamily="34" charset="0"/>
                <a:ea typeface="DengXian" panose="02010600030101010101" pitchFamily="2" charset="-122"/>
                <a:cs typeface="Courier New" panose="02070309020205020404" pitchFamily="49" charset="0"/>
              </a:rPr>
              <a:t>While/Indefinite loop: execute a block of code as long as a condition is true</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while condition:</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 Code block to be executed</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68065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58C6F-C2CC-F58D-29D4-55BA36B30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D9D87-72B0-3625-62F3-AEA0E3324E04}"/>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091FD186-EC01-CA04-FF48-31A745028739}"/>
              </a:ext>
            </a:extLst>
          </p:cNvPr>
          <p:cNvSpPr>
            <a:spLocks noGrp="1"/>
          </p:cNvSpPr>
          <p:nvPr>
            <p:ph idx="1"/>
          </p:nvPr>
        </p:nvSpPr>
        <p:spPr>
          <a:xfrm>
            <a:off x="772298" y="1438447"/>
            <a:ext cx="10515600" cy="4351338"/>
          </a:xfrm>
        </p:spPr>
        <p:txBody>
          <a:bodyPr>
            <a:normAutofit/>
          </a:bodyPr>
          <a:lstStyle/>
          <a:p>
            <a:r>
              <a:rPr lang="en-US" dirty="0"/>
              <a:t>loop: repetitive tasks and/or collections of data</a:t>
            </a:r>
          </a:p>
        </p:txBody>
      </p:sp>
      <p:pic>
        <p:nvPicPr>
          <p:cNvPr id="4" name="Picture 3">
            <a:extLst>
              <a:ext uri="{FF2B5EF4-FFF2-40B4-BE49-F238E27FC236}">
                <a16:creationId xmlns:a16="http://schemas.microsoft.com/office/drawing/2014/main" id="{EF4AEDB5-51FB-37C8-9ECF-3FF30D89A88A}"/>
              </a:ext>
            </a:extLst>
          </p:cNvPr>
          <p:cNvPicPr>
            <a:picLocks noChangeAspect="1"/>
          </p:cNvPicPr>
          <p:nvPr/>
        </p:nvPicPr>
        <p:blipFill>
          <a:blip r:embed="rId2"/>
          <a:stretch>
            <a:fillRect/>
          </a:stretch>
        </p:blipFill>
        <p:spPr>
          <a:xfrm>
            <a:off x="837744" y="6028411"/>
            <a:ext cx="10516511" cy="566977"/>
          </a:xfrm>
          <a:prstGeom prst="rect">
            <a:avLst/>
          </a:prstGeom>
        </p:spPr>
      </p:pic>
      <p:pic>
        <p:nvPicPr>
          <p:cNvPr id="9" name="Picture 8" descr="initializaton: setting up a loop variable to track the number of iterations of the &#10;&#10;condition: an expression on loop variable to determine if the loop continues. The loop continutes if the condition is true &#10;&#10;loop body: indented block of code that will be executed repeatedly.  At the end of the loop body, updates on the loop variable so that loop will terminate eventually. &#10;&#10;">
            <a:extLst>
              <a:ext uri="{FF2B5EF4-FFF2-40B4-BE49-F238E27FC236}">
                <a16:creationId xmlns:a16="http://schemas.microsoft.com/office/drawing/2014/main" id="{46ED5F87-B9CB-A1FC-B6CC-1770291DD0BA}"/>
              </a:ext>
            </a:extLst>
          </p:cNvPr>
          <p:cNvPicPr>
            <a:picLocks noChangeAspect="1"/>
          </p:cNvPicPr>
          <p:nvPr/>
        </p:nvPicPr>
        <p:blipFill>
          <a:blip r:embed="rId3"/>
          <a:stretch>
            <a:fillRect/>
          </a:stretch>
        </p:blipFill>
        <p:spPr>
          <a:xfrm>
            <a:off x="1668938" y="2078098"/>
            <a:ext cx="7032852" cy="3737812"/>
          </a:xfrm>
          <a:prstGeom prst="rect">
            <a:avLst/>
          </a:prstGeom>
        </p:spPr>
      </p:pic>
    </p:spTree>
    <p:extLst>
      <p:ext uri="{BB962C8B-B14F-4D97-AF65-F5344CB8AC3E}">
        <p14:creationId xmlns:p14="http://schemas.microsoft.com/office/powerpoint/2010/main" val="2686552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E82D1-058A-7C28-F3AA-C4BDF1E6B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927024-2571-9D19-6578-A8C1C15EDB5B}"/>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52E63EAD-61A3-B01E-B6C6-A5DE992FC27C}"/>
              </a:ext>
            </a:extLst>
          </p:cNvPr>
          <p:cNvSpPr>
            <a:spLocks noGrp="1"/>
          </p:cNvSpPr>
          <p:nvPr>
            <p:ph idx="1"/>
          </p:nvPr>
        </p:nvSpPr>
        <p:spPr>
          <a:xfrm>
            <a:off x="772298" y="1438447"/>
            <a:ext cx="10515600" cy="4351338"/>
          </a:xfrm>
        </p:spPr>
        <p:txBody>
          <a:bodyPr>
            <a:normAutofit/>
          </a:bodyPr>
          <a:lstStyle/>
          <a:p>
            <a:r>
              <a:rPr lang="en-US" dirty="0"/>
              <a:t>for statement</a:t>
            </a:r>
          </a:p>
          <a:p>
            <a:endParaRPr lang="en-US" dirty="0"/>
          </a:p>
        </p:txBody>
      </p:sp>
      <p:pic>
        <p:nvPicPr>
          <p:cNvPr id="4" name="Picture 3">
            <a:extLst>
              <a:ext uri="{FF2B5EF4-FFF2-40B4-BE49-F238E27FC236}">
                <a16:creationId xmlns:a16="http://schemas.microsoft.com/office/drawing/2014/main" id="{6EDD355F-9163-8420-948C-A144E95DC1C3}"/>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7" name="Text Box 2">
            <a:extLst>
              <a:ext uri="{FF2B5EF4-FFF2-40B4-BE49-F238E27FC236}">
                <a16:creationId xmlns:a16="http://schemas.microsoft.com/office/drawing/2014/main" id="{3FADF615-5406-BD81-CF75-8463505E039F}"/>
              </a:ext>
            </a:extLst>
          </p:cNvPr>
          <p:cNvSpPr txBox="1">
            <a:spLocks noChangeArrowheads="1"/>
          </p:cNvSpPr>
          <p:nvPr/>
        </p:nvSpPr>
        <p:spPr bwMode="auto">
          <a:xfrm>
            <a:off x="1080186" y="2071653"/>
            <a:ext cx="7824917" cy="2308324"/>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import random</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stock_data</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"AAPL": round(150.23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random.random</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10, 2),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"TSLA": round(900.00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random.random</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50, 2),</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"GOOG": round(2800.00 -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random.random</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100, 2)</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for symbol, price in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stock_data.items</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print(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f"Stock</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{symbol}, Price: ${price}")</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28077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EF011-E7B7-34D1-A0AB-B060737D4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5EA78-834F-2C55-B7C5-66E5CC02C0DF}"/>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C31D34E2-E859-3825-B2EC-90D6125B9986}"/>
              </a:ext>
            </a:extLst>
          </p:cNvPr>
          <p:cNvSpPr>
            <a:spLocks noGrp="1"/>
          </p:cNvSpPr>
          <p:nvPr>
            <p:ph idx="1"/>
          </p:nvPr>
        </p:nvSpPr>
        <p:spPr>
          <a:xfrm>
            <a:off x="772298" y="1438447"/>
            <a:ext cx="10515600" cy="4351338"/>
          </a:xfrm>
        </p:spPr>
        <p:txBody>
          <a:bodyPr>
            <a:normAutofit/>
          </a:bodyPr>
          <a:lstStyle/>
          <a:p>
            <a:r>
              <a:rPr lang="en-US" dirty="0"/>
              <a:t>while statement</a:t>
            </a:r>
          </a:p>
          <a:p>
            <a:endParaRPr lang="en-US" dirty="0"/>
          </a:p>
        </p:txBody>
      </p:sp>
      <p:pic>
        <p:nvPicPr>
          <p:cNvPr id="4" name="Picture 3">
            <a:extLst>
              <a:ext uri="{FF2B5EF4-FFF2-40B4-BE49-F238E27FC236}">
                <a16:creationId xmlns:a16="http://schemas.microsoft.com/office/drawing/2014/main" id="{57127C9C-ED3C-D76F-A8BC-BEF8EA02FB64}"/>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5" name="Text Box 2">
            <a:extLst>
              <a:ext uri="{FF2B5EF4-FFF2-40B4-BE49-F238E27FC236}">
                <a16:creationId xmlns:a16="http://schemas.microsoft.com/office/drawing/2014/main" id="{5CC780B7-1BC9-AF94-3B50-D500CB56C1F1}"/>
              </a:ext>
            </a:extLst>
          </p:cNvPr>
          <p:cNvSpPr txBox="1">
            <a:spLocks noChangeArrowheads="1"/>
          </p:cNvSpPr>
          <p:nvPr/>
        </p:nvSpPr>
        <p:spPr bwMode="auto">
          <a:xfrm>
            <a:off x="1055472" y="1951336"/>
            <a:ext cx="9727857" cy="3231654"/>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aapl_price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159.23</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guess = 180</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guess_times</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 1 # A counter is initialized to keep track of the number of guesses</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while guess !=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aapl_price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guess = float(input("Guess apple's stock price: "))   # Prompts the user to guess the stock price and converts the input to a float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if abs(guess -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aapl_price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&lt;= 10 and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guess_times</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&lt; 3: # abs(): find absolute value of an expression</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print("Congratulations, you guessed the price!")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break                                             # exits the loop</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elif</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abs(guess -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aapl_price</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&gt; 10 and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guess_times</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&lt; 3:</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print("Try again!")</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else: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print("Run out of guessing times!")</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break                                             # exits the loop</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200" kern="100" dirty="0" err="1">
                <a:effectLst/>
                <a:latin typeface="Courier New" panose="02070309020205020404" pitchFamily="49" charset="0"/>
                <a:ea typeface="DengXian" panose="02010600030101010101" pitchFamily="2" charset="-122"/>
                <a:cs typeface="Times New Roman" panose="02020603050405020304" pitchFamily="18" charset="0"/>
              </a:rPr>
              <a:t>guess_times</a:t>
            </a:r>
            <a:r>
              <a:rPr lang="en-US" sz="1200" kern="100" dirty="0">
                <a:effectLst/>
                <a:latin typeface="Courier New" panose="02070309020205020404" pitchFamily="49" charset="0"/>
                <a:ea typeface="DengXian" panose="02010600030101010101" pitchFamily="2" charset="-122"/>
                <a:cs typeface="Times New Roman" panose="02020603050405020304" pitchFamily="18" charset="0"/>
              </a:rPr>
              <a:t> +=1                                       # increments the guess counter after each guess</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0103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343C5-E820-AC4F-7558-977C5D0C6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53013-BB9C-31D6-CEEE-034D84561979}"/>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AAE61EC0-FA11-E646-2AEF-60CA3830B0DE}"/>
              </a:ext>
            </a:extLst>
          </p:cNvPr>
          <p:cNvSpPr>
            <a:spLocks noGrp="1"/>
          </p:cNvSpPr>
          <p:nvPr>
            <p:ph idx="1"/>
          </p:nvPr>
        </p:nvSpPr>
        <p:spPr>
          <a:xfrm>
            <a:off x="772298" y="1438447"/>
            <a:ext cx="10515600" cy="4351338"/>
          </a:xfrm>
        </p:spPr>
        <p:txBody>
          <a:bodyPr>
            <a:normAutofit/>
          </a:bodyPr>
          <a:lstStyle/>
          <a:p>
            <a:r>
              <a:rPr lang="en-US" dirty="0"/>
              <a:t>Functions: reusable blocks of code designed to perform specific tasks</a:t>
            </a:r>
          </a:p>
          <a:p>
            <a:endParaRPr lang="en-US" dirty="0"/>
          </a:p>
        </p:txBody>
      </p:sp>
      <p:pic>
        <p:nvPicPr>
          <p:cNvPr id="4" name="Picture 3">
            <a:extLst>
              <a:ext uri="{FF2B5EF4-FFF2-40B4-BE49-F238E27FC236}">
                <a16:creationId xmlns:a16="http://schemas.microsoft.com/office/drawing/2014/main" id="{82751753-33A9-9160-6C71-1DA306F9A6CE}"/>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7" name="TextBox 6">
            <a:extLst>
              <a:ext uri="{FF2B5EF4-FFF2-40B4-BE49-F238E27FC236}">
                <a16:creationId xmlns:a16="http://schemas.microsoft.com/office/drawing/2014/main" id="{0D78DEEC-E524-D744-B0EA-0B332E08BEE3}"/>
              </a:ext>
            </a:extLst>
          </p:cNvPr>
          <p:cNvSpPr txBox="1"/>
          <p:nvPr/>
        </p:nvSpPr>
        <p:spPr>
          <a:xfrm>
            <a:off x="1086338" y="2486812"/>
            <a:ext cx="10267462" cy="2260875"/>
          </a:xfrm>
          <a:prstGeom prst="rect">
            <a:avLst/>
          </a:prstGeom>
          <a:noFill/>
        </p:spPr>
        <p:txBody>
          <a:bodyPr wrap="square">
            <a:spAutoFit/>
          </a:bodyPr>
          <a:lstStyle/>
          <a:p>
            <a:pPr marL="0" marR="0">
              <a:lnSpc>
                <a:spcPct val="115000"/>
              </a:lnSpc>
              <a:spcAft>
                <a:spcPts val="800"/>
              </a:spcAft>
              <a:buNone/>
            </a:pPr>
            <a:r>
              <a:rPr lang="en-US" sz="2000" b="1" kern="100" dirty="0">
                <a:effectLst/>
                <a:latin typeface="Aptos" panose="020B0004020202020204" pitchFamily="34" charset="0"/>
                <a:ea typeface="DengXian" panose="02010600030101010101" pitchFamily="2" charset="-122"/>
                <a:cs typeface="Courier New" panose="02070309020205020404" pitchFamily="49" charset="0"/>
              </a:rPr>
              <a:t>function definition:</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def </a:t>
            </a:r>
            <a:r>
              <a:rPr lang="en-US" sz="2000" kern="100" dirty="0" err="1">
                <a:effectLst/>
                <a:latin typeface="Courier New" panose="02070309020205020404" pitchFamily="49" charset="0"/>
                <a:ea typeface="DengXian" panose="02010600030101010101" pitchFamily="2" charset="-122"/>
                <a:cs typeface="Times New Roman" panose="02020603050405020304" pitchFamily="18" charset="0"/>
              </a:rPr>
              <a:t>function_name</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(parameters): # function header</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"""Function docstring (optional)"""</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 Function body (indented code block)</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return </a:t>
            </a:r>
            <a:r>
              <a:rPr lang="en-US" sz="2000" kern="100" dirty="0" err="1">
                <a:effectLst/>
                <a:latin typeface="Courier New" panose="02070309020205020404" pitchFamily="49" charset="0"/>
                <a:ea typeface="DengXian" panose="02010600030101010101" pitchFamily="2" charset="-122"/>
                <a:cs typeface="Times New Roman" panose="02020603050405020304" pitchFamily="18" charset="0"/>
              </a:rPr>
              <a:t>output_value</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(optional)</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01048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3A77A-4287-7E07-0EC2-F27D8C5ED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C5C5C-1DC4-A2ED-7D23-326BD4D25406}"/>
              </a:ext>
            </a:extLst>
          </p:cNvPr>
          <p:cNvSpPr>
            <a:spLocks noGrp="1"/>
          </p:cNvSpPr>
          <p:nvPr>
            <p:ph type="title"/>
          </p:nvPr>
        </p:nvSpPr>
        <p:spPr/>
        <p:txBody>
          <a:bodyPr/>
          <a:lstStyle/>
          <a:p>
            <a:r>
              <a:rPr lang="en-US" dirty="0"/>
              <a:t>Python Basics</a:t>
            </a:r>
          </a:p>
        </p:txBody>
      </p:sp>
      <p:sp>
        <p:nvSpPr>
          <p:cNvPr id="3" name="Content Placeholder 2">
            <a:extLst>
              <a:ext uri="{FF2B5EF4-FFF2-40B4-BE49-F238E27FC236}">
                <a16:creationId xmlns:a16="http://schemas.microsoft.com/office/drawing/2014/main" id="{0BA4527C-CA9B-C704-148E-6B8E30257FB5}"/>
              </a:ext>
            </a:extLst>
          </p:cNvPr>
          <p:cNvSpPr>
            <a:spLocks noGrp="1"/>
          </p:cNvSpPr>
          <p:nvPr>
            <p:ph idx="1"/>
          </p:nvPr>
        </p:nvSpPr>
        <p:spPr>
          <a:xfrm>
            <a:off x="772298" y="1438447"/>
            <a:ext cx="10515600" cy="4351338"/>
          </a:xfrm>
        </p:spPr>
        <p:txBody>
          <a:bodyPr>
            <a:normAutofit/>
          </a:bodyPr>
          <a:lstStyle/>
          <a:p>
            <a:r>
              <a:rPr lang="en-US" dirty="0"/>
              <a:t>function</a:t>
            </a:r>
          </a:p>
          <a:p>
            <a:endParaRPr lang="en-US" dirty="0"/>
          </a:p>
        </p:txBody>
      </p:sp>
      <p:pic>
        <p:nvPicPr>
          <p:cNvPr id="4" name="Picture 3">
            <a:extLst>
              <a:ext uri="{FF2B5EF4-FFF2-40B4-BE49-F238E27FC236}">
                <a16:creationId xmlns:a16="http://schemas.microsoft.com/office/drawing/2014/main" id="{B642CADA-2CE2-738A-A7FB-46809F136008}"/>
              </a:ext>
            </a:extLst>
          </p:cNvPr>
          <p:cNvPicPr>
            <a:picLocks noChangeAspect="1"/>
          </p:cNvPicPr>
          <p:nvPr/>
        </p:nvPicPr>
        <p:blipFill>
          <a:blip r:embed="rId3"/>
          <a:stretch>
            <a:fillRect/>
          </a:stretch>
        </p:blipFill>
        <p:spPr>
          <a:xfrm>
            <a:off x="837744" y="6028411"/>
            <a:ext cx="10516511" cy="566977"/>
          </a:xfrm>
          <a:prstGeom prst="rect">
            <a:avLst/>
          </a:prstGeom>
        </p:spPr>
      </p:pic>
      <p:sp>
        <p:nvSpPr>
          <p:cNvPr id="6" name="Text Box 2">
            <a:extLst>
              <a:ext uri="{FF2B5EF4-FFF2-40B4-BE49-F238E27FC236}">
                <a16:creationId xmlns:a16="http://schemas.microsoft.com/office/drawing/2014/main" id="{ADEBECB3-D1AB-5802-E392-4CACD38AFB9D}"/>
              </a:ext>
            </a:extLst>
          </p:cNvPr>
          <p:cNvSpPr txBox="1">
            <a:spLocks noChangeArrowheads="1"/>
          </p:cNvSpPr>
          <p:nvPr/>
        </p:nvSpPr>
        <p:spPr bwMode="auto">
          <a:xfrm>
            <a:off x="904102" y="2035973"/>
            <a:ext cx="10515600" cy="3647152"/>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import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yfinance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as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yf</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import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yfinance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library for stock data</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def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get_stock_data</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(symbol): # define function header</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latin typeface="Courier New" panose="02070309020205020404" pitchFamily="49" charset="0"/>
                <a:ea typeface="DengXian" panose="02010600030101010101" pitchFamily="2" charset="-122"/>
                <a:cs typeface="Times New Roman" panose="02020603050405020304" pitchFamily="18" charset="0"/>
              </a:rPr>
              <a:t>    </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try:</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stock_data</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yf.download</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(symbol, period="1wk", interval="1d")  # download 1-week daily data from Yahoo Finance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except: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print(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f"Error</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Could not retrieve data for symbol {symbol}.")</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return None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current_price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stock_data</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["Close"].</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iloc</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[-1]   # get latest closing price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current_volume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stock_data</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["Volume"].</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iloc</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[-1] # get latest volume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return {"Stock ticker": symbol, "Current Price":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current_price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"Current Volume":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current_volume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return a dictionary</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passing google, apple and tesla's stock tickers</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stock_symbol</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["GOOG", "AAPL", "TSLA"]</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for ticker in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stock_symbol</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data =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get_stock_data</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(ticker)  # data is a dictionary returned from the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get_stock_data</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function</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if data:</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for key, value in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data.items</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print(f"{key}: {value}")</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05795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5AB25-C6CE-40A6-435E-C7416C9D34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7DAC7-33F7-4FC9-2068-FE6405BDF92C}"/>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265550AB-2BB9-CFB4-8880-D5EDE076C07F}"/>
              </a:ext>
            </a:extLst>
          </p:cNvPr>
          <p:cNvSpPr>
            <a:spLocks noGrp="1"/>
          </p:cNvSpPr>
          <p:nvPr>
            <p:ph idx="1"/>
          </p:nvPr>
        </p:nvSpPr>
        <p:spPr>
          <a:xfrm>
            <a:off x="772298" y="1438447"/>
            <a:ext cx="10515600" cy="4351338"/>
          </a:xfrm>
        </p:spPr>
        <p:txBody>
          <a:bodyPr>
            <a:normAutofit/>
          </a:bodyPr>
          <a:lstStyle/>
          <a:p>
            <a:r>
              <a:rPr lang="en-US" dirty="0"/>
              <a:t>try-except block: prevent potential program crashes</a:t>
            </a:r>
          </a:p>
        </p:txBody>
      </p:sp>
      <p:pic>
        <p:nvPicPr>
          <p:cNvPr id="4" name="Picture 3">
            <a:extLst>
              <a:ext uri="{FF2B5EF4-FFF2-40B4-BE49-F238E27FC236}">
                <a16:creationId xmlns:a16="http://schemas.microsoft.com/office/drawing/2014/main" id="{22AEA1D9-30A3-A25B-01B5-EF2C96F8769E}"/>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7" name="TextBox 6">
            <a:extLst>
              <a:ext uri="{FF2B5EF4-FFF2-40B4-BE49-F238E27FC236}">
                <a16:creationId xmlns:a16="http://schemas.microsoft.com/office/drawing/2014/main" id="{DEC03226-7DF6-245A-E2C1-5F036A93CDF8}"/>
              </a:ext>
            </a:extLst>
          </p:cNvPr>
          <p:cNvSpPr txBox="1"/>
          <p:nvPr/>
        </p:nvSpPr>
        <p:spPr>
          <a:xfrm>
            <a:off x="1125415" y="2063262"/>
            <a:ext cx="10294287" cy="3769622"/>
          </a:xfrm>
          <a:prstGeom prst="rect">
            <a:avLst/>
          </a:prstGeom>
          <a:noFill/>
        </p:spPr>
        <p:txBody>
          <a:bodyPr wrap="square">
            <a:spAutoFit/>
          </a:bodyPr>
          <a:lstStyle/>
          <a:p>
            <a:pPr marL="0" marR="0">
              <a:lnSpc>
                <a:spcPct val="115000"/>
              </a:lnSpc>
              <a:spcAft>
                <a:spcPts val="800"/>
              </a:spcAft>
              <a:buNone/>
            </a:pPr>
            <a:r>
              <a:rPr lang="en-US" b="1" kern="100" dirty="0">
                <a:effectLst/>
                <a:latin typeface="Aptos" panose="020B0004020202020204" pitchFamily="34" charset="0"/>
                <a:ea typeface="DengXian" panose="02010600030101010101" pitchFamily="2" charset="-122"/>
                <a:cs typeface="Courier New" panose="02070309020205020404" pitchFamily="49" charset="0"/>
              </a:rPr>
              <a:t>try-except block definition:</a:t>
            </a:r>
            <a:endParaRPr lang="en-US"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Courier New" panose="02070309020205020404" pitchFamily="49" charset="0"/>
                <a:ea typeface="DengXian" panose="02010600030101010101" pitchFamily="2" charset="-122"/>
                <a:cs typeface="Times New Roman" panose="02020603050405020304" pitchFamily="18" charset="0"/>
              </a:rPr>
              <a:t>try:# Code that might raise an exception</a:t>
            </a:r>
            <a:endParaRPr lang="en-US"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Courier New" panose="02070309020205020404" pitchFamily="49" charset="0"/>
                <a:ea typeface="DengXian" panose="02010600030101010101" pitchFamily="2" charset="-122"/>
                <a:cs typeface="Times New Roman" panose="02020603050405020304" pitchFamily="18" charset="0"/>
              </a:rPr>
              <a:t>except [</a:t>
            </a:r>
            <a:r>
              <a:rPr lang="en-US" kern="100" dirty="0" err="1">
                <a:effectLst/>
                <a:latin typeface="Courier New" panose="02070309020205020404" pitchFamily="49" charset="0"/>
                <a:ea typeface="DengXian" panose="02010600030101010101" pitchFamily="2" charset="-122"/>
                <a:cs typeface="Times New Roman" panose="02020603050405020304" pitchFamily="18" charset="0"/>
              </a:rPr>
              <a:t>ExceptionType</a:t>
            </a:r>
            <a:r>
              <a:rPr lang="en-US"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Courier New" panose="02070309020205020404" pitchFamily="49" charset="0"/>
                <a:ea typeface="DengXian" panose="02010600030101010101" pitchFamily="2" charset="-122"/>
                <a:cs typeface="Times New Roman" panose="02020603050405020304" pitchFamily="18" charset="0"/>
              </a:rPr>
              <a:t>    # Code that continues to run in case of the exception </a:t>
            </a:r>
            <a:endParaRPr lang="en-US"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Courier New" panose="02070309020205020404" pitchFamily="49" charset="0"/>
                <a:ea typeface="DengXian" panose="02010600030101010101" pitchFamily="2" charset="-122"/>
                <a:cs typeface="Times New Roman" panose="02020603050405020304" pitchFamily="18" charset="0"/>
              </a:rPr>
              <a:t>[except (ExceptionType1, ExceptionType2) as e:</a:t>
            </a:r>
            <a:endParaRPr lang="en-US"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indent="304800">
              <a:lnSpc>
                <a:spcPct val="115000"/>
              </a:lnSpc>
              <a:spcAft>
                <a:spcPts val="800"/>
              </a:spcAft>
              <a:buNone/>
            </a:pPr>
            <a:r>
              <a:rPr lang="en-US" kern="100" dirty="0">
                <a:effectLst/>
                <a:latin typeface="Courier New" panose="02070309020205020404" pitchFamily="49" charset="0"/>
                <a:ea typeface="DengXian" panose="02010600030101010101" pitchFamily="2" charset="-122"/>
                <a:cs typeface="Times New Roman" panose="02020603050405020304" pitchFamily="18" charset="0"/>
              </a:rPr>
              <a:t># Code that continues to run in case one of the exceptions]</a:t>
            </a:r>
            <a:endParaRPr lang="en-US"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Courier New" panose="02070309020205020404" pitchFamily="49" charset="0"/>
                <a:ea typeface="DengXian" panose="02010600030101010101" pitchFamily="2" charset="-122"/>
                <a:cs typeface="Times New Roman" panose="02020603050405020304" pitchFamily="18" charset="0"/>
              </a:rPr>
              <a:t>[else:    # Code that continues to run if no exception occurs</a:t>
            </a:r>
            <a:endParaRPr lang="en-US"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buNone/>
            </a:pPr>
            <a:r>
              <a:rPr lang="en-US" kern="100" dirty="0">
                <a:effectLst/>
                <a:latin typeface="Courier New" panose="02070309020205020404" pitchFamily="49" charset="0"/>
                <a:ea typeface="DengXian" panose="02010600030101010101" pitchFamily="2" charset="-122"/>
                <a:cs typeface="Times New Roman" panose="02020603050405020304" pitchFamily="18" charset="0"/>
              </a:rPr>
              <a:t>finally:    # Code that always runs, regardless of exceptions]</a:t>
            </a:r>
            <a:endParaRPr lang="en-US"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4984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1B6B5-E669-7B13-4102-EC7C80997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7611F-F1A7-549A-E14F-717C55B1E4A6}"/>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B0ED4101-9693-7A92-8C9A-6F187AA73ADB}"/>
              </a:ext>
            </a:extLst>
          </p:cNvPr>
          <p:cNvSpPr>
            <a:spLocks noGrp="1"/>
          </p:cNvSpPr>
          <p:nvPr>
            <p:ph idx="1"/>
          </p:nvPr>
        </p:nvSpPr>
        <p:spPr>
          <a:xfrm>
            <a:off x="772298" y="1438447"/>
            <a:ext cx="10515600" cy="4351338"/>
          </a:xfrm>
        </p:spPr>
        <p:txBody>
          <a:bodyPr>
            <a:normAutofit fontScale="92500" lnSpcReduction="20000"/>
          </a:bodyPr>
          <a:lstStyle/>
          <a:p>
            <a:r>
              <a:rPr lang="en-US" dirty="0"/>
              <a:t>Indexing and Slicing</a:t>
            </a:r>
          </a:p>
          <a:p>
            <a:pPr lvl="1">
              <a:buFont typeface="Wingdings" panose="05000000000000000000" pitchFamily="2" charset="2"/>
              <a:buChar char="§"/>
            </a:pPr>
            <a:r>
              <a:rPr lang="en-US" dirty="0"/>
              <a:t>access elements within sequences </a:t>
            </a:r>
          </a:p>
          <a:p>
            <a:pPr lvl="1">
              <a:buFont typeface="Wingdings" panose="05000000000000000000" pitchFamily="2" charset="2"/>
              <a:buChar char="§"/>
            </a:pPr>
            <a:r>
              <a:rPr lang="en-US" dirty="0"/>
              <a:t>indexing: extract a single element using its position </a:t>
            </a:r>
          </a:p>
          <a:p>
            <a:pPr lvl="2">
              <a:buFont typeface="Courier New" panose="02070309020205020404" pitchFamily="49" charset="0"/>
              <a:buChar char="o"/>
            </a:pPr>
            <a:r>
              <a:rPr lang="en-US" dirty="0"/>
              <a:t>index starting from 0 (zero-based indexing) </a:t>
            </a:r>
          </a:p>
          <a:p>
            <a:pPr lvl="2">
              <a:buFont typeface="Courier New" panose="02070309020205020404" pitchFamily="49" charset="0"/>
              <a:buChar char="o"/>
            </a:pPr>
            <a:r>
              <a:rPr lang="en-US" dirty="0"/>
              <a:t>use square brackets[] with the index within them to access an element </a:t>
            </a:r>
          </a:p>
          <a:p>
            <a:pPr lvl="2">
              <a:buFont typeface="Courier New" panose="02070309020205020404" pitchFamily="49" charset="0"/>
              <a:buChar char="o"/>
            </a:pPr>
            <a:r>
              <a:rPr lang="en-US" dirty="0"/>
              <a:t>allows negative indexing to access elements from the end of the sequence: -1 refers to the last element, -2 to the second-last, and so on</a:t>
            </a:r>
          </a:p>
          <a:p>
            <a:pPr lvl="1">
              <a:buFont typeface="Wingdings" panose="05000000000000000000" pitchFamily="2" charset="2"/>
              <a:buChar char="§"/>
            </a:pPr>
            <a:r>
              <a:rPr lang="en-US" dirty="0"/>
              <a:t>Slicing: extract a sub-sequence </a:t>
            </a:r>
          </a:p>
          <a:p>
            <a:pPr lvl="2">
              <a:buFont typeface="Courier New" panose="02070309020205020404" pitchFamily="49" charset="0"/>
              <a:buChar char="o"/>
            </a:pPr>
            <a:r>
              <a:rPr lang="en-US" dirty="0"/>
              <a:t>use square brackets [] with a start index, an end index, and an optional step (separated by colons): [</a:t>
            </a:r>
            <a:r>
              <a:rPr lang="en-US" dirty="0" err="1"/>
              <a:t>start:end:step</a:t>
            </a:r>
            <a:r>
              <a:rPr lang="en-US" dirty="0"/>
              <a:t>] </a:t>
            </a:r>
          </a:p>
          <a:p>
            <a:pPr lvl="2">
              <a:buFont typeface="Courier New" panose="02070309020205020404" pitchFamily="49" charset="0"/>
              <a:buChar char="o"/>
            </a:pPr>
            <a:r>
              <a:rPr lang="en-US" dirty="0"/>
              <a:t>The end index in slicing is exclusive </a:t>
            </a:r>
          </a:p>
          <a:p>
            <a:pPr lvl="2">
              <a:buFont typeface="Courier New" panose="02070309020205020404" pitchFamily="49" charset="0"/>
              <a:buChar char="o"/>
            </a:pPr>
            <a:r>
              <a:rPr lang="en-US" dirty="0"/>
              <a:t>can omit the start or end index in slicing to use the default values. If the step is omitted, the default step is 1</a:t>
            </a:r>
          </a:p>
          <a:p>
            <a:pPr>
              <a:buFont typeface="Courier New" panose="02070309020205020404" pitchFamily="49" charset="0"/>
              <a:buChar char="o"/>
            </a:pPr>
            <a:endParaRPr lang="en-US" dirty="0"/>
          </a:p>
          <a:p>
            <a:pPr marL="228600" lvl="1" indent="0">
              <a:lnSpc>
                <a:spcPct val="115000"/>
              </a:lnSpc>
              <a:spcAft>
                <a:spcPts val="800"/>
              </a:spcAft>
              <a:buNone/>
            </a:pPr>
            <a:r>
              <a:rPr lang="en-US" sz="1400" kern="100" dirty="0">
                <a:latin typeface="Aptos" panose="020B0004020202020204" pitchFamily="34" charset="0"/>
                <a:ea typeface="DengXian" panose="02010600030101010101" pitchFamily="2" charset="-122"/>
                <a:cs typeface="Times New Roman" panose="02020603050405020304" pitchFamily="18" charset="0"/>
              </a:rPr>
              <a:t>        </a:t>
            </a:r>
            <a:r>
              <a:rPr lang="en-US" sz="1400" kern="100" dirty="0">
                <a:effectLst/>
                <a:latin typeface="Aptos" panose="020B0004020202020204" pitchFamily="34" charset="0"/>
                <a:ea typeface="DengXian" panose="02010600030101010101" pitchFamily="2" charset="-122"/>
                <a:cs typeface="Times New Roman" panose="02020603050405020304" pitchFamily="18" charset="0"/>
              </a:rPr>
              <a:t> </a:t>
            </a:r>
            <a:endParaRPr lang="en-US" sz="1400" kern="100" dirty="0">
              <a:effectLst/>
              <a:latin typeface="Courier New" panose="02070309020205020404" pitchFamily="49" charset="0"/>
              <a:ea typeface="DengXian" panose="02010600030101010101" pitchFamily="2" charset="-122"/>
              <a:cs typeface="Times New Roman" panose="02020603050405020304" pitchFamily="18" charset="0"/>
            </a:endParaRP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FDD34B73-09A3-0ED5-81FF-9A43C07B5F86}"/>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3974400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990CA-68D0-D9A3-0215-F3C184E30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FD45C-C9A2-BDFA-4EA1-B327E9B570FE}"/>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1A35C032-CC1F-6BCD-1045-94CE8681EC72}"/>
              </a:ext>
            </a:extLst>
          </p:cNvPr>
          <p:cNvSpPr>
            <a:spLocks noGrp="1"/>
          </p:cNvSpPr>
          <p:nvPr>
            <p:ph idx="1"/>
          </p:nvPr>
        </p:nvSpPr>
        <p:spPr>
          <a:xfrm>
            <a:off x="772298" y="1438447"/>
            <a:ext cx="10515600" cy="4351338"/>
          </a:xfrm>
        </p:spPr>
        <p:txBody>
          <a:bodyPr>
            <a:normAutofit/>
          </a:bodyPr>
          <a:lstStyle/>
          <a:p>
            <a:r>
              <a:rPr lang="en-US" dirty="0"/>
              <a:t>indexing and slicing</a:t>
            </a:r>
          </a:p>
          <a:p>
            <a:endParaRPr lang="en-US" dirty="0"/>
          </a:p>
        </p:txBody>
      </p:sp>
      <p:pic>
        <p:nvPicPr>
          <p:cNvPr id="4" name="Picture 3">
            <a:extLst>
              <a:ext uri="{FF2B5EF4-FFF2-40B4-BE49-F238E27FC236}">
                <a16:creationId xmlns:a16="http://schemas.microsoft.com/office/drawing/2014/main" id="{8AC9F498-68D9-1A2F-A0B3-358F432E003B}"/>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5" name="Text Box 2">
            <a:extLst>
              <a:ext uri="{FF2B5EF4-FFF2-40B4-BE49-F238E27FC236}">
                <a16:creationId xmlns:a16="http://schemas.microsoft.com/office/drawing/2014/main" id="{75174D36-1729-F96A-64FE-5ABCF6816008}"/>
              </a:ext>
            </a:extLst>
          </p:cNvPr>
          <p:cNvSpPr txBox="1">
            <a:spLocks noChangeArrowheads="1"/>
          </p:cNvSpPr>
          <p:nvPr/>
        </p:nvSpPr>
        <p:spPr bwMode="auto">
          <a:xfrm>
            <a:off x="1095632" y="1952625"/>
            <a:ext cx="9901882" cy="3539430"/>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 [10, "hello", 9.99, True, [1, 2, 3], {"language": "Python"}]</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access first item</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print("first item: ",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[0])</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access last item</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print("last item: ",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[-1])</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access the second to the fourth items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print("the second to the fourth items: ",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[1: 4])</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use slice assignment to append a list at back or at front, or remove part of a list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len</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):]=['X', 'Y', 'Z']</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print("use slice to append at back: ",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[:0] = ['A', 'B', 'C']</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print("use slice to append at front: ",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[9:-1]=[]</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print("use slice to remove: ",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 use negative step for reversing</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print("after reversing: ", </a:t>
            </a:r>
            <a:r>
              <a:rPr lang="en-US" sz="14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400" kern="100" dirty="0">
                <a:effectLst/>
                <a:latin typeface="Courier New" panose="02070309020205020404" pitchFamily="49" charset="0"/>
                <a:ea typeface="DengXian" panose="02010600030101010101" pitchFamily="2" charset="-122"/>
                <a:cs typeface="Times New Roman" panose="02020603050405020304" pitchFamily="18" charset="0"/>
              </a:rPr>
              <a:t>[::-1])</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29148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94142-072D-E3F6-CAD3-5A16D4ABD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36BB4-60CE-7EB3-8F0F-4AB17E938928}"/>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45F8DB35-D7D7-B992-A5F7-C0FA0E155DDF}"/>
              </a:ext>
            </a:extLst>
          </p:cNvPr>
          <p:cNvSpPr>
            <a:spLocks noGrp="1"/>
          </p:cNvSpPr>
          <p:nvPr>
            <p:ph idx="1"/>
          </p:nvPr>
        </p:nvSpPr>
        <p:spPr>
          <a:xfrm>
            <a:off x="772298" y="1438447"/>
            <a:ext cx="10515600" cy="4351338"/>
          </a:xfrm>
        </p:spPr>
        <p:txBody>
          <a:bodyPr>
            <a:normAutofit/>
          </a:bodyPr>
          <a:lstStyle/>
          <a:p>
            <a:r>
              <a:rPr lang="en-US" dirty="0"/>
              <a:t>zip( ) built-in function </a:t>
            </a:r>
          </a:p>
          <a:p>
            <a:pPr lvl="1">
              <a:buFont typeface="Wingdings" panose="05000000000000000000" pitchFamily="2" charset="2"/>
              <a:buChar char="§"/>
            </a:pPr>
            <a:r>
              <a:rPr lang="en-US" dirty="0"/>
              <a:t>creates an iterator that aggregates elements from multiple sequences, and pair them together </a:t>
            </a:r>
          </a:p>
          <a:p>
            <a:pPr>
              <a:buFont typeface="Courier New" panose="02070309020205020404" pitchFamily="49" charset="0"/>
              <a:buChar char="o"/>
            </a:pPr>
            <a:endParaRPr lang="en-US" dirty="0"/>
          </a:p>
          <a:p>
            <a:pPr marL="228600" lvl="1" indent="0">
              <a:lnSpc>
                <a:spcPct val="115000"/>
              </a:lnSpc>
              <a:spcAft>
                <a:spcPts val="800"/>
              </a:spcAft>
              <a:buNone/>
            </a:pPr>
            <a:r>
              <a:rPr lang="en-US" sz="1400" kern="100" dirty="0">
                <a:latin typeface="Aptos" panose="020B0004020202020204" pitchFamily="34" charset="0"/>
                <a:ea typeface="DengXian" panose="02010600030101010101" pitchFamily="2" charset="-122"/>
                <a:cs typeface="Times New Roman" panose="02020603050405020304" pitchFamily="18" charset="0"/>
              </a:rPr>
              <a:t>        </a:t>
            </a:r>
            <a:r>
              <a:rPr lang="en-US" sz="1400" kern="100" dirty="0">
                <a:effectLst/>
                <a:latin typeface="Aptos" panose="020B0004020202020204" pitchFamily="34" charset="0"/>
                <a:ea typeface="DengXian" panose="02010600030101010101" pitchFamily="2" charset="-122"/>
                <a:cs typeface="Times New Roman" panose="02020603050405020304" pitchFamily="18" charset="0"/>
              </a:rPr>
              <a:t> </a:t>
            </a:r>
            <a:endParaRPr lang="en-US" sz="1400" kern="100" dirty="0">
              <a:effectLst/>
              <a:latin typeface="Courier New" panose="02070309020205020404" pitchFamily="49" charset="0"/>
              <a:ea typeface="DengXian" panose="02010600030101010101" pitchFamily="2" charset="-122"/>
              <a:cs typeface="Times New Roman" panose="02020603050405020304" pitchFamily="18" charset="0"/>
            </a:endParaRP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91D5FC24-58BC-016E-C367-73E602991FAD}"/>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5" name="Text Box 2">
            <a:extLst>
              <a:ext uri="{FF2B5EF4-FFF2-40B4-BE49-F238E27FC236}">
                <a16:creationId xmlns:a16="http://schemas.microsoft.com/office/drawing/2014/main" id="{249D22E5-9106-9D3D-E9F5-F20DF0D52EDD}"/>
              </a:ext>
            </a:extLst>
          </p:cNvPr>
          <p:cNvSpPr txBox="1">
            <a:spLocks noChangeArrowheads="1"/>
          </p:cNvSpPr>
          <p:nvPr/>
        </p:nvSpPr>
        <p:spPr bwMode="auto">
          <a:xfrm>
            <a:off x="1335559" y="2710679"/>
            <a:ext cx="9703144" cy="1806773"/>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tickers = ["GOOG", "TSLA"]</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prices = [172, 175]</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Combine tickers and prices into a list of tuples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stocks = list(zip(tickers, prices))  # zip returns an iterator, convert to list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print(stocks)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82386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24AB0-4F85-95A7-025D-88C7F36FD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DB0C1E-8B93-1C4D-9057-A7F61B9A8CF5}"/>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4B4CC743-7631-8B58-F621-C424270A4E8C}"/>
              </a:ext>
            </a:extLst>
          </p:cNvPr>
          <p:cNvSpPr>
            <a:spLocks noGrp="1"/>
          </p:cNvSpPr>
          <p:nvPr>
            <p:ph idx="1"/>
          </p:nvPr>
        </p:nvSpPr>
        <p:spPr>
          <a:xfrm>
            <a:off x="772298" y="1438447"/>
            <a:ext cx="10515600" cy="4351338"/>
          </a:xfrm>
        </p:spPr>
        <p:txBody>
          <a:bodyPr>
            <a:normAutofit/>
          </a:bodyPr>
          <a:lstStyle/>
          <a:p>
            <a:r>
              <a:rPr lang="en-US" dirty="0"/>
              <a:t>* and ** as function arguments/parameters</a:t>
            </a:r>
          </a:p>
          <a:p>
            <a:pPr lvl="1">
              <a:buFont typeface="Wingdings" panose="05000000000000000000" pitchFamily="2" charset="2"/>
              <a:buChar char="§"/>
            </a:pPr>
            <a:r>
              <a:rPr lang="en-US" dirty="0"/>
              <a:t>* unpacking arguments from </a:t>
            </a:r>
            <a:r>
              <a:rPr lang="en-US" dirty="0" err="1"/>
              <a:t>iterables</a:t>
            </a:r>
            <a:r>
              <a:rPr lang="en-US" dirty="0"/>
              <a:t> (like lists, tuples) into individual arguments for the function</a:t>
            </a:r>
          </a:p>
          <a:p>
            <a:pPr lvl="1">
              <a:buFont typeface="Wingdings" panose="05000000000000000000" pitchFamily="2" charset="2"/>
              <a:buChar char="§"/>
            </a:pPr>
            <a:endParaRPr lang="en-US" dirty="0"/>
          </a:p>
          <a:p>
            <a:pPr>
              <a:buFont typeface="Courier New" panose="02070309020205020404" pitchFamily="49" charset="0"/>
              <a:buChar char="o"/>
            </a:pPr>
            <a:endParaRPr lang="en-US" dirty="0"/>
          </a:p>
          <a:p>
            <a:pPr marL="228600" lvl="1" indent="0">
              <a:lnSpc>
                <a:spcPct val="115000"/>
              </a:lnSpc>
              <a:spcAft>
                <a:spcPts val="800"/>
              </a:spcAft>
              <a:buNone/>
            </a:pPr>
            <a:r>
              <a:rPr lang="en-US" sz="1400" kern="100" dirty="0">
                <a:latin typeface="Aptos" panose="020B0004020202020204" pitchFamily="34" charset="0"/>
                <a:ea typeface="DengXian" panose="02010600030101010101" pitchFamily="2" charset="-122"/>
                <a:cs typeface="Times New Roman" panose="02020603050405020304" pitchFamily="18" charset="0"/>
              </a:rPr>
              <a:t>        </a:t>
            </a:r>
            <a:r>
              <a:rPr lang="en-US" sz="1400" kern="100" dirty="0">
                <a:effectLst/>
                <a:latin typeface="Aptos" panose="020B0004020202020204" pitchFamily="34" charset="0"/>
                <a:ea typeface="DengXian" panose="02010600030101010101" pitchFamily="2" charset="-122"/>
                <a:cs typeface="Times New Roman" panose="02020603050405020304" pitchFamily="18" charset="0"/>
              </a:rPr>
              <a:t> </a:t>
            </a:r>
            <a:endParaRPr lang="en-US" sz="1400" kern="100" dirty="0">
              <a:effectLst/>
              <a:latin typeface="Courier New" panose="02070309020205020404" pitchFamily="49" charset="0"/>
              <a:ea typeface="DengXian" panose="02010600030101010101" pitchFamily="2" charset="-122"/>
              <a:cs typeface="Times New Roman" panose="02020603050405020304" pitchFamily="18" charset="0"/>
            </a:endParaRP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D8EE98C1-F48A-F5DC-991C-4CA7291FE851}"/>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6" name="Text Box 2">
            <a:extLst>
              <a:ext uri="{FF2B5EF4-FFF2-40B4-BE49-F238E27FC236}">
                <a16:creationId xmlns:a16="http://schemas.microsoft.com/office/drawing/2014/main" id="{B7D1C87A-A535-F343-7BA4-997F9AA6E6DC}"/>
              </a:ext>
            </a:extLst>
          </p:cNvPr>
          <p:cNvSpPr txBox="1">
            <a:spLocks noChangeArrowheads="1"/>
          </p:cNvSpPr>
          <p:nvPr/>
        </p:nvSpPr>
        <p:spPr bwMode="auto">
          <a:xfrm>
            <a:off x="1310846" y="2705725"/>
            <a:ext cx="9266538" cy="1815882"/>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Unpacking Arguments when used for arguments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def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do_unpack</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(ticker, price):</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print(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f"Storck</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Ticker: {ticker}, Price: {price}")</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Call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do_unpack</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with each ticker-price tuple</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for stock in stocks: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do_unpack</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(*stock)  # Unpack the tuple into ticker and price arguments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20145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5BC3D-438C-DEAB-7049-371FFDB55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F02CE-DF14-44F3-A645-EE0EAA8A3B30}"/>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D45D9209-B2F8-B9C8-CD6C-7F950350BD80}"/>
              </a:ext>
            </a:extLst>
          </p:cNvPr>
          <p:cNvSpPr>
            <a:spLocks noGrp="1"/>
          </p:cNvSpPr>
          <p:nvPr>
            <p:ph idx="1"/>
          </p:nvPr>
        </p:nvSpPr>
        <p:spPr>
          <a:xfrm>
            <a:off x="772298" y="1438447"/>
            <a:ext cx="10515600" cy="4351338"/>
          </a:xfrm>
        </p:spPr>
        <p:txBody>
          <a:bodyPr>
            <a:normAutofit/>
          </a:bodyPr>
          <a:lstStyle/>
          <a:p>
            <a:r>
              <a:rPr lang="en-US" dirty="0"/>
              <a:t>* and ** as function arguments/parameters</a:t>
            </a:r>
          </a:p>
          <a:p>
            <a:pPr lvl="1">
              <a:buFont typeface="Wingdings" panose="05000000000000000000" pitchFamily="2" charset="2"/>
              <a:buChar char="§"/>
            </a:pPr>
            <a:r>
              <a:rPr lang="en-US" dirty="0"/>
              <a:t>* catching variable number of arguments: capture any number of arguments passed to the function as a tuple</a:t>
            </a:r>
          </a:p>
          <a:p>
            <a:pPr>
              <a:buFont typeface="Courier New" panose="02070309020205020404" pitchFamily="49" charset="0"/>
              <a:buChar char="o"/>
            </a:pPr>
            <a:endParaRPr lang="en-US" dirty="0"/>
          </a:p>
          <a:p>
            <a:pPr marL="228600" lvl="1" indent="0">
              <a:lnSpc>
                <a:spcPct val="115000"/>
              </a:lnSpc>
              <a:spcAft>
                <a:spcPts val="800"/>
              </a:spcAft>
              <a:buNone/>
            </a:pPr>
            <a:r>
              <a:rPr lang="en-US" sz="1400" kern="100" dirty="0">
                <a:latin typeface="Aptos" panose="020B0004020202020204" pitchFamily="34" charset="0"/>
                <a:ea typeface="DengXian" panose="02010600030101010101" pitchFamily="2" charset="-122"/>
                <a:cs typeface="Times New Roman" panose="02020603050405020304" pitchFamily="18" charset="0"/>
              </a:rPr>
              <a:t>        </a:t>
            </a:r>
            <a:r>
              <a:rPr lang="en-US" sz="1400" kern="100" dirty="0">
                <a:effectLst/>
                <a:latin typeface="Aptos" panose="020B0004020202020204" pitchFamily="34" charset="0"/>
                <a:ea typeface="DengXian" panose="02010600030101010101" pitchFamily="2" charset="-122"/>
                <a:cs typeface="Times New Roman" panose="02020603050405020304" pitchFamily="18" charset="0"/>
              </a:rPr>
              <a:t> </a:t>
            </a:r>
            <a:endParaRPr lang="en-US" sz="1400" kern="100" dirty="0">
              <a:effectLst/>
              <a:latin typeface="Courier New" panose="02070309020205020404" pitchFamily="49" charset="0"/>
              <a:ea typeface="DengXian" panose="02010600030101010101" pitchFamily="2" charset="-122"/>
              <a:cs typeface="Times New Roman" panose="02020603050405020304" pitchFamily="18" charset="0"/>
            </a:endParaRP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877B0667-8B94-A96A-531F-0D75ACDA82CE}"/>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5" name="Text Box 2">
            <a:extLst>
              <a:ext uri="{FF2B5EF4-FFF2-40B4-BE49-F238E27FC236}">
                <a16:creationId xmlns:a16="http://schemas.microsoft.com/office/drawing/2014/main" id="{1853B130-1ED3-9422-3881-9FE9E4315D8B}"/>
              </a:ext>
            </a:extLst>
          </p:cNvPr>
          <p:cNvSpPr txBox="1">
            <a:spLocks noChangeArrowheads="1"/>
          </p:cNvSpPr>
          <p:nvPr/>
        </p:nvSpPr>
        <p:spPr bwMode="auto">
          <a:xfrm>
            <a:off x="1360272" y="2764011"/>
            <a:ext cx="8780505" cy="2308324"/>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Catching variable number of arguments when used for parameters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def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sum_all</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(*numbers):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total = 0</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for num in numbers: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total += num</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return total</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result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sum_all</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(1, 2, 3, 4, 5)</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print(result)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49209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581AC-066D-0C15-34A0-FC8BB78ED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F3DF9-FC1F-BCEF-F2F7-41D163E61D46}"/>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B09DECED-424D-44AB-78F1-EBD09CEAC003}"/>
              </a:ext>
            </a:extLst>
          </p:cNvPr>
          <p:cNvSpPr>
            <a:spLocks noGrp="1"/>
          </p:cNvSpPr>
          <p:nvPr>
            <p:ph idx="1"/>
          </p:nvPr>
        </p:nvSpPr>
        <p:spPr>
          <a:xfrm>
            <a:off x="772298" y="1438447"/>
            <a:ext cx="10515600" cy="4351338"/>
          </a:xfrm>
        </p:spPr>
        <p:txBody>
          <a:bodyPr>
            <a:normAutofit/>
          </a:bodyPr>
          <a:lstStyle/>
          <a:p>
            <a:r>
              <a:rPr lang="en-US" dirty="0"/>
              <a:t>** syntax </a:t>
            </a:r>
          </a:p>
          <a:p>
            <a:pPr lvl="1">
              <a:buFont typeface="Wingdings" panose="05000000000000000000" pitchFamily="2" charset="2"/>
              <a:buChar char="§"/>
            </a:pPr>
            <a:r>
              <a:rPr lang="en-US" dirty="0"/>
              <a:t>can be used both in function parameters to accept keyword arguments and in keyword argument unpacking to pass arguments</a:t>
            </a:r>
          </a:p>
          <a:p>
            <a:pPr marL="228600" lvl="1" indent="0">
              <a:lnSpc>
                <a:spcPct val="115000"/>
              </a:lnSpc>
              <a:spcAft>
                <a:spcPts val="800"/>
              </a:spcAft>
              <a:buNone/>
            </a:pPr>
            <a:r>
              <a:rPr lang="en-US" sz="1400" kern="100" dirty="0">
                <a:latin typeface="Aptos" panose="020B0004020202020204" pitchFamily="34" charset="0"/>
                <a:ea typeface="DengXian" panose="02010600030101010101" pitchFamily="2" charset="-122"/>
                <a:cs typeface="Times New Roman" panose="02020603050405020304" pitchFamily="18" charset="0"/>
              </a:rPr>
              <a:t>        </a:t>
            </a:r>
            <a:r>
              <a:rPr lang="en-US" sz="1400" kern="100" dirty="0">
                <a:effectLst/>
                <a:latin typeface="Aptos" panose="020B0004020202020204" pitchFamily="34" charset="0"/>
                <a:ea typeface="DengXian" panose="02010600030101010101" pitchFamily="2" charset="-122"/>
                <a:cs typeface="Times New Roman" panose="02020603050405020304" pitchFamily="18" charset="0"/>
              </a:rPr>
              <a:t> </a:t>
            </a:r>
            <a:endParaRPr lang="en-US" sz="1400" kern="100" dirty="0">
              <a:effectLst/>
              <a:latin typeface="Courier New" panose="02070309020205020404" pitchFamily="49" charset="0"/>
              <a:ea typeface="DengXian" panose="02010600030101010101" pitchFamily="2" charset="-122"/>
              <a:cs typeface="Times New Roman" panose="02020603050405020304" pitchFamily="18" charset="0"/>
            </a:endParaRP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911D5135-CF9E-0446-6AC0-84F3FEF46ECA}"/>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6" name="Text Box 2">
            <a:extLst>
              <a:ext uri="{FF2B5EF4-FFF2-40B4-BE49-F238E27FC236}">
                <a16:creationId xmlns:a16="http://schemas.microsoft.com/office/drawing/2014/main" id="{B7FFC094-AAC6-EBFD-36D7-15756A0F7A23}"/>
              </a:ext>
            </a:extLst>
          </p:cNvPr>
          <p:cNvSpPr txBox="1">
            <a:spLocks noChangeArrowheads="1"/>
          </p:cNvSpPr>
          <p:nvPr/>
        </p:nvSpPr>
        <p:spPr bwMode="auto">
          <a:xfrm>
            <a:off x="1368510" y="2636925"/>
            <a:ext cx="9406581" cy="2800767"/>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def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unpack_dictionary</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kwargs</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for key, value in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kwargs.items</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print(f"{key}: {value}")</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Creating a dictionary</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stock_dict</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dict</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(zip(tickers, prices))</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Passing the dictionary to the function using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stock_dict</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unpacks the key-value pairs of the dictionary, and each pair becomes a separate keyword argument to the function</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unpack_dictionary</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r>
              <a:rPr lang="en-US" sz="1600" kern="100" dirty="0" err="1">
                <a:effectLst/>
                <a:latin typeface="Courier New" panose="02070309020205020404" pitchFamily="49" charset="0"/>
                <a:ea typeface="DengXian" panose="02010600030101010101" pitchFamily="2" charset="-122"/>
                <a:cs typeface="Times New Roman" panose="02020603050405020304" pitchFamily="18" charset="0"/>
              </a:rPr>
              <a:t>stock_dict</a:t>
            </a:r>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80410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33615-A13A-A0F7-DAA8-A0FCC6578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1EED2-3CD2-8A01-EB50-E227AFDC4FDA}"/>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30A989F4-744A-1B9C-4D47-6A41CBCADFE2}"/>
              </a:ext>
            </a:extLst>
          </p:cNvPr>
          <p:cNvSpPr>
            <a:spLocks noGrp="1"/>
          </p:cNvSpPr>
          <p:nvPr>
            <p:ph idx="1"/>
          </p:nvPr>
        </p:nvSpPr>
        <p:spPr>
          <a:xfrm>
            <a:off x="772298" y="1438447"/>
            <a:ext cx="10515600" cy="4351338"/>
          </a:xfrm>
        </p:spPr>
        <p:txBody>
          <a:bodyPr>
            <a:normAutofit/>
          </a:bodyPr>
          <a:lstStyle/>
          <a:p>
            <a:r>
              <a:rPr lang="en-US" dirty="0"/>
              <a:t>Python Comprehensions  and Generator Expression</a:t>
            </a:r>
          </a:p>
          <a:p>
            <a:pPr lvl="1">
              <a:buFont typeface="Wingdings" panose="05000000000000000000" pitchFamily="2" charset="2"/>
              <a:buChar char="§"/>
            </a:pPr>
            <a:r>
              <a:rPr lang="en-US" dirty="0"/>
              <a:t>comprehension: build a sequence data structure, such as a list, set, or dictionary, using existing sequences</a:t>
            </a:r>
          </a:p>
          <a:p>
            <a:pPr lvl="1">
              <a:buFont typeface="Wingdings" panose="05000000000000000000" pitchFamily="2" charset="2"/>
              <a:buChar char="§"/>
            </a:pPr>
            <a:r>
              <a:rPr lang="en-US" dirty="0"/>
              <a:t>for tuple comprehension: use the tuple() constructor in combination with a generator expression</a:t>
            </a:r>
          </a:p>
          <a:p>
            <a:pPr lvl="1">
              <a:buFont typeface="Wingdings" panose="05000000000000000000" pitchFamily="2" charset="2"/>
              <a:buChar char="§"/>
            </a:pPr>
            <a:r>
              <a:rPr lang="en-US" dirty="0"/>
              <a:t>generator: </a:t>
            </a:r>
          </a:p>
          <a:p>
            <a:pPr lvl="2">
              <a:buFont typeface="Courier New" panose="02070309020205020404" pitchFamily="49" charset="0"/>
              <a:buChar char="o"/>
            </a:pPr>
            <a:r>
              <a:rPr lang="en-US" dirty="0"/>
              <a:t>a special type of iterator that supports iteration over a sequence of elements </a:t>
            </a:r>
          </a:p>
          <a:p>
            <a:pPr lvl="2">
              <a:buFont typeface="Courier New" panose="02070309020205020404" pitchFamily="49" charset="0"/>
              <a:buChar char="o"/>
            </a:pPr>
            <a:r>
              <a:rPr lang="en-US" dirty="0"/>
              <a:t>doesn’t store the entire sequence in memory but generates one element at a time on demand </a:t>
            </a:r>
          </a:p>
          <a:p>
            <a:pPr lvl="2">
              <a:buFont typeface="Courier New" panose="02070309020205020404" pitchFamily="49" charset="0"/>
              <a:buChar char="o"/>
            </a:pPr>
            <a:r>
              <a:rPr lang="en-US" dirty="0"/>
              <a:t>memory-efficient and capable of handling even infinite sequences </a:t>
            </a:r>
          </a:p>
          <a:p>
            <a:pPr marL="457200" lvl="1" indent="0">
              <a:buNone/>
            </a:pPr>
            <a:r>
              <a:rPr lang="en-US" sz="1400" kern="100" dirty="0">
                <a:latin typeface="Aptos" panose="020B0004020202020204" pitchFamily="34" charset="0"/>
                <a:ea typeface="DengXian" panose="02010600030101010101" pitchFamily="2" charset="-122"/>
                <a:cs typeface="Times New Roman" panose="02020603050405020304" pitchFamily="18" charset="0"/>
              </a:rPr>
              <a:t>        </a:t>
            </a:r>
            <a:r>
              <a:rPr lang="en-US" sz="1400" kern="100" dirty="0">
                <a:effectLst/>
                <a:latin typeface="Aptos" panose="020B0004020202020204" pitchFamily="34" charset="0"/>
                <a:ea typeface="DengXian" panose="02010600030101010101" pitchFamily="2" charset="-122"/>
                <a:cs typeface="Times New Roman" panose="02020603050405020304" pitchFamily="18" charset="0"/>
              </a:rPr>
              <a:t> </a:t>
            </a:r>
            <a:endParaRPr lang="en-US" sz="1400" kern="100" dirty="0">
              <a:effectLst/>
              <a:latin typeface="Courier New" panose="02070309020205020404" pitchFamily="49" charset="0"/>
              <a:ea typeface="DengXian" panose="02010600030101010101" pitchFamily="2" charset="-122"/>
              <a:cs typeface="Times New Roman" panose="02020603050405020304" pitchFamily="18" charset="0"/>
            </a:endParaRP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975B9320-A0FF-8435-3DBD-F219CF7299A3}"/>
              </a:ext>
            </a:extLst>
          </p:cNvPr>
          <p:cNvPicPr>
            <a:picLocks noChangeAspect="1"/>
          </p:cNvPicPr>
          <p:nvPr/>
        </p:nvPicPr>
        <p:blipFill>
          <a:blip r:embed="rId2"/>
          <a:stretch>
            <a:fillRect/>
          </a:stretch>
        </p:blipFill>
        <p:spPr>
          <a:xfrm>
            <a:off x="837744" y="6028411"/>
            <a:ext cx="10516511" cy="566977"/>
          </a:xfrm>
          <a:prstGeom prst="rect">
            <a:avLst/>
          </a:prstGeom>
        </p:spPr>
      </p:pic>
    </p:spTree>
    <p:extLst>
      <p:ext uri="{BB962C8B-B14F-4D97-AF65-F5344CB8AC3E}">
        <p14:creationId xmlns:p14="http://schemas.microsoft.com/office/powerpoint/2010/main" val="342682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BCE2-86A8-31FE-B86A-39EE09BF7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280B2-7922-6A69-5D80-EA624CB92989}"/>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B55ADE71-0C30-A047-BC05-E869ECCCEE4E}"/>
              </a:ext>
            </a:extLst>
          </p:cNvPr>
          <p:cNvSpPr>
            <a:spLocks noGrp="1"/>
          </p:cNvSpPr>
          <p:nvPr>
            <p:ph idx="1"/>
          </p:nvPr>
        </p:nvSpPr>
        <p:spPr>
          <a:xfrm>
            <a:off x="772298" y="1438447"/>
            <a:ext cx="10515600" cy="4351338"/>
          </a:xfrm>
        </p:spPr>
        <p:txBody>
          <a:bodyPr>
            <a:normAutofit/>
          </a:bodyPr>
          <a:lstStyle/>
          <a:p>
            <a:r>
              <a:rPr lang="en-US" dirty="0"/>
              <a:t>Python Comprehensions  and Generator Expression</a:t>
            </a:r>
          </a:p>
          <a:p>
            <a:pPr marL="457200" lvl="1" indent="0">
              <a:buNone/>
            </a:pPr>
            <a:r>
              <a:rPr lang="en-US" sz="1400" kern="100" dirty="0">
                <a:latin typeface="Aptos" panose="020B0004020202020204" pitchFamily="34" charset="0"/>
                <a:ea typeface="DengXian" panose="02010600030101010101" pitchFamily="2" charset="-122"/>
                <a:cs typeface="Times New Roman" panose="02020603050405020304" pitchFamily="18" charset="0"/>
              </a:rPr>
              <a:t>        </a:t>
            </a:r>
            <a:r>
              <a:rPr lang="en-US" sz="1400" kern="100" dirty="0">
                <a:effectLst/>
                <a:latin typeface="Aptos" panose="020B0004020202020204" pitchFamily="34" charset="0"/>
                <a:ea typeface="DengXian" panose="02010600030101010101" pitchFamily="2" charset="-122"/>
                <a:cs typeface="Times New Roman" panose="02020603050405020304" pitchFamily="18" charset="0"/>
              </a:rPr>
              <a:t> </a:t>
            </a:r>
            <a:endParaRPr lang="en-US" sz="1400" kern="100" dirty="0">
              <a:effectLst/>
              <a:latin typeface="Courier New" panose="02070309020205020404" pitchFamily="49" charset="0"/>
              <a:ea typeface="DengXian" panose="02010600030101010101" pitchFamily="2" charset="-122"/>
              <a:cs typeface="Times New Roman" panose="02020603050405020304" pitchFamily="18" charset="0"/>
            </a:endParaRP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7FBE559C-E035-E111-6409-CAE8B92E3CA8}"/>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6" name="TextBox 5">
            <a:extLst>
              <a:ext uri="{FF2B5EF4-FFF2-40B4-BE49-F238E27FC236}">
                <a16:creationId xmlns:a16="http://schemas.microsoft.com/office/drawing/2014/main" id="{81B2C563-9978-1709-C734-7E8BF4DF6868}"/>
              </a:ext>
            </a:extLst>
          </p:cNvPr>
          <p:cNvSpPr txBox="1"/>
          <p:nvPr/>
        </p:nvSpPr>
        <p:spPr>
          <a:xfrm>
            <a:off x="1084912" y="1929314"/>
            <a:ext cx="10397553" cy="3477875"/>
          </a:xfrm>
          <a:prstGeom prst="rect">
            <a:avLst/>
          </a:prstGeom>
          <a:noFill/>
        </p:spPr>
        <p:txBody>
          <a:bodyPr wrap="square">
            <a:spAutoFit/>
          </a:bodyPr>
          <a:lstStyle/>
          <a:p>
            <a:pPr marL="0" marR="0">
              <a:buNone/>
            </a:pPr>
            <a:r>
              <a:rPr lang="en-US" sz="2000" b="1" kern="100" dirty="0">
                <a:effectLst/>
                <a:latin typeface="Aptos" panose="020B0004020202020204" pitchFamily="34" charset="0"/>
                <a:ea typeface="DengXian" panose="02010600030101010101" pitchFamily="2" charset="-122"/>
                <a:cs typeface="Courier New" panose="02070309020205020404" pitchFamily="49" charset="0"/>
              </a:rPr>
              <a:t>Syntax to create a list comprehension</a:t>
            </a:r>
            <a:r>
              <a:rPr lang="en-US" sz="2000" kern="100" dirty="0">
                <a:effectLst/>
                <a:latin typeface="Aptos" panose="020B0004020202020204" pitchFamily="34" charset="0"/>
                <a:ea typeface="DengXian" panose="02010600030101010101" pitchFamily="2" charset="-122"/>
                <a:cs typeface="Courier New" panose="02070309020205020404" pitchFamily="49" charset="0"/>
              </a:rPr>
              <a:t>: </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[expression for </a:t>
            </a:r>
            <a:r>
              <a:rPr lang="en-US" sz="2000" kern="100" dirty="0" err="1">
                <a:effectLst/>
                <a:latin typeface="Courier New" panose="02070309020205020404" pitchFamily="49" charset="0"/>
                <a:ea typeface="DengXian" panose="02010600030101010101" pitchFamily="2" charset="-122"/>
                <a:cs typeface="Times New Roman" panose="02020603050405020304" pitchFamily="18" charset="0"/>
              </a:rPr>
              <a:t>val</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in collection if condition]</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buNone/>
            </a:pPr>
            <a:r>
              <a:rPr lang="en-US" sz="2000" b="1" kern="100" dirty="0">
                <a:effectLst/>
                <a:latin typeface="Aptos" panose="020B0004020202020204" pitchFamily="34" charset="0"/>
                <a:ea typeface="DengXian" panose="02010600030101010101" pitchFamily="2" charset="-122"/>
                <a:cs typeface="Courier New" panose="02070309020205020404" pitchFamily="49" charset="0"/>
              </a:rPr>
              <a:t>Syntax to create a set comprehension:  </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{expression for </a:t>
            </a:r>
            <a:r>
              <a:rPr lang="en-US" sz="2000" kern="100" dirty="0" err="1">
                <a:effectLst/>
                <a:latin typeface="Courier New" panose="02070309020205020404" pitchFamily="49" charset="0"/>
                <a:ea typeface="DengXian" panose="02010600030101010101" pitchFamily="2" charset="-122"/>
                <a:cs typeface="Times New Roman" panose="02020603050405020304" pitchFamily="18" charset="0"/>
              </a:rPr>
              <a:t>val</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in collection if condition}</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buNone/>
            </a:pPr>
            <a:r>
              <a:rPr lang="en-US" sz="2000" b="1" kern="100" dirty="0">
                <a:effectLst/>
                <a:latin typeface="Aptos" panose="020B0004020202020204" pitchFamily="34" charset="0"/>
                <a:ea typeface="DengXian" panose="02010600030101010101" pitchFamily="2" charset="-122"/>
                <a:cs typeface="Courier New" panose="02070309020205020404" pitchFamily="49" charset="0"/>
              </a:rPr>
              <a:t>Syntax to create a dictionary comprehension: </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a:t>
            </a:r>
            <a:r>
              <a:rPr lang="en-US" sz="2000" kern="100" dirty="0" err="1">
                <a:effectLst/>
                <a:latin typeface="Courier New" panose="02070309020205020404" pitchFamily="49" charset="0"/>
                <a:ea typeface="DengXian" panose="02010600030101010101" pitchFamily="2" charset="-122"/>
                <a:cs typeface="Times New Roman" panose="02020603050405020304" pitchFamily="18" charset="0"/>
              </a:rPr>
              <a:t>key_expression</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2000" kern="100" dirty="0" err="1">
                <a:effectLst/>
                <a:latin typeface="Courier New" panose="02070309020205020404" pitchFamily="49" charset="0"/>
                <a:ea typeface="DengXian" panose="02010600030101010101" pitchFamily="2" charset="-122"/>
                <a:cs typeface="Times New Roman" panose="02020603050405020304" pitchFamily="18" charset="0"/>
              </a:rPr>
              <a:t>value_expression</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for </a:t>
            </a:r>
            <a:r>
              <a:rPr lang="en-US" sz="2000" kern="100" dirty="0" err="1">
                <a:effectLst/>
                <a:latin typeface="Courier New" panose="02070309020205020404" pitchFamily="49" charset="0"/>
                <a:ea typeface="DengXian" panose="02010600030101010101" pitchFamily="2" charset="-122"/>
                <a:cs typeface="Times New Roman" panose="02020603050405020304" pitchFamily="18" charset="0"/>
              </a:rPr>
              <a:t>val</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in collection if condition}</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buNone/>
            </a:pP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buNone/>
            </a:pPr>
            <a:r>
              <a:rPr lang="en-US" sz="2000" b="1" kern="100" dirty="0">
                <a:effectLst/>
                <a:latin typeface="Aptos" panose="020B0004020202020204" pitchFamily="34" charset="0"/>
                <a:ea typeface="DengXian" panose="02010600030101010101" pitchFamily="2" charset="-122"/>
                <a:cs typeface="Courier New" panose="02070309020205020404" pitchFamily="49" charset="0"/>
              </a:rPr>
              <a:t>Syntax to create a generator expression: </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(expression for </a:t>
            </a:r>
            <a:r>
              <a:rPr lang="en-US" sz="2000" kern="100" dirty="0" err="1">
                <a:effectLst/>
                <a:latin typeface="Courier New" panose="02070309020205020404" pitchFamily="49" charset="0"/>
                <a:ea typeface="DengXian" panose="02010600030101010101" pitchFamily="2" charset="-122"/>
                <a:cs typeface="Times New Roman" panose="02020603050405020304" pitchFamily="18" charset="0"/>
              </a:rPr>
              <a:t>val</a:t>
            </a:r>
            <a:r>
              <a:rPr lang="en-US" sz="2000" kern="100" dirty="0">
                <a:effectLst/>
                <a:latin typeface="Courier New" panose="02070309020205020404" pitchFamily="49" charset="0"/>
                <a:ea typeface="DengXian" panose="02010600030101010101" pitchFamily="2" charset="-122"/>
                <a:cs typeface="Times New Roman" panose="02020603050405020304" pitchFamily="18" charset="0"/>
              </a:rPr>
              <a:t> in collection if condition)</a:t>
            </a:r>
            <a:endParaRPr lang="en-US" sz="20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58942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B605E-A178-E599-CEAE-7244E14534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3AD1D-0EEE-EC94-48FF-1D3AC5BB0C14}"/>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3C0AF68D-0F67-1BC9-DDC7-11D1A7A32D18}"/>
              </a:ext>
            </a:extLst>
          </p:cNvPr>
          <p:cNvSpPr>
            <a:spLocks noGrp="1"/>
          </p:cNvSpPr>
          <p:nvPr>
            <p:ph idx="1"/>
          </p:nvPr>
        </p:nvSpPr>
        <p:spPr>
          <a:xfrm>
            <a:off x="772298" y="1438447"/>
            <a:ext cx="10515600" cy="4351338"/>
          </a:xfrm>
        </p:spPr>
        <p:txBody>
          <a:bodyPr>
            <a:normAutofit/>
          </a:bodyPr>
          <a:lstStyle/>
          <a:p>
            <a:r>
              <a:rPr lang="en-US" dirty="0"/>
              <a:t>Python Comprehensions  and Generator Expression</a:t>
            </a:r>
          </a:p>
          <a:p>
            <a:pPr marL="457200" lvl="1" indent="0">
              <a:buNone/>
            </a:pPr>
            <a:r>
              <a:rPr lang="en-US" sz="1400" kern="100" dirty="0">
                <a:latin typeface="Aptos" panose="020B0004020202020204" pitchFamily="34" charset="0"/>
                <a:ea typeface="DengXian" panose="02010600030101010101" pitchFamily="2" charset="-122"/>
                <a:cs typeface="Times New Roman" panose="02020603050405020304" pitchFamily="18" charset="0"/>
              </a:rPr>
              <a:t>        </a:t>
            </a:r>
            <a:r>
              <a:rPr lang="en-US" sz="1400" kern="100" dirty="0">
                <a:effectLst/>
                <a:latin typeface="Aptos" panose="020B0004020202020204" pitchFamily="34" charset="0"/>
                <a:ea typeface="DengXian" panose="02010600030101010101" pitchFamily="2" charset="-122"/>
                <a:cs typeface="Times New Roman" panose="02020603050405020304" pitchFamily="18" charset="0"/>
              </a:rPr>
              <a:t> </a:t>
            </a:r>
            <a:endParaRPr lang="en-US" sz="1400" kern="100" dirty="0">
              <a:effectLst/>
              <a:latin typeface="Courier New" panose="02070309020205020404" pitchFamily="49" charset="0"/>
              <a:ea typeface="DengXian" panose="02010600030101010101" pitchFamily="2" charset="-122"/>
              <a:cs typeface="Times New Roman" panose="02020603050405020304" pitchFamily="18" charset="0"/>
            </a:endParaRP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325ADE80-7307-D354-9BA3-D11FF465DC03}"/>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5" name="Text Box 2">
            <a:extLst>
              <a:ext uri="{FF2B5EF4-FFF2-40B4-BE49-F238E27FC236}">
                <a16:creationId xmlns:a16="http://schemas.microsoft.com/office/drawing/2014/main" id="{5B9215AB-B1E3-C2EE-B5AF-FAEF6F64D6EB}"/>
              </a:ext>
            </a:extLst>
          </p:cNvPr>
          <p:cNvSpPr txBox="1">
            <a:spLocks noChangeArrowheads="1"/>
          </p:cNvSpPr>
          <p:nvPr/>
        </p:nvSpPr>
        <p:spPr bwMode="auto">
          <a:xfrm>
            <a:off x="1128584" y="1951335"/>
            <a:ext cx="10159314" cy="3816429"/>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['A', 'B', 'C', 10, 'hello', 'hello', 'hello', 9.99, True, [1, 2, 3], {'language': 'Python'}, 'X', 'Y', 'Z']</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build a list comprehension from an existing list's string elements</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comp_list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[var for var in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if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isinstance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(var, str)]</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comp_list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build a set comprehension from an existing list's string elements</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comp_set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{var for var in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if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isinstance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(var, str)}</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comp_set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build a dictionary comprehension from two existing lists</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stock_symbol</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["GOOG", "AAPL", "TSLA"]</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stock_price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[172, 190, 175]</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stocks_share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symbol:price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for symbol, price in zip(</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stock_symbol</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stock_price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stocks_share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build a generator comprehension from an existing list's string elements</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comp_generator</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(var for var in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if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isinstance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(var, str))</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comp_generator</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for var in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comp_generator</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print(var, end = ' ')</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build a tuple using generator comprehension</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comp_to_tuple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 tuple(var for var in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var_list</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 if </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isinstance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(var, str))</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print(</a:t>
            </a:r>
            <a:r>
              <a:rPr lang="en-US" sz="1100" kern="100" dirty="0" err="1">
                <a:effectLst/>
                <a:latin typeface="Courier New" panose="02070309020205020404" pitchFamily="49" charset="0"/>
                <a:ea typeface="DengXian" panose="02010600030101010101" pitchFamily="2" charset="-122"/>
                <a:cs typeface="Times New Roman" panose="02020603050405020304" pitchFamily="18" charset="0"/>
              </a:rPr>
              <a:t>comp_to_tuple</a:t>
            </a:r>
            <a:r>
              <a:rPr lang="en-US" sz="1100" kern="100" dirty="0">
                <a:effectLst/>
                <a:latin typeface="Courier New" panose="02070309020205020404" pitchFamily="49" charset="0"/>
                <a:ea typeface="DengXian" panose="02010600030101010101" pitchFamily="2" charset="-122"/>
                <a:cs typeface="Times New Roman" panose="02020603050405020304" pitchFamily="18" charset="0"/>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02036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0B350-177F-D77D-AD06-638191D46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1D5ED-CEEF-F221-60F9-0100D4F7F02B}"/>
              </a:ext>
            </a:extLst>
          </p:cNvPr>
          <p:cNvSpPr>
            <a:spLocks noGrp="1"/>
          </p:cNvSpPr>
          <p:nvPr>
            <p:ph type="title"/>
          </p:nvPr>
        </p:nvSpPr>
        <p:spPr/>
        <p:txBody>
          <a:bodyPr/>
          <a:lstStyle/>
          <a:p>
            <a:r>
              <a:rPr lang="en-US" dirty="0"/>
              <a:t>More on Python</a:t>
            </a:r>
          </a:p>
        </p:txBody>
      </p:sp>
      <p:sp>
        <p:nvSpPr>
          <p:cNvPr id="3" name="Content Placeholder 2">
            <a:extLst>
              <a:ext uri="{FF2B5EF4-FFF2-40B4-BE49-F238E27FC236}">
                <a16:creationId xmlns:a16="http://schemas.microsoft.com/office/drawing/2014/main" id="{28111AB3-590E-D51A-2A98-EEE5852EE421}"/>
              </a:ext>
            </a:extLst>
          </p:cNvPr>
          <p:cNvSpPr>
            <a:spLocks noGrp="1"/>
          </p:cNvSpPr>
          <p:nvPr>
            <p:ph idx="1"/>
          </p:nvPr>
        </p:nvSpPr>
        <p:spPr>
          <a:xfrm>
            <a:off x="772298" y="1438447"/>
            <a:ext cx="10515600" cy="4351338"/>
          </a:xfrm>
        </p:spPr>
        <p:txBody>
          <a:bodyPr>
            <a:normAutofit/>
          </a:bodyPr>
          <a:lstStyle/>
          <a:p>
            <a:r>
              <a:rPr lang="en-US" dirty="0"/>
              <a:t>Lambda Expressions</a:t>
            </a:r>
          </a:p>
          <a:p>
            <a:pPr lvl="1">
              <a:buFont typeface="Wingdings" panose="05000000000000000000" pitchFamily="2" charset="2"/>
              <a:buChar char="§"/>
            </a:pPr>
            <a:r>
              <a:rPr lang="en-US" dirty="0"/>
              <a:t>functions: have a header containing the function name and a list of parameters</a:t>
            </a:r>
          </a:p>
          <a:p>
            <a:pPr lvl="1">
              <a:buFont typeface="Wingdings" panose="05000000000000000000" pitchFamily="2" charset="2"/>
              <a:buChar char="§"/>
            </a:pPr>
            <a:r>
              <a:rPr lang="en-US" dirty="0"/>
              <a:t>lambda expressions are simple, anonymous functions that can be defined and used inline</a:t>
            </a:r>
          </a:p>
          <a:p>
            <a:pPr marL="0" marR="0" indent="0">
              <a:lnSpc>
                <a:spcPct val="100000"/>
              </a:lnSpc>
              <a:spcBef>
                <a:spcPts val="0"/>
              </a:spcBef>
              <a:buNone/>
            </a:pPr>
            <a:r>
              <a:rPr lang="en-US" sz="2400" kern="100" dirty="0">
                <a:latin typeface="Aptos" panose="020B0004020202020204" pitchFamily="34" charset="0"/>
                <a:ea typeface="DengXian" panose="02010600030101010101" pitchFamily="2" charset="-122"/>
                <a:cs typeface="Times New Roman" panose="02020603050405020304" pitchFamily="18" charset="0"/>
              </a:rPr>
              <a:t>        </a:t>
            </a:r>
            <a:r>
              <a:rPr lang="en-US" sz="2400" kern="100" dirty="0">
                <a:effectLst/>
                <a:latin typeface="Aptos" panose="020B0004020202020204" pitchFamily="34" charset="0"/>
                <a:ea typeface="DengXian" panose="02010600030101010101" pitchFamily="2" charset="-122"/>
                <a:cs typeface="Times New Roman" panose="02020603050405020304" pitchFamily="18" charset="0"/>
              </a:rPr>
              <a:t>    </a:t>
            </a:r>
            <a:r>
              <a:rPr lang="en-US" sz="2400" b="1" kern="100" dirty="0">
                <a:effectLst/>
                <a:latin typeface="Aptos" panose="020B0004020202020204" pitchFamily="34" charset="0"/>
                <a:ea typeface="DengXian" panose="02010600030101010101" pitchFamily="2" charset="-122"/>
                <a:cs typeface="Courier New" panose="02070309020205020404" pitchFamily="49" charset="0"/>
              </a:rPr>
              <a:t>Syntax for lambda expressions</a:t>
            </a:r>
            <a:r>
              <a:rPr lang="en-US" sz="2400" kern="100" dirty="0">
                <a:effectLst/>
                <a:latin typeface="Aptos" panose="020B0004020202020204" pitchFamily="34" charset="0"/>
                <a:ea typeface="DengXian" panose="02010600030101010101" pitchFamily="2" charset="-122"/>
                <a:cs typeface="Courier New" panose="02070309020205020404" pitchFamily="49" charset="0"/>
              </a:rPr>
              <a:t>:</a:t>
            </a:r>
            <a:endParaRPr lang="en-US" sz="24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indent="0">
              <a:lnSpc>
                <a:spcPct val="100000"/>
              </a:lnSpc>
              <a:spcBef>
                <a:spcPts val="0"/>
              </a:spcBef>
              <a:buNone/>
            </a:pPr>
            <a:r>
              <a:rPr lang="en-US" sz="2400" kern="100" dirty="0">
                <a:effectLst/>
                <a:latin typeface="Courier New" panose="02070309020205020404" pitchFamily="49" charset="0"/>
                <a:ea typeface="DengXian" panose="02010600030101010101" pitchFamily="2" charset="-122"/>
                <a:cs typeface="Times New Roman" panose="02020603050405020304" pitchFamily="18" charset="0"/>
              </a:rPr>
              <a:t>    lambda parameter1, parameter2, . . .: expression</a:t>
            </a:r>
            <a:endParaRPr lang="en-US" sz="2400" kern="100" dirty="0">
              <a:effectLst/>
              <a:latin typeface="Aptos" panose="020B0004020202020204" pitchFamily="34" charset="0"/>
              <a:ea typeface="DengXian" panose="02010600030101010101" pitchFamily="2" charset="-122"/>
              <a:cs typeface="Times New Roman" panose="02020603050405020304" pitchFamily="18" charset="0"/>
            </a:endParaRPr>
          </a:p>
          <a:p>
            <a:pPr marL="457200" lvl="1" indent="0">
              <a:buNone/>
            </a:pPr>
            <a:endParaRPr lang="en-US" sz="1400" kern="100" dirty="0">
              <a:effectLst/>
              <a:latin typeface="Courier New" panose="02070309020205020404" pitchFamily="49" charset="0"/>
              <a:ea typeface="DengXian" panose="02010600030101010101" pitchFamily="2" charset="-122"/>
              <a:cs typeface="Times New Roman" panose="02020603050405020304" pitchFamily="18" charset="0"/>
            </a:endParaRPr>
          </a:p>
          <a:p>
            <a:pPr marL="228600" lvl="1" indent="0">
              <a:lnSpc>
                <a:spcPct val="115000"/>
              </a:lnSpc>
              <a:spcAft>
                <a:spcPts val="800"/>
              </a:spcAft>
              <a:buNone/>
            </a:pP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A9FD00DB-3FAC-FD80-61BA-A08C3FE99D88}"/>
              </a:ext>
            </a:extLst>
          </p:cNvPr>
          <p:cNvPicPr>
            <a:picLocks noChangeAspect="1"/>
          </p:cNvPicPr>
          <p:nvPr/>
        </p:nvPicPr>
        <p:blipFill>
          <a:blip r:embed="rId2"/>
          <a:stretch>
            <a:fillRect/>
          </a:stretch>
        </p:blipFill>
        <p:spPr>
          <a:xfrm>
            <a:off x="837744" y="6028411"/>
            <a:ext cx="10516511" cy="566977"/>
          </a:xfrm>
          <a:prstGeom prst="rect">
            <a:avLst/>
          </a:prstGeom>
        </p:spPr>
      </p:pic>
      <p:sp>
        <p:nvSpPr>
          <p:cNvPr id="6" name="Text Box 2">
            <a:extLst>
              <a:ext uri="{FF2B5EF4-FFF2-40B4-BE49-F238E27FC236}">
                <a16:creationId xmlns:a16="http://schemas.microsoft.com/office/drawing/2014/main" id="{CC7F8B65-231C-D95F-128C-B919F439E2E2}"/>
              </a:ext>
            </a:extLst>
          </p:cNvPr>
          <p:cNvSpPr txBox="1">
            <a:spLocks noChangeArrowheads="1"/>
          </p:cNvSpPr>
          <p:nvPr/>
        </p:nvSpPr>
        <p:spPr bwMode="auto">
          <a:xfrm>
            <a:off x="1166159" y="4159048"/>
            <a:ext cx="9384957" cy="1323439"/>
          </a:xfrm>
          <a:prstGeom prst="rect">
            <a:avLst/>
          </a:prstGeom>
          <a:solidFill>
            <a:sysClr val="window" lastClr="FFFFFF">
              <a:lumMod val="95000"/>
            </a:sysClr>
          </a:solidFill>
          <a:ln w="12700" cap="flat" cmpd="sng" algn="ctr">
            <a:noFill/>
            <a:prstDash val="solid"/>
            <a:miter lim="800000"/>
            <a:headEnd/>
            <a:tailEnd/>
          </a:ln>
          <a:effectLst/>
        </p:spPr>
        <p:txBody>
          <a:bodyPr rot="0" vert="horz" wrap="square" lIns="91440" tIns="45720" rIns="91440" bIns="45720" anchor="t" anchorCtr="0">
            <a:spAutoFit/>
          </a:bodyPr>
          <a:lstStyle/>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two lambda expressions are used to do calculations between feet and meter conversion</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width = {'Feet to Meter': lambda feet: 0.305 * feet,    </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         'Meter to Feet': lambda meet: 3.281 * meter}</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r>
              <a:rPr lang="en-US" sz="1600" kern="100" dirty="0">
                <a:effectLst/>
                <a:latin typeface="Courier New" panose="02070309020205020404" pitchFamily="49" charset="0"/>
                <a:ea typeface="DengXian" panose="02010600030101010101" pitchFamily="2" charset="-122"/>
                <a:cs typeface="Times New Roman" panose="02020603050405020304" pitchFamily="18" charset="0"/>
              </a:rPr>
              <a:t>print(width['Feet to Meter'](3.9))</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640950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3290</TotalTime>
  <Words>5262</Words>
  <Application>Microsoft Office PowerPoint</Application>
  <PresentationFormat>Widescreen</PresentationFormat>
  <Paragraphs>552</Paragraphs>
  <Slides>35</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Google Sans</vt:lpstr>
      <vt:lpstr>Google Sans Text</vt:lpstr>
      <vt:lpstr>Aptos</vt:lpstr>
      <vt:lpstr>Aptos Display</vt:lpstr>
      <vt:lpstr>Arial</vt:lpstr>
      <vt:lpstr>Courier New</vt:lpstr>
      <vt:lpstr>Wingdings</vt:lpstr>
      <vt:lpstr>Office Theme</vt:lpstr>
      <vt:lpstr>Data Analytics Using Python Dr. Ziping Liu  </vt:lpstr>
      <vt:lpstr>https://he.kendallhunt.com/product/data-analytics-using-python  </vt:lpstr>
      <vt:lpstr>Python Advantages</vt:lpstr>
      <vt:lpstr>Getting Started with Python</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Python Basics</vt:lpstr>
      <vt:lpstr>More on Python</vt:lpstr>
      <vt:lpstr>More on Python</vt:lpstr>
      <vt:lpstr>More on Python</vt:lpstr>
      <vt:lpstr>More on Python</vt:lpstr>
      <vt:lpstr>More on Python</vt:lpstr>
      <vt:lpstr>More on Python</vt:lpstr>
      <vt:lpstr>More on Python</vt:lpstr>
      <vt:lpstr>More on Python</vt:lpstr>
      <vt:lpstr>More on Python</vt:lpstr>
      <vt:lpstr>More on Python</vt:lpstr>
      <vt:lpstr>More on Python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105</cp:revision>
  <dcterms:created xsi:type="dcterms:W3CDTF">2025-01-08T14:48:28Z</dcterms:created>
  <dcterms:modified xsi:type="dcterms:W3CDTF">2026-09-17T15:51:01Z</dcterms:modified>
</cp:coreProperties>
</file>