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9" r:id="rId3"/>
    <p:sldId id="260" r:id="rId4"/>
    <p:sldId id="320" r:id="rId5"/>
    <p:sldId id="321" r:id="rId6"/>
    <p:sldId id="302" r:id="rId7"/>
    <p:sldId id="32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3" autoAdjust="0"/>
    <p:restoredTop sz="94660"/>
  </p:normalViewPr>
  <p:slideViewPr>
    <p:cSldViewPr snapToGrid="0">
      <p:cViewPr varScale="1">
        <p:scale>
          <a:sx n="116" d="100"/>
          <a:sy n="116" d="100"/>
        </p:scale>
        <p:origin x="23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1/12/2025</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1/12/2025</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1/12/2025</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1/12/2025</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1/12/2025</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1/12/2025</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1/12/2025</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1/12/2025</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1/12/2025</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1/12/2025</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1/12/2025</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1/12/2025</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2308BA8-7846-1471-DF89-C83AF62CDFC7}"/>
              </a:ext>
            </a:extLst>
          </p:cNvPr>
          <p:cNvPicPr>
            <a:picLocks noChangeAspect="1"/>
          </p:cNvPicPr>
          <p:nvPr/>
        </p:nvPicPr>
        <p:blipFill>
          <a:blip r:embed="rId2"/>
          <a:srcRect l="5775" r="18051"/>
          <a:stretch/>
        </p:blipFill>
        <p:spPr>
          <a:xfrm>
            <a:off x="-1" y="10"/>
            <a:ext cx="12192001" cy="4201449"/>
          </a:xfrm>
          <a:prstGeom prst="rect">
            <a:avLst/>
          </a:prstGeom>
        </p:spPr>
      </p:pic>
      <p:grpSp>
        <p:nvGrpSpPr>
          <p:cNvPr id="56" name="Group 55">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57" name="Freeform: Shape 56">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9" name="Title 1">
            <a:extLst>
              <a:ext uri="{FF2B5EF4-FFF2-40B4-BE49-F238E27FC236}">
                <a16:creationId xmlns:a16="http://schemas.microsoft.com/office/drawing/2014/main" id="{F3F55D04-919B-01BB-1ED3-A2D649F5E518}"/>
              </a:ext>
            </a:extLst>
          </p:cNvPr>
          <p:cNvSpPr>
            <a:spLocks noGrp="1"/>
          </p:cNvSpPr>
          <p:nvPr>
            <p:ph type="ctrTitle"/>
          </p:nvPr>
        </p:nvSpPr>
        <p:spPr>
          <a:xfrm>
            <a:off x="804672" y="5116529"/>
            <a:ext cx="10592174" cy="1000655"/>
          </a:xfrm>
        </p:spPr>
        <p:txBody>
          <a:bodyPr anchor="t">
            <a:normAutofit fontScale="90000"/>
          </a:bodyPr>
          <a:lstStyle/>
          <a:p>
            <a:pPr algn="l"/>
            <a:r>
              <a:rPr lang="en-US" sz="4000" dirty="0">
                <a:solidFill>
                  <a:schemeClr val="tx2"/>
                </a:solidFill>
              </a:rPr>
              <a:t>Data Analytics Using Python</a:t>
            </a:r>
            <a:br>
              <a:rPr lang="en-US" sz="4000" dirty="0">
                <a:solidFill>
                  <a:schemeClr val="tx2"/>
                </a:solidFill>
              </a:rPr>
            </a:br>
            <a:r>
              <a:rPr lang="en-US" sz="4000" dirty="0">
                <a:solidFill>
                  <a:schemeClr val="tx2"/>
                </a:solidFill>
              </a:rPr>
              <a:t>Dr. Ziping Liu</a:t>
            </a:r>
            <a:br>
              <a:rPr lang="en-US" sz="4000" dirty="0">
                <a:solidFill>
                  <a:schemeClr val="tx2"/>
                </a:solidFill>
              </a:rPr>
            </a:br>
            <a:br>
              <a:rPr lang="en-US" sz="4000" dirty="0">
                <a:solidFill>
                  <a:schemeClr val="tx2"/>
                </a:solidFill>
              </a:rPr>
            </a:br>
            <a:endParaRPr lang="en-US" sz="4000" dirty="0">
              <a:solidFill>
                <a:schemeClr val="tx2"/>
              </a:solidFill>
            </a:endParaRPr>
          </a:p>
        </p:txBody>
      </p:sp>
      <p:sp>
        <p:nvSpPr>
          <p:cNvPr id="10" name="Subtitle 2">
            <a:extLst>
              <a:ext uri="{FF2B5EF4-FFF2-40B4-BE49-F238E27FC236}">
                <a16:creationId xmlns:a16="http://schemas.microsoft.com/office/drawing/2014/main" id="{16E30EAD-3848-F2CA-F880-62B403A09F2A}"/>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8 Case Study</a:t>
            </a:r>
          </a:p>
        </p:txBody>
      </p:sp>
    </p:spTree>
    <p:extLst>
      <p:ext uri="{BB962C8B-B14F-4D97-AF65-F5344CB8AC3E}">
        <p14:creationId xmlns:p14="http://schemas.microsoft.com/office/powerpoint/2010/main" val="4278189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CDCF14-203D-E54D-0E55-A308A7990426}"/>
            </a:ext>
          </a:extLst>
        </p:cNvPr>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DE4B5A19-7BC5-E20D-389D-274609DCC2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8C34336-B524-BB66-0DD9-0A969F8EA991}"/>
              </a:ext>
            </a:extLst>
          </p:cNvPr>
          <p:cNvPicPr>
            <a:picLocks noChangeAspect="1"/>
          </p:cNvPicPr>
          <p:nvPr/>
        </p:nvPicPr>
        <p:blipFill>
          <a:blip r:embed="rId2"/>
          <a:srcRect l="5775" r="18051"/>
          <a:stretch/>
        </p:blipFill>
        <p:spPr>
          <a:xfrm>
            <a:off x="-1" y="10"/>
            <a:ext cx="12192001" cy="4201449"/>
          </a:xfrm>
          <a:prstGeom prst="rect">
            <a:avLst/>
          </a:prstGeom>
        </p:spPr>
      </p:pic>
      <p:grpSp>
        <p:nvGrpSpPr>
          <p:cNvPr id="56" name="Group 55">
            <a:extLst>
              <a:ext uri="{FF2B5EF4-FFF2-40B4-BE49-F238E27FC236}">
                <a16:creationId xmlns:a16="http://schemas.microsoft.com/office/drawing/2014/main" id="{74BCB09E-A5B6-2BD0-2C07-F4B45CCEFE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57" name="Freeform: Shape 56">
              <a:extLst>
                <a:ext uri="{FF2B5EF4-FFF2-40B4-BE49-F238E27FC236}">
                  <a16:creationId xmlns:a16="http://schemas.microsoft.com/office/drawing/2014/main" id="{7AC09706-4C97-E184-A455-CE3CFA5FC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9ED556BD-ABB2-48B9-AEFE-CC54632B8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72B733D-3B6E-CC64-B81F-4942292799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F55288C1-24B0-B54D-C550-49A65CDF4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10" name="Subtitle 2">
            <a:extLst>
              <a:ext uri="{FF2B5EF4-FFF2-40B4-BE49-F238E27FC236}">
                <a16:creationId xmlns:a16="http://schemas.microsoft.com/office/drawing/2014/main" id="{346BB674-3ADE-5DB7-68A5-264686BCEE1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8 Case Study</a:t>
            </a:r>
          </a:p>
        </p:txBody>
      </p:sp>
      <p:sp>
        <p:nvSpPr>
          <p:cNvPr id="4" name="Title 3">
            <a:extLst>
              <a:ext uri="{FF2B5EF4-FFF2-40B4-BE49-F238E27FC236}">
                <a16:creationId xmlns:a16="http://schemas.microsoft.com/office/drawing/2014/main" id="{C88AC5F5-7F9B-FD87-2948-4373BF34DF85}"/>
              </a:ext>
            </a:extLst>
          </p:cNvPr>
          <p:cNvSpPr>
            <a:spLocks noGrp="1"/>
          </p:cNvSpPr>
          <p:nvPr>
            <p:ph type="ctrTitle"/>
          </p:nvPr>
        </p:nvSpPr>
        <p:spPr/>
        <p:txBody>
          <a:bodyPr/>
          <a:lstStyle/>
          <a:p>
            <a:endParaRPr lang="en-US"/>
          </a:p>
        </p:txBody>
      </p:sp>
      <p:sp>
        <p:nvSpPr>
          <p:cNvPr id="5" name="Title 1">
            <a:extLst>
              <a:ext uri="{FF2B5EF4-FFF2-40B4-BE49-F238E27FC236}">
                <a16:creationId xmlns:a16="http://schemas.microsoft.com/office/drawing/2014/main" id="{9A159D85-B2EA-CEA7-03C5-913759BA19B0}"/>
              </a:ext>
            </a:extLst>
          </p:cNvPr>
          <p:cNvSpPr txBox="1">
            <a:spLocks/>
          </p:cNvSpPr>
          <p:nvPr/>
        </p:nvSpPr>
        <p:spPr>
          <a:xfrm>
            <a:off x="804672" y="5116529"/>
            <a:ext cx="10592174" cy="1000655"/>
          </a:xfrm>
          <a:prstGeom prst="rect">
            <a:avLst/>
          </a:prstGeom>
        </p:spPr>
        <p:txBody>
          <a:bodyPr vert="horz" lIns="91440" tIns="45720" rIns="91440" bIns="45720" rtlCol="0" anchor="t">
            <a:normAutofit fontScale="6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100" dirty="0">
                <a:solidFill>
                  <a:schemeClr val="tx2"/>
                </a:solidFill>
              </a:rPr>
              <a:t>https://he.kendallhunt.com/product/data-analytics-using-python</a:t>
            </a:r>
            <a:br>
              <a:rPr lang="en-US" sz="4000" dirty="0">
                <a:solidFill>
                  <a:schemeClr val="tx2"/>
                </a:solidFill>
              </a:rPr>
            </a:br>
            <a:br>
              <a:rPr lang="en-US" sz="4000" dirty="0">
                <a:solidFill>
                  <a:schemeClr val="tx2"/>
                </a:solidFill>
              </a:rPr>
            </a:br>
            <a:endParaRPr lang="en-US" sz="4000" dirty="0">
              <a:solidFill>
                <a:schemeClr val="tx2"/>
              </a:solidFill>
            </a:endParaRPr>
          </a:p>
        </p:txBody>
      </p:sp>
    </p:spTree>
    <p:extLst>
      <p:ext uri="{BB962C8B-B14F-4D97-AF65-F5344CB8AC3E}">
        <p14:creationId xmlns:p14="http://schemas.microsoft.com/office/powerpoint/2010/main" val="3540594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A379-4975-80DB-8A99-0A8C6BBC9CFD}"/>
              </a:ext>
            </a:extLst>
          </p:cNvPr>
          <p:cNvSpPr>
            <a:spLocks noGrp="1"/>
          </p:cNvSpPr>
          <p:nvPr>
            <p:ph type="title"/>
          </p:nvPr>
        </p:nvSpPr>
        <p:spPr/>
        <p:txBody>
          <a:bodyPr/>
          <a:lstStyle/>
          <a:p>
            <a:r>
              <a:rPr lang="en-US" dirty="0"/>
              <a:t>Three stages of Data Analysis</a:t>
            </a:r>
          </a:p>
        </p:txBody>
      </p:sp>
      <p:sp>
        <p:nvSpPr>
          <p:cNvPr id="3" name="Content Placeholder 2">
            <a:extLst>
              <a:ext uri="{FF2B5EF4-FFF2-40B4-BE49-F238E27FC236}">
                <a16:creationId xmlns:a16="http://schemas.microsoft.com/office/drawing/2014/main" id="{45BADCC9-9A6A-D1F9-2528-5D4ED8E98C23}"/>
              </a:ext>
            </a:extLst>
          </p:cNvPr>
          <p:cNvSpPr>
            <a:spLocks noGrp="1"/>
          </p:cNvSpPr>
          <p:nvPr>
            <p:ph idx="1"/>
          </p:nvPr>
        </p:nvSpPr>
        <p:spPr>
          <a:xfrm>
            <a:off x="837744" y="1690688"/>
            <a:ext cx="10515600" cy="4351338"/>
          </a:xfrm>
        </p:spPr>
        <p:txBody>
          <a:bodyPr>
            <a:normAutofit/>
          </a:bodyPr>
          <a:lstStyle/>
          <a:p>
            <a:r>
              <a:rPr lang="en-US" dirty="0"/>
              <a:t>first stage: load the raw data into a </a:t>
            </a:r>
            <a:r>
              <a:rPr lang="en-US" dirty="0" err="1"/>
              <a:t>dataframe</a:t>
            </a:r>
            <a:r>
              <a:rPr lang="en-US" dirty="0"/>
              <a:t>, examine the </a:t>
            </a:r>
            <a:r>
              <a:rPr lang="en-US" dirty="0" err="1"/>
              <a:t>dataframe</a:t>
            </a:r>
            <a:r>
              <a:rPr lang="en-US" dirty="0"/>
              <a:t> to understand the dataset, and preprocess and clean the dataset</a:t>
            </a:r>
          </a:p>
          <a:p>
            <a:endParaRPr lang="en-US" dirty="0"/>
          </a:p>
        </p:txBody>
      </p:sp>
      <p:pic>
        <p:nvPicPr>
          <p:cNvPr id="4" name="Picture 3">
            <a:extLst>
              <a:ext uri="{FF2B5EF4-FFF2-40B4-BE49-F238E27FC236}">
                <a16:creationId xmlns:a16="http://schemas.microsoft.com/office/drawing/2014/main" id="{A1D4AA88-5BCC-84A9-7F2A-E7FED0281513}"/>
              </a:ext>
            </a:extLst>
          </p:cNvPr>
          <p:cNvPicPr>
            <a:picLocks noChangeAspect="1"/>
          </p:cNvPicPr>
          <p:nvPr/>
        </p:nvPicPr>
        <p:blipFill>
          <a:blip r:embed="rId2"/>
          <a:stretch>
            <a:fillRect/>
          </a:stretch>
        </p:blipFill>
        <p:spPr>
          <a:xfrm>
            <a:off x="837744" y="6028411"/>
            <a:ext cx="10516511" cy="566977"/>
          </a:xfrm>
          <a:prstGeom prst="rect">
            <a:avLst/>
          </a:prstGeom>
        </p:spPr>
      </p:pic>
      <p:pic>
        <p:nvPicPr>
          <p:cNvPr id="5" name="Picture 4">
            <a:extLst>
              <a:ext uri="{FF2B5EF4-FFF2-40B4-BE49-F238E27FC236}">
                <a16:creationId xmlns:a16="http://schemas.microsoft.com/office/drawing/2014/main" id="{7AC30016-55B4-24C6-AC38-0E97B31E3AA3}"/>
              </a:ext>
            </a:extLst>
          </p:cNvPr>
          <p:cNvPicPr>
            <a:picLocks noChangeAspect="1"/>
          </p:cNvPicPr>
          <p:nvPr/>
        </p:nvPicPr>
        <p:blipFill>
          <a:blip r:embed="rId3"/>
          <a:stretch>
            <a:fillRect/>
          </a:stretch>
        </p:blipFill>
        <p:spPr>
          <a:xfrm>
            <a:off x="1164345" y="3150599"/>
            <a:ext cx="9133756" cy="1696704"/>
          </a:xfrm>
          <a:prstGeom prst="rect">
            <a:avLst/>
          </a:prstGeom>
        </p:spPr>
      </p:pic>
    </p:spTree>
    <p:extLst>
      <p:ext uri="{BB962C8B-B14F-4D97-AF65-F5344CB8AC3E}">
        <p14:creationId xmlns:p14="http://schemas.microsoft.com/office/powerpoint/2010/main" val="2316115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C06A7-20C6-35D3-B446-9C0261C38F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6D737-E6F5-BE19-EBC4-F05D32037F3E}"/>
              </a:ext>
            </a:extLst>
          </p:cNvPr>
          <p:cNvSpPr>
            <a:spLocks noGrp="1"/>
          </p:cNvSpPr>
          <p:nvPr>
            <p:ph type="title"/>
          </p:nvPr>
        </p:nvSpPr>
        <p:spPr/>
        <p:txBody>
          <a:bodyPr/>
          <a:lstStyle/>
          <a:p>
            <a:r>
              <a:rPr lang="en-US" dirty="0"/>
              <a:t>Three stages of Data Analysis</a:t>
            </a:r>
          </a:p>
        </p:txBody>
      </p:sp>
      <p:sp>
        <p:nvSpPr>
          <p:cNvPr id="3" name="Content Placeholder 2">
            <a:extLst>
              <a:ext uri="{FF2B5EF4-FFF2-40B4-BE49-F238E27FC236}">
                <a16:creationId xmlns:a16="http://schemas.microsoft.com/office/drawing/2014/main" id="{97C4B095-852D-FC80-F851-54EB028D080D}"/>
              </a:ext>
            </a:extLst>
          </p:cNvPr>
          <p:cNvSpPr>
            <a:spLocks noGrp="1"/>
          </p:cNvSpPr>
          <p:nvPr>
            <p:ph idx="1"/>
          </p:nvPr>
        </p:nvSpPr>
        <p:spPr>
          <a:xfrm>
            <a:off x="837744" y="1690688"/>
            <a:ext cx="10515600" cy="4351338"/>
          </a:xfrm>
        </p:spPr>
        <p:txBody>
          <a:bodyPr>
            <a:normAutofit/>
          </a:bodyPr>
          <a:lstStyle/>
          <a:p>
            <a:r>
              <a:rPr lang="en-US" dirty="0"/>
              <a:t>second stage: conduct exploratory data analysis, which involves identifying trends, patterns, or anomalies in the distribution and relationships of data points </a:t>
            </a:r>
          </a:p>
          <a:p>
            <a:endParaRPr lang="en-US" dirty="0"/>
          </a:p>
        </p:txBody>
      </p:sp>
      <p:pic>
        <p:nvPicPr>
          <p:cNvPr id="4" name="Picture 3">
            <a:extLst>
              <a:ext uri="{FF2B5EF4-FFF2-40B4-BE49-F238E27FC236}">
                <a16:creationId xmlns:a16="http://schemas.microsoft.com/office/drawing/2014/main" id="{A3177294-38AF-20D0-14F4-C3C4D9429246}"/>
              </a:ext>
            </a:extLst>
          </p:cNvPr>
          <p:cNvPicPr>
            <a:picLocks noChangeAspect="1"/>
          </p:cNvPicPr>
          <p:nvPr/>
        </p:nvPicPr>
        <p:blipFill>
          <a:blip r:embed="rId2"/>
          <a:stretch>
            <a:fillRect/>
          </a:stretch>
        </p:blipFill>
        <p:spPr>
          <a:xfrm>
            <a:off x="837744" y="6028411"/>
            <a:ext cx="10516511" cy="566977"/>
          </a:xfrm>
          <a:prstGeom prst="rect">
            <a:avLst/>
          </a:prstGeom>
        </p:spPr>
      </p:pic>
      <p:pic>
        <p:nvPicPr>
          <p:cNvPr id="6" name="Picture 5">
            <a:extLst>
              <a:ext uri="{FF2B5EF4-FFF2-40B4-BE49-F238E27FC236}">
                <a16:creationId xmlns:a16="http://schemas.microsoft.com/office/drawing/2014/main" id="{D03963C6-2F02-923C-3BCD-CFA8ED8F9663}"/>
              </a:ext>
            </a:extLst>
          </p:cNvPr>
          <p:cNvPicPr>
            <a:picLocks noChangeAspect="1"/>
          </p:cNvPicPr>
          <p:nvPr/>
        </p:nvPicPr>
        <p:blipFill>
          <a:blip r:embed="rId3"/>
          <a:stretch>
            <a:fillRect/>
          </a:stretch>
        </p:blipFill>
        <p:spPr>
          <a:xfrm>
            <a:off x="747014" y="3278232"/>
            <a:ext cx="10432198" cy="1657561"/>
          </a:xfrm>
          <a:prstGeom prst="rect">
            <a:avLst/>
          </a:prstGeom>
        </p:spPr>
      </p:pic>
    </p:spTree>
    <p:extLst>
      <p:ext uri="{BB962C8B-B14F-4D97-AF65-F5344CB8AC3E}">
        <p14:creationId xmlns:p14="http://schemas.microsoft.com/office/powerpoint/2010/main" val="1049261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9EB0C-FA3E-97BB-F434-9223275E1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CADD58-C265-F82F-FD56-A59EDFC6BC25}"/>
              </a:ext>
            </a:extLst>
          </p:cNvPr>
          <p:cNvSpPr>
            <a:spLocks noGrp="1"/>
          </p:cNvSpPr>
          <p:nvPr>
            <p:ph type="title"/>
          </p:nvPr>
        </p:nvSpPr>
        <p:spPr/>
        <p:txBody>
          <a:bodyPr/>
          <a:lstStyle/>
          <a:p>
            <a:r>
              <a:rPr lang="en-US" dirty="0"/>
              <a:t>Three stages of Data Analysis</a:t>
            </a:r>
          </a:p>
        </p:txBody>
      </p:sp>
      <p:sp>
        <p:nvSpPr>
          <p:cNvPr id="3" name="Content Placeholder 2">
            <a:extLst>
              <a:ext uri="{FF2B5EF4-FFF2-40B4-BE49-F238E27FC236}">
                <a16:creationId xmlns:a16="http://schemas.microsoft.com/office/drawing/2014/main" id="{2E23DA9C-A1F7-E70D-A506-763A1F043BCB}"/>
              </a:ext>
            </a:extLst>
          </p:cNvPr>
          <p:cNvSpPr>
            <a:spLocks noGrp="1"/>
          </p:cNvSpPr>
          <p:nvPr>
            <p:ph idx="1"/>
          </p:nvPr>
        </p:nvSpPr>
        <p:spPr>
          <a:xfrm>
            <a:off x="837744" y="1690688"/>
            <a:ext cx="10515600" cy="4351338"/>
          </a:xfrm>
        </p:spPr>
        <p:txBody>
          <a:bodyPr>
            <a:normAutofit/>
          </a:bodyPr>
          <a:lstStyle/>
          <a:p>
            <a:r>
              <a:rPr lang="en-US" dirty="0"/>
              <a:t>third stage: data modeling</a:t>
            </a:r>
          </a:p>
          <a:p>
            <a:pPr lvl="1">
              <a:buFont typeface="Wingdings" panose="05000000000000000000" pitchFamily="2" charset="2"/>
              <a:buChar char="§"/>
            </a:pPr>
            <a:r>
              <a:rPr lang="en-US" dirty="0"/>
              <a:t>use either statistical models or machine learning models to quantify relationships among variables, identify correlations, and assess model performance</a:t>
            </a:r>
          </a:p>
        </p:txBody>
      </p:sp>
      <p:pic>
        <p:nvPicPr>
          <p:cNvPr id="4" name="Picture 3">
            <a:extLst>
              <a:ext uri="{FF2B5EF4-FFF2-40B4-BE49-F238E27FC236}">
                <a16:creationId xmlns:a16="http://schemas.microsoft.com/office/drawing/2014/main" id="{EEB2E461-A08E-D7A9-1FD1-522489D887A1}"/>
              </a:ext>
            </a:extLst>
          </p:cNvPr>
          <p:cNvPicPr>
            <a:picLocks noChangeAspect="1"/>
          </p:cNvPicPr>
          <p:nvPr/>
        </p:nvPicPr>
        <p:blipFill>
          <a:blip r:embed="rId2"/>
          <a:stretch>
            <a:fillRect/>
          </a:stretch>
        </p:blipFill>
        <p:spPr>
          <a:xfrm>
            <a:off x="837744" y="6028411"/>
            <a:ext cx="10516511" cy="566977"/>
          </a:xfrm>
          <a:prstGeom prst="rect">
            <a:avLst/>
          </a:prstGeom>
        </p:spPr>
      </p:pic>
      <p:pic>
        <p:nvPicPr>
          <p:cNvPr id="5" name="Picture 4">
            <a:extLst>
              <a:ext uri="{FF2B5EF4-FFF2-40B4-BE49-F238E27FC236}">
                <a16:creationId xmlns:a16="http://schemas.microsoft.com/office/drawing/2014/main" id="{C2E199D8-A04A-9EED-A55F-06B644D01C5E}"/>
              </a:ext>
            </a:extLst>
          </p:cNvPr>
          <p:cNvPicPr>
            <a:picLocks noChangeAspect="1"/>
          </p:cNvPicPr>
          <p:nvPr/>
        </p:nvPicPr>
        <p:blipFill>
          <a:blip r:embed="rId3"/>
          <a:stretch>
            <a:fillRect/>
          </a:stretch>
        </p:blipFill>
        <p:spPr>
          <a:xfrm>
            <a:off x="1197234" y="3545079"/>
            <a:ext cx="8845445" cy="1479205"/>
          </a:xfrm>
          <a:prstGeom prst="rect">
            <a:avLst/>
          </a:prstGeom>
        </p:spPr>
      </p:pic>
    </p:spTree>
    <p:extLst>
      <p:ext uri="{BB962C8B-B14F-4D97-AF65-F5344CB8AC3E}">
        <p14:creationId xmlns:p14="http://schemas.microsoft.com/office/powerpoint/2010/main" val="2487450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9976A-1A75-8B03-6B77-2C961B1A88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9B748-E472-2B94-0D27-9262A7828934}"/>
              </a:ext>
            </a:extLst>
          </p:cNvPr>
          <p:cNvSpPr>
            <a:spLocks noGrp="1"/>
          </p:cNvSpPr>
          <p:nvPr>
            <p:ph type="title"/>
          </p:nvPr>
        </p:nvSpPr>
        <p:spPr/>
        <p:txBody>
          <a:bodyPr/>
          <a:lstStyle/>
          <a:p>
            <a:r>
              <a:rPr lang="en-US" dirty="0"/>
              <a:t>Kaggle Company Income Analysis</a:t>
            </a:r>
          </a:p>
        </p:txBody>
      </p:sp>
      <p:sp>
        <p:nvSpPr>
          <p:cNvPr id="3" name="Content Placeholder 2">
            <a:extLst>
              <a:ext uri="{FF2B5EF4-FFF2-40B4-BE49-F238E27FC236}">
                <a16:creationId xmlns:a16="http://schemas.microsoft.com/office/drawing/2014/main" id="{0CA3ABEA-95CF-2C55-77F2-3CA9B5663D41}"/>
              </a:ext>
            </a:extLst>
          </p:cNvPr>
          <p:cNvSpPr>
            <a:spLocks noGrp="1"/>
          </p:cNvSpPr>
          <p:nvPr>
            <p:ph idx="1"/>
          </p:nvPr>
        </p:nvSpPr>
        <p:spPr>
          <a:xfrm>
            <a:off x="837744" y="1690688"/>
            <a:ext cx="10515600" cy="4351338"/>
          </a:xfrm>
        </p:spPr>
        <p:txBody>
          <a:bodyPr>
            <a:normAutofit/>
          </a:bodyPr>
          <a:lstStyle/>
          <a:p>
            <a:r>
              <a:rPr lang="en-US" dirty="0"/>
              <a:t>contains quarterly income statements for over 3,600 stocks listed on the NYSE and NASDAQ, each with a market capitalization greater than 100 million USD. With nearly 70,000 entries and more than 40 columns, this dataset presents a rich resource for exploration and analysis of interesting patterns among listed companies</a:t>
            </a:r>
          </a:p>
        </p:txBody>
      </p:sp>
      <p:pic>
        <p:nvPicPr>
          <p:cNvPr id="4" name="Picture 3">
            <a:extLst>
              <a:ext uri="{FF2B5EF4-FFF2-40B4-BE49-F238E27FC236}">
                <a16:creationId xmlns:a16="http://schemas.microsoft.com/office/drawing/2014/main" id="{E5F89594-1F02-A9F3-E19C-EDED9240079C}"/>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718553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04471-6620-9C85-D736-50C05EB54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1B28E-E356-EFE7-F974-B78A9F05F95B}"/>
              </a:ext>
            </a:extLst>
          </p:cNvPr>
          <p:cNvSpPr>
            <a:spLocks noGrp="1"/>
          </p:cNvSpPr>
          <p:nvPr>
            <p:ph type="title"/>
          </p:nvPr>
        </p:nvSpPr>
        <p:spPr/>
        <p:txBody>
          <a:bodyPr/>
          <a:lstStyle/>
          <a:p>
            <a:r>
              <a:rPr lang="en-US" dirty="0"/>
              <a:t>Sleep Health and Lifestyle Analysis</a:t>
            </a:r>
          </a:p>
        </p:txBody>
      </p:sp>
      <p:sp>
        <p:nvSpPr>
          <p:cNvPr id="3" name="Content Placeholder 2">
            <a:extLst>
              <a:ext uri="{FF2B5EF4-FFF2-40B4-BE49-F238E27FC236}">
                <a16:creationId xmlns:a16="http://schemas.microsoft.com/office/drawing/2014/main" id="{81613350-A990-38D2-F3AA-FBAA44AA22B8}"/>
              </a:ext>
            </a:extLst>
          </p:cNvPr>
          <p:cNvSpPr>
            <a:spLocks noGrp="1"/>
          </p:cNvSpPr>
          <p:nvPr>
            <p:ph idx="1"/>
          </p:nvPr>
        </p:nvSpPr>
        <p:spPr>
          <a:xfrm>
            <a:off x="837744" y="1690688"/>
            <a:ext cx="10515600" cy="4351338"/>
          </a:xfrm>
        </p:spPr>
        <p:txBody>
          <a:bodyPr>
            <a:normAutofit/>
          </a:bodyPr>
          <a:lstStyle/>
          <a:p>
            <a:r>
              <a:rPr lang="en-US" dirty="0"/>
              <a:t>provides comprehensive data on sleep health and lifestyle factors, including gender, age, occupation, sleep duration, quality of sleep, physical activity level, stress levels, BMI category, blood pressure, heart rate, daily steps, and the presence or absence of sleep disorders. The dataset contains 400 entries and 13 columns. </a:t>
            </a:r>
          </a:p>
        </p:txBody>
      </p:sp>
      <p:pic>
        <p:nvPicPr>
          <p:cNvPr id="4" name="Picture 3">
            <a:extLst>
              <a:ext uri="{FF2B5EF4-FFF2-40B4-BE49-F238E27FC236}">
                <a16:creationId xmlns:a16="http://schemas.microsoft.com/office/drawing/2014/main" id="{DE6A52A7-A9A8-5AC8-EFA9-DD4BDEB7B823}"/>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2994508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919</TotalTime>
  <Words>245</Words>
  <Application>Microsoft Office PowerPoint</Application>
  <PresentationFormat>Widescreen</PresentationFormat>
  <Paragraphs>15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Wingdings</vt:lpstr>
      <vt:lpstr>Office Theme</vt:lpstr>
      <vt:lpstr>Data Analytics Using Python Dr. Ziping Liu  </vt:lpstr>
      <vt:lpstr>PowerPoint Presentation</vt:lpstr>
      <vt:lpstr>Three stages of Data Analysis</vt:lpstr>
      <vt:lpstr>Three stages of Data Analysis</vt:lpstr>
      <vt:lpstr>Three stages of Data Analysis</vt:lpstr>
      <vt:lpstr>Kaggle Company Income Analysis</vt:lpstr>
      <vt:lpstr>Sleep Health and Lifestyle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182</cp:revision>
  <dcterms:created xsi:type="dcterms:W3CDTF">2025-01-08T14:48:28Z</dcterms:created>
  <dcterms:modified xsi:type="dcterms:W3CDTF">2025-01-12T15:39:36Z</dcterms:modified>
</cp:coreProperties>
</file>