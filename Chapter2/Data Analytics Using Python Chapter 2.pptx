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2" r:id="rId5"/>
    <p:sldId id="263" r:id="rId6"/>
    <p:sldId id="264" r:id="rId7"/>
    <p:sldId id="265" r:id="rId8"/>
    <p:sldId id="266" r:id="rId9"/>
    <p:sldId id="291" r:id="rId10"/>
    <p:sldId id="292" r:id="rId11"/>
    <p:sldId id="267" r:id="rId12"/>
    <p:sldId id="293" r:id="rId13"/>
    <p:sldId id="294" r:id="rId14"/>
    <p:sldId id="295" r:id="rId15"/>
    <p:sldId id="296" r:id="rId16"/>
    <p:sldId id="268" r:id="rId17"/>
    <p:sldId id="29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3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DBE90D-6443-45D5-AB73-6A7D0CBCCF8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D21F2D-1907-45F1-9B93-BB1762A94325}" type="pres">
      <dgm:prSet presAssocID="{2FDBE90D-6443-45D5-AB73-6A7D0CBCCF85}" presName="matrix" presStyleCnt="0">
        <dgm:presLayoutVars>
          <dgm:chMax val="1"/>
          <dgm:dir/>
          <dgm:resizeHandles val="exact"/>
        </dgm:presLayoutVars>
      </dgm:prSet>
      <dgm:spPr/>
    </dgm:pt>
  </dgm:ptLst>
  <dgm:cxnLst>
    <dgm:cxn modelId="{0ED6465E-DA6A-4410-A68E-A5C5BDC5C01F}" type="presOf" srcId="{2FDBE90D-6443-45D5-AB73-6A7D0CBCCF85}" destId="{E0D21F2D-1907-45F1-9B93-BB1762A94325}" srcOrd="0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599E3-8D9F-3F5B-0308-7F5329DEA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A90651-91C2-BA19-35EC-A04BA9FD1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1DD5A-2112-6235-85DC-B1B299E85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A9076-7565-CDA6-EDBA-EC296154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AC44E-B761-B97D-C746-ECAB6BB9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29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E6AC-BA0C-3CB0-A332-C14B281CD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67869-5FC6-53F4-7BC6-5136E5507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B6CE0-9019-D821-C2F3-C78CF2C5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96E9F-D2BE-3C4A-D26A-F7C5A5D11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8CC43-53EB-84ED-63B3-9A3403CEE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31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8D887-4D96-118D-73A2-1C895A67B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B085A-425F-FD3C-BC71-9A29495F9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4329D-6798-F07C-D487-6101B49A2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F25C4-C66D-4341-42FF-9C7C602AD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18A81-8750-B962-F8C6-6DA1403A7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04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D042-266E-A796-1A36-96B70B229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36A0C-4A74-A126-7A99-F06853058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CC16C-9EAC-FE9F-396B-0241F7962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9D6F5-EFBE-6874-ED24-0A51C268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1EDD0-9CCB-FAD1-C4F2-4E43F03FD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613EA-8DBD-A257-A690-042711A7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83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ACE6-F826-5B66-2371-F2D502554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56492-1758-D69A-3E6F-15261B003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D8565-447E-7044-9CE0-673F60DC2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3E43F8-3C42-54CA-4E92-F6A3940F2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A97A32-71E6-549D-B127-599697995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8A95A3-01EC-6EF0-5031-5E525E62D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274BE6-33F4-D96C-2405-87AEFEDCC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FB891F-BE7B-C13D-681A-2C793B09D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9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75743-E60C-78E3-4219-5712DC704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6DF502-5BB8-D822-01D7-20936C34E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5FAD0-C9E9-80E2-6DFA-0BC166AE6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DCEC0-8357-5413-2403-9992319E8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38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9867B-72CF-0811-E65E-1F1A0A92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48B39-123B-5C1E-0B64-6FC3E2859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3C226-40C4-ED8E-9C41-87B4E082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28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2E48C-0492-969D-5358-C6C95D650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7FBA1-E0E8-57D0-829D-823FB90F4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7BB11-40DB-E7BF-59DE-E5088FC55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9E303-25F7-D260-0C1E-1C5D9A96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7058F-FFC4-BC2B-7574-A9DB1D7F5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0D607-D6DB-9EBE-6590-0B6F3CFD7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5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B2A1-BC34-EA9A-859D-059A7A66E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26546-3C25-49A1-3B36-715D1745DB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F8061-0760-C9C3-320B-EAD574AF2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327B0-28E5-1E67-61B0-C32CC09E5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7E62B-ABB9-605C-5E4E-9BF3E4FF7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D59CD-E644-8A47-6C41-35307D327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57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41B45-B749-84F1-7E0D-232A8B6C5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25F5B-9932-7B22-3C88-08AD57BC2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74961-E805-FB33-5A16-E0CFA371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9018F-11E0-CA53-A68B-C731CC509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87CFC-CA41-1297-94D3-F89EC65DA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8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B2452-1456-A52C-F8D5-3234E07ED5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70949-F825-32B2-260B-674118F1E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E993F-73E9-E7AE-2ED3-3D288F24A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06DBD-D9C7-84D2-27D0-26FD25683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78735-00EC-3CA0-1B73-68A025E39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6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BA9FD8-0BA2-A466-EEFA-529DB2516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B1EC5-F665-6631-6BF9-22FB9539D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F9369-7ED6-38A0-734A-DD110F926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8669A-962F-4ACD-AB1E-07597AA7AD56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B8940-D37A-E1F1-4E91-FF221089D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86E2C-CD23-0AB2-1973-F43BEF1BE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2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erson using a computer&#10;&#10;Description automatically generated">
            <a:extLst>
              <a:ext uri="{FF2B5EF4-FFF2-40B4-BE49-F238E27FC236}">
                <a16:creationId xmlns:a16="http://schemas.microsoft.com/office/drawing/2014/main" id="{FF8D1B11-B4B1-7C94-CAE0-1ABDF25FA1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24" r="19229" b="1"/>
          <a:stretch/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8" name="Freeform: Shape 17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9" name="Title 1">
            <a:extLst>
              <a:ext uri="{FF2B5EF4-FFF2-40B4-BE49-F238E27FC236}">
                <a16:creationId xmlns:a16="http://schemas.microsoft.com/office/drawing/2014/main" id="{7FC6D1D1-E68C-4552-9275-E9E8441DC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</a:rPr>
              <a:t>Data Analytics Using Python</a:t>
            </a:r>
            <a:br>
              <a:rPr lang="en-US" sz="4000" dirty="0">
                <a:solidFill>
                  <a:schemeClr val="tx2"/>
                </a:solidFill>
              </a:rPr>
            </a:br>
            <a:r>
              <a:rPr lang="en-US" sz="4000" dirty="0">
                <a:solidFill>
                  <a:schemeClr val="tx2"/>
                </a:solidFill>
              </a:rPr>
              <a:t>Dr. Ziping Liu</a:t>
            </a:r>
            <a:br>
              <a:rPr lang="en-US" sz="4000" dirty="0">
                <a:solidFill>
                  <a:schemeClr val="tx2"/>
                </a:solidFill>
              </a:rPr>
            </a:br>
            <a:br>
              <a:rPr lang="en-US" sz="4000" dirty="0">
                <a:solidFill>
                  <a:schemeClr val="tx2"/>
                </a:solidFill>
              </a:rPr>
            </a:b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F41C15B3-BE6C-936D-DED5-CEF91B056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2 </a:t>
            </a:r>
            <a:r>
              <a:rPr lang="en-US" sz="2000" dirty="0" err="1">
                <a:solidFill>
                  <a:schemeClr val="tx2"/>
                </a:solidFill>
              </a:rPr>
              <a:t>Numpy</a:t>
            </a:r>
            <a:endParaRPr lang="en-US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189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9BF0A-0571-3AE4-329B-7FDD247C4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NumPy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984F35-20A0-78B6-C0D7-3446E8B5E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891173"/>
            <a:ext cx="10515600" cy="571580"/>
          </a:xfrm>
          <a:prstGeom prst="rect">
            <a:avLst/>
          </a:prstGeom>
        </p:spPr>
      </p:pic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CA9A291D-AFBA-B921-9197-A2EF55DD29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96920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558A932-A150-AAEB-AF28-D9156CC23D7C}"/>
              </a:ext>
            </a:extLst>
          </p:cNvPr>
          <p:cNvSpPr txBox="1"/>
          <p:nvPr/>
        </p:nvSpPr>
        <p:spPr>
          <a:xfrm>
            <a:off x="906162" y="1622855"/>
            <a:ext cx="350931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NumPy, short for Numerical Python</a:t>
            </a:r>
          </a:p>
          <a:p>
            <a:pPr marL="285750" indent="-285750">
              <a:buFontTx/>
              <a:buChar char="-"/>
            </a:pPr>
            <a:r>
              <a:rPr lang="en-US" dirty="0"/>
              <a:t>a Python package for scientific computing to handle large, multidimensional arrays and matrices efficiently </a:t>
            </a:r>
          </a:p>
          <a:p>
            <a:pPr marL="285750" indent="-285750">
              <a:buFontTx/>
              <a:buChar char="-"/>
            </a:pPr>
            <a:r>
              <a:rPr lang="en-US" dirty="0"/>
              <a:t>core data structure: </a:t>
            </a:r>
            <a:r>
              <a:rPr lang="en-US" dirty="0" err="1">
                <a:highlight>
                  <a:srgbClr val="FFFF00"/>
                </a:highlight>
              </a:rPr>
              <a:t>ndarray</a:t>
            </a:r>
            <a:r>
              <a:rPr lang="en-US" dirty="0"/>
              <a:t> (n-dimensional array)</a:t>
            </a:r>
          </a:p>
          <a:p>
            <a:pPr marL="285750" indent="-285750">
              <a:buFontTx/>
              <a:buChar char="-"/>
            </a:pPr>
            <a:r>
              <a:rPr lang="en-US" dirty="0"/>
              <a:t>restricted to a single data type</a:t>
            </a:r>
          </a:p>
          <a:p>
            <a:pPr marL="285750" indent="-285750">
              <a:buFontTx/>
              <a:buChar char="-"/>
            </a:pPr>
            <a:r>
              <a:rPr lang="en-US" dirty="0"/>
              <a:t>compared to Python list, </a:t>
            </a:r>
            <a:r>
              <a:rPr lang="en-US" dirty="0" err="1"/>
              <a:t>ndarrays</a:t>
            </a:r>
            <a:r>
              <a:rPr lang="en-US" dirty="0"/>
              <a:t> are much </a:t>
            </a:r>
            <a:r>
              <a:rPr lang="en-US" dirty="0">
                <a:highlight>
                  <a:srgbClr val="FFFF00"/>
                </a:highlight>
              </a:rPr>
              <a:t>faster and use less memory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0EB6E9-6305-F855-8AE4-2AD2E8981D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5481" y="1895071"/>
            <a:ext cx="6492911" cy="289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311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A379-4975-80DB-8A99-0A8C6BBC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 and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ADCC9-9A6A-D1F9-2528-5D4ED8E98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Installation and testing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If you only have Python installed on your system, you will need to install NumPy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If you have Anaconda installed, you can check whether NumPy is already installed on your system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20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2000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D4AA88-5BCC-84A9-7F2A-E7FED0281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E935305-C23D-817C-7063-478E92E48F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113563"/>
              </p:ext>
            </p:extLst>
          </p:nvPr>
        </p:nvGraphicFramePr>
        <p:xfrm>
          <a:off x="3075073" y="3249871"/>
          <a:ext cx="4740275" cy="2369820"/>
        </p:xfrm>
        <a:graphic>
          <a:graphicData uri="http://schemas.openxmlformats.org/drawingml/2006/table">
            <a:tbl>
              <a:tblPr firstRow="1" firstCol="1" bandRow="1"/>
              <a:tblGrid>
                <a:gridCol w="2225675">
                  <a:extLst>
                    <a:ext uri="{9D8B030D-6E8A-4147-A177-3AD203B41FA5}">
                      <a16:colId xmlns:a16="http://schemas.microsoft.com/office/drawing/2014/main" val="116804608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9460996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Using pip: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Using conda: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320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pip install numpy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conda install numpy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728234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Verifying the installation: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import numpy as np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print(np.__version__)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8355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Testing the NumPy installation using a simple script: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import </a:t>
                      </a:r>
                      <a:r>
                        <a:rPr lang="en-US" sz="1200" kern="1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numpy</a:t>
                      </a: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as np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sz="1200" kern="1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np.array</a:t>
                      </a: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([10, 20, 30, 40, 50])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print(</a:t>
                      </a:r>
                      <a:r>
                        <a:rPr lang="en-US" sz="1200" kern="1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arr</a:t>
                      </a: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453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6115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F10ED-AECE-10BB-48CC-88F36A13F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3B884-72D2-4A32-C106-AEE33BE9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 with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C9401-4FED-2721-C525-3D5076DEB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 err="1"/>
              <a:t>ndarray</a:t>
            </a:r>
            <a:r>
              <a:rPr lang="en-US" dirty="0"/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can store and manipulate large datasets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comparison between NumPy </a:t>
            </a:r>
            <a:r>
              <a:rPr lang="en-US" dirty="0" err="1"/>
              <a:t>ndarray</a:t>
            </a:r>
            <a:r>
              <a:rPr lang="en-US" dirty="0"/>
              <a:t> and Python list 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94B07C-A60A-F75D-7AE4-76C207BB7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24A4E40-0E0E-65D1-A957-E0BF9D0FD5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346190"/>
              </p:ext>
            </p:extLst>
          </p:nvPr>
        </p:nvGraphicFramePr>
        <p:xfrm>
          <a:off x="1348731" y="2764010"/>
          <a:ext cx="7020911" cy="16079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76018">
                  <a:extLst>
                    <a:ext uri="{9D8B030D-6E8A-4147-A177-3AD203B41FA5}">
                      <a16:colId xmlns:a16="http://schemas.microsoft.com/office/drawing/2014/main" val="2589696525"/>
                    </a:ext>
                  </a:extLst>
                </a:gridCol>
                <a:gridCol w="2908146">
                  <a:extLst>
                    <a:ext uri="{9D8B030D-6E8A-4147-A177-3AD203B41FA5}">
                      <a16:colId xmlns:a16="http://schemas.microsoft.com/office/drawing/2014/main" val="320266435"/>
                    </a:ext>
                  </a:extLst>
                </a:gridCol>
                <a:gridCol w="2736747">
                  <a:extLst>
                    <a:ext uri="{9D8B030D-6E8A-4147-A177-3AD203B41FA5}">
                      <a16:colId xmlns:a16="http://schemas.microsoft.com/office/drawing/2014/main" val="971763236"/>
                    </a:ext>
                  </a:extLst>
                </a:gridCol>
              </a:tblGrid>
              <a:tr h="4019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NumPy </a:t>
                      </a:r>
                      <a:r>
                        <a:rPr lang="en-US" sz="1600" kern="100" dirty="0" err="1">
                          <a:effectLst/>
                        </a:rPr>
                        <a:t>ndarray</a:t>
                      </a:r>
                      <a:r>
                        <a:rPr lang="en-US" sz="1600" kern="100" dirty="0">
                          <a:effectLst/>
                        </a:rPr>
                        <a:t>: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Python list: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3254589"/>
                  </a:ext>
                </a:extLst>
              </a:tr>
              <a:tr h="4019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speed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faster with element-wise ops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slower with loops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8991023"/>
                  </a:ext>
                </a:extLst>
              </a:tr>
              <a:tr h="4019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data types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homogeneous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heterogenous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1765797"/>
                  </a:ext>
                </a:extLst>
              </a:tr>
              <a:tr h="4019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size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fixed once created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can be updated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2475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5707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75E08-25F9-D8B4-9368-84CA3256A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34F05-E38B-9AFD-A5F0-F9BF88CF5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 with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8CA83-14C4-7633-7D08-567F7ACCB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Use NumPy and create </a:t>
            </a:r>
            <a:r>
              <a:rPr lang="en-US" dirty="0" err="1"/>
              <a:t>ndarray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import the package: 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create an </a:t>
            </a:r>
            <a:r>
              <a:rPr lang="en-US" dirty="0" err="1"/>
              <a:t>ndarray</a:t>
            </a:r>
            <a:r>
              <a:rPr lang="en-US" dirty="0"/>
              <a:t>: see examples in the textbook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US" dirty="0"/>
          </a:p>
          <a:p>
            <a:pPr marL="228600" lvl="1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sz="1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sz="1400" kern="100" dirty="0">
              <a:effectLst/>
              <a:latin typeface="Courier New" panose="02070309020205020404" pitchFamily="49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28600" lvl="1" indent="0">
              <a:lnSpc>
                <a:spcPct val="115000"/>
              </a:lnSpc>
              <a:spcAft>
                <a:spcPts val="800"/>
              </a:spcAft>
              <a:buNone/>
            </a:pPr>
            <a:endParaRPr lang="en-US" sz="1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7724AD-B096-2673-2722-8E6DCC9A3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FF0DF0C-3BCF-F4D6-461B-F266906FD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906420"/>
              </p:ext>
            </p:extLst>
          </p:nvPr>
        </p:nvGraphicFramePr>
        <p:xfrm>
          <a:off x="1339763" y="2764009"/>
          <a:ext cx="9591848" cy="31457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64709">
                  <a:extLst>
                    <a:ext uri="{9D8B030D-6E8A-4147-A177-3AD203B41FA5}">
                      <a16:colId xmlns:a16="http://schemas.microsoft.com/office/drawing/2014/main" val="2050335044"/>
                    </a:ext>
                  </a:extLst>
                </a:gridCol>
                <a:gridCol w="6827139">
                  <a:extLst>
                    <a:ext uri="{9D8B030D-6E8A-4147-A177-3AD203B41FA5}">
                      <a16:colId xmlns:a16="http://schemas.microsoft.com/office/drawing/2014/main" val="2202832036"/>
                    </a:ext>
                  </a:extLst>
                </a:gridCol>
              </a:tblGrid>
              <a:tr h="2467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function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description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9905755"/>
                  </a:ext>
                </a:extLst>
              </a:tr>
              <a:tr h="2467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array(sequence)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creates an array with an existing sequence passed in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1641672"/>
                  </a:ext>
                </a:extLst>
              </a:tr>
              <a:tr h="7660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random functions: rand(), randn(), normal()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generate arrays with random numbers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7371663"/>
                  </a:ext>
                </a:extLst>
              </a:tr>
              <a:tr h="7660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arange(start, end, exclusive, step)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returns an array having sequence of numbers with specified step and values are generated within the half-open interval [start, end)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9895709"/>
                  </a:ext>
                </a:extLst>
              </a:tr>
              <a:tr h="5064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linspace(start, end and number of items)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returns array having a specified number of elements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1163627"/>
                  </a:ext>
                </a:extLst>
              </a:tr>
              <a:tr h="2467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zeros()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creates a ndarray with all zeros 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4902847"/>
                  </a:ext>
                </a:extLst>
              </a:tr>
              <a:tr h="2467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ones()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creates a </a:t>
                      </a:r>
                      <a:r>
                        <a:rPr lang="en-US" sz="1600" kern="100" dirty="0" err="1">
                          <a:effectLst/>
                        </a:rPr>
                        <a:t>ndarray</a:t>
                      </a:r>
                      <a:r>
                        <a:rPr lang="en-US" sz="1600" kern="100" dirty="0">
                          <a:effectLst/>
                        </a:rPr>
                        <a:t> with all ones 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4101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7072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44ABA-2536-452A-B8CF-6BB831094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9F56A-BFFE-8DC6-2BB1-ABF08C84C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NumPy Basic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025DE-FAF2-C02C-5225-C4803A071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universal functions (</a:t>
            </a:r>
            <a:r>
              <a:rPr lang="en-US" dirty="0" err="1"/>
              <a:t>ufuncs</a:t>
            </a:r>
            <a:r>
              <a:rPr lang="en-US" dirty="0"/>
              <a:t>), optimized for element-wise operations: see examples in the textbook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Arithmetic operations: +, -, *, /, %,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Mathematical operations: </a:t>
            </a:r>
            <a:r>
              <a:rPr lang="en-US" dirty="0" err="1"/>
              <a:t>np.add</a:t>
            </a:r>
            <a:r>
              <a:rPr lang="en-US" dirty="0"/>
              <a:t>, </a:t>
            </a:r>
            <a:r>
              <a:rPr lang="en-US" dirty="0" err="1"/>
              <a:t>np.subtract</a:t>
            </a:r>
            <a:r>
              <a:rPr lang="en-US" dirty="0"/>
              <a:t>, </a:t>
            </a:r>
            <a:r>
              <a:rPr lang="en-US" dirty="0" err="1"/>
              <a:t>np.multiply</a:t>
            </a:r>
            <a:r>
              <a:rPr lang="en-US" dirty="0"/>
              <a:t>, </a:t>
            </a:r>
            <a:r>
              <a:rPr lang="en-US" dirty="0" err="1"/>
              <a:t>np.divide</a:t>
            </a:r>
            <a:r>
              <a:rPr lang="en-US" dirty="0"/>
              <a:t>, </a:t>
            </a:r>
            <a:r>
              <a:rPr lang="en-US" dirty="0" err="1"/>
              <a:t>np.power</a:t>
            </a:r>
            <a:r>
              <a:rPr lang="en-US" dirty="0"/>
              <a:t>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Trigonometric functions: </a:t>
            </a:r>
            <a:r>
              <a:rPr lang="en-US" dirty="0" err="1"/>
              <a:t>np.sin</a:t>
            </a:r>
            <a:r>
              <a:rPr lang="en-US" dirty="0"/>
              <a:t>, </a:t>
            </a:r>
            <a:r>
              <a:rPr lang="en-US" dirty="0" err="1"/>
              <a:t>np.cos</a:t>
            </a:r>
            <a:r>
              <a:rPr lang="en-US" dirty="0"/>
              <a:t>, </a:t>
            </a:r>
            <a:r>
              <a:rPr lang="en-US" dirty="0" err="1"/>
              <a:t>np.tan</a:t>
            </a:r>
            <a:r>
              <a:rPr lang="en-US" dirty="0"/>
              <a:t>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Logarithmic functions: log, log10, log2, log1p,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Statistical functions: </a:t>
            </a:r>
            <a:r>
              <a:rPr lang="en-US" dirty="0" err="1"/>
              <a:t>np.mean</a:t>
            </a:r>
            <a:r>
              <a:rPr lang="en-US" dirty="0"/>
              <a:t>, </a:t>
            </a:r>
            <a:r>
              <a:rPr lang="en-US" dirty="0" err="1"/>
              <a:t>np.median</a:t>
            </a:r>
            <a:r>
              <a:rPr lang="en-US" dirty="0"/>
              <a:t>, </a:t>
            </a:r>
            <a:r>
              <a:rPr lang="en-US" dirty="0" err="1"/>
              <a:t>np.std</a:t>
            </a:r>
            <a:r>
              <a:rPr lang="en-US" dirty="0"/>
              <a:t>, </a:t>
            </a:r>
            <a:r>
              <a:rPr lang="en-US" dirty="0" err="1"/>
              <a:t>np.var</a:t>
            </a:r>
            <a:r>
              <a:rPr lang="en-US" dirty="0"/>
              <a:t>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Comparisons: ==, !=, &lt;, &gt;, &lt;=, &gt;=,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Logical operations: AND, OR, NOT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5C7632-3935-B774-7628-5E615F27F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657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03884-8345-11B2-82A8-39148C6B1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59A21-0EEA-5EE9-EDF3-CFC93DF9A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NumPy Basic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91CE-36D4-4CA5-F5F1-A1F367688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Vectorization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like mathematical vector operations, operations can also be applied over entire arrays simultaneously instead of using loops to process one element at a time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characterized by two key concepts: element-wise operations and broadcasting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vectorization is significantly faster than using loops: see textbook example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broadcasting in NumPy facilitates this by expanding the smaller array to match the shape of the larger one before executing the operation when operations involve arrays of different shapes: see textbook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44D439-44C7-00AB-C8A3-800FA4B95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673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70B82-3FB6-6E5C-D6F3-DAA5DBE38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93158-962A-4E17-1C26-3741F39F4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and 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FCE9D-F574-5652-9FCE-3B949A00D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Indexing: using a single index value or multiple index values, see textbook example</a:t>
            </a:r>
          </a:p>
          <a:p>
            <a:r>
              <a:rPr lang="en-US" dirty="0"/>
              <a:t>Slicing: retrieving a sequence or block of elements from an array. The result of slicing is a shallow copy, which can be modified. see textbook example</a:t>
            </a:r>
          </a:p>
          <a:p>
            <a:r>
              <a:rPr lang="en-US" dirty="0"/>
              <a:t>When indexing and slicing are applied to multi-dimensional arrays, various sections of the array can be accessed </a:t>
            </a:r>
          </a:p>
          <a:p>
            <a:r>
              <a:rPr lang="en-US" dirty="0"/>
              <a:t>In slicing, the colon (:) retrieves all elements along a specific dimension, and the ellipsis (...) produces a complete indexing tuple with as many colons as needed</a:t>
            </a:r>
          </a:p>
          <a:p>
            <a:r>
              <a:rPr lang="en-US" dirty="0"/>
              <a:t>Slicing can also be used to expand an existing array by inserting a new dimension. see textbook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4300D3-045D-0AE8-5337-D579D89AE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119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565EF-34A3-2D6A-298D-B86336D89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01780-2632-A6AB-9032-B95809BFA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and 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CCDB1-2AAF-5BBA-93BA-FF11974E1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Fancy indexing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use indexing with arrays of indices to select multiple elements from an axis: see textbook example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use an array of indices on a multidimensional array to create a new array by selecting specific rows or columns: see textbook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3ABADD-27EF-E9C2-C6A8-AF6A0B287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805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BC742-15CB-357A-139B-9177F1E1B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DEADE-6CD7-1C90-843B-A4C0DE9D7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and 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C7760-2468-7F23-A41F-C13EE7A51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Boolean indexing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Boolean arrays are arrays where elements have values of either True or False, and they can be used for indexing: see textbook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C43C04-4E74-65DE-41C4-64ECD277A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458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C24CF-759C-5FAD-430E-15FBA1AAD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1603F-B473-240C-A855-471BC67BD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Operations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20C20-4871-6CB8-186A-57AAA3077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argmax() and </a:t>
            </a:r>
            <a:r>
              <a:rPr lang="en-US" dirty="0" err="1"/>
              <a:t>argmin</a:t>
            </a:r>
            <a:r>
              <a:rPr lang="en-US" dirty="0"/>
              <a:t>() functions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argmax(): find the index of the maximum value(s) along a specified axis in an array, such as axis = 0, axis = 1, etc. See textbook example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argmin</a:t>
            </a:r>
            <a:r>
              <a:rPr lang="en-US" dirty="0"/>
              <a:t>(): find the index of the </a:t>
            </a:r>
            <a:r>
              <a:rPr lang="en-US" dirty="0" err="1"/>
              <a:t>manimum</a:t>
            </a:r>
            <a:r>
              <a:rPr lang="en-US" dirty="0"/>
              <a:t> value(s) along a specified axis in an array, such as axis = 0, axis = 1, etc. See textbook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33B0F4-095C-3473-BCCB-6E0C9CB98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662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3E125-AD14-1AE7-19D0-651CAC4D5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C63B0-118B-2C9A-2BCB-56ADB6BF2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Operations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4B763-40D1-B4CA-3902-A872CED4E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operations along a specified axis: see textbook example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sum()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mean()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cumsum</a:t>
            </a:r>
            <a:r>
              <a:rPr lang="en-US" dirty="0"/>
              <a:t>()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sort()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argsort</a:t>
            </a:r>
            <a:r>
              <a:rPr lang="en-US" dirty="0"/>
              <a:t>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76FF39-93D9-F9A9-46E1-4CC16D3A5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095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8C451-CF10-2035-4945-2AAA0D690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B66AA-2132-E603-A495-78E96AE4B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Operations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3DF08-5A97-ABDA-8133-EC6B4A336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reshape: change the dimension of an array either by creating a new view with the specified dimensions or by modifying the array itself. See textbook example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F59BB0-5BF4-056A-4EB0-BC36CEC26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3DE3A09-9603-13D8-DF4D-A67CCF79FA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292684"/>
              </p:ext>
            </p:extLst>
          </p:nvPr>
        </p:nvGraphicFramePr>
        <p:xfrm>
          <a:off x="1082306" y="2644697"/>
          <a:ext cx="9895584" cy="32644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87271">
                  <a:extLst>
                    <a:ext uri="{9D8B030D-6E8A-4147-A177-3AD203B41FA5}">
                      <a16:colId xmlns:a16="http://schemas.microsoft.com/office/drawing/2014/main" val="2328669918"/>
                    </a:ext>
                  </a:extLst>
                </a:gridCol>
                <a:gridCol w="8208313">
                  <a:extLst>
                    <a:ext uri="{9D8B030D-6E8A-4147-A177-3AD203B41FA5}">
                      <a16:colId xmlns:a16="http://schemas.microsoft.com/office/drawing/2014/main" val="415750986"/>
                    </a:ext>
                  </a:extLst>
                </a:gridCol>
              </a:tblGrid>
              <a:tr h="2770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Function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Description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2943983"/>
                  </a:ext>
                </a:extLst>
              </a:tr>
              <a:tr h="6739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reshape()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parameter list: a tuple of integers or a single integer.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return: a new view of the array, original array is not altered.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1642055"/>
                  </a:ext>
                </a:extLst>
              </a:tr>
              <a:tr h="6739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ravel()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parameter list: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return: a flattened array of one dimension, the original array is not altered.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94448202"/>
                  </a:ext>
                </a:extLst>
              </a:tr>
              <a:tr h="6739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resize()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parameter list: a tuple of integers or a single integer.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return: a new view of the array, original array is altered.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9314420"/>
                  </a:ext>
                </a:extLst>
              </a:tr>
              <a:tr h="96536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np.transpose()/T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parameter list: a tuple of integers for the permutation of the axes. If not provided, the default is to reverse the order of the axes.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return: a new view of the array, original array is not altered.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7879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799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036A4-1F3E-29F4-B8AC-05DF9086E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90F6F-582B-877F-64AE-387F99B2B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Operations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6DFFF-5880-1023-DC9D-DDEDDB172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Concatenating and Splitting Array: see textbook example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concatenate(): specify arrays and axis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split(): specify array and axis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E51951-415F-D362-F0E1-5A6CE4BC1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612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A3C4B-E5CD-76B0-52F9-9CF5DFF78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A6B19-D0FC-10ED-4452-8BD7083D8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Operations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922BB-5043-267C-1B93-DA323F763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Array data type conversion: see textbook example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determine the data type of a NumPy array using the </a:t>
            </a:r>
            <a:r>
              <a:rPr lang="en-US" dirty="0" err="1"/>
              <a:t>dtype</a:t>
            </a:r>
            <a:r>
              <a:rPr lang="en-US" dirty="0"/>
              <a:t> attribute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convert an array’s data type from one </a:t>
            </a:r>
            <a:r>
              <a:rPr lang="en-US" dirty="0" err="1"/>
              <a:t>dtype</a:t>
            </a:r>
            <a:r>
              <a:rPr lang="en-US" dirty="0"/>
              <a:t> to another using NumPy’s </a:t>
            </a:r>
            <a:r>
              <a:rPr lang="en-US" dirty="0" err="1"/>
              <a:t>astype</a:t>
            </a:r>
            <a:r>
              <a:rPr lang="en-US" dirty="0"/>
              <a:t>() method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7DE0DD-AAF5-02DE-C395-5D8BC6BB1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642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33556-E234-DE6E-A82B-BC743C686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0275E-9F78-F27E-FE69-E8DB5EE0F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54F40-CC27-5C5F-AACC-FE9C34FB7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supports arrays where different columns can have different data types</a:t>
            </a:r>
          </a:p>
          <a:p>
            <a:r>
              <a:rPr lang="en-US" dirty="0"/>
              <a:t>each column (field) can have a distinct data type, which is specified using a list of field names and their corresponding data types </a:t>
            </a:r>
          </a:p>
          <a:p>
            <a:r>
              <a:rPr lang="en-US" dirty="0"/>
              <a:t>see textbook example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F3830E-E5EF-1ADC-ECC2-9464BB86B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673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32EB1-63C4-BA19-31C9-EB3A156BB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E4275-BEE7-8854-B043-241B7414D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Data from files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F9A84-8247-8C5E-6195-AEBCCD894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98" y="14384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several methods to load data from text-based files, including .csv files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genfromtxt</a:t>
            </a:r>
            <a:r>
              <a:rPr lang="en-US" dirty="0"/>
              <a:t>(),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loadtxt</a:t>
            </a:r>
            <a:r>
              <a:rPr lang="en-US" dirty="0"/>
              <a:t>(),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fromfile</a:t>
            </a:r>
            <a:r>
              <a:rPr lang="en-US" dirty="0"/>
              <a:t>(),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load().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genfromtxt</a:t>
            </a:r>
            <a:r>
              <a:rPr lang="en-US" dirty="0"/>
              <a:t>() is flexible in handling data with various data types and delimiters: see textbook example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688189-CD1F-1FC0-D0C0-1B8A289FF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6028411"/>
            <a:ext cx="10516511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279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1119</TotalTime>
  <Words>1115</Words>
  <Application>Microsoft Office PowerPoint</Application>
  <PresentationFormat>Widescreen</PresentationFormat>
  <Paragraphs>139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Courier New</vt:lpstr>
      <vt:lpstr>Wingdings</vt:lpstr>
      <vt:lpstr>Office Theme</vt:lpstr>
      <vt:lpstr>Data Analytics Using Python Dr. Ziping Liu  </vt:lpstr>
      <vt:lpstr>Why NumPy</vt:lpstr>
      <vt:lpstr>Installation and Testing</vt:lpstr>
      <vt:lpstr>Getting Started with NumPy</vt:lpstr>
      <vt:lpstr>Getting Started with NumPy</vt:lpstr>
      <vt:lpstr>NumPy Basic Operations</vt:lpstr>
      <vt:lpstr>NumPy Basic Operations</vt:lpstr>
      <vt:lpstr>Indexing and Slicing</vt:lpstr>
      <vt:lpstr>Indexing and Slicing</vt:lpstr>
      <vt:lpstr>Indexing and Slicing</vt:lpstr>
      <vt:lpstr>Various Operations </vt:lpstr>
      <vt:lpstr>Various Operations </vt:lpstr>
      <vt:lpstr>Various Operations </vt:lpstr>
      <vt:lpstr>Various Operations </vt:lpstr>
      <vt:lpstr>Various Operations </vt:lpstr>
      <vt:lpstr>Structured Array</vt:lpstr>
      <vt:lpstr>Importing Data from files in NumPy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Ziping</dc:creator>
  <cp:lastModifiedBy>Liu, Ziping</cp:lastModifiedBy>
  <cp:revision>136</cp:revision>
  <dcterms:created xsi:type="dcterms:W3CDTF">2025-01-08T14:48:28Z</dcterms:created>
  <dcterms:modified xsi:type="dcterms:W3CDTF">2025-01-09T21:44:47Z</dcterms:modified>
</cp:coreProperties>
</file>